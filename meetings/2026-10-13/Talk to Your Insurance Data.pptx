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21"/>
  </p:notesMasterIdLst>
  <p:sldIdLst>
    <p:sldId id="256" r:id="rId3"/>
    <p:sldId id="257" r:id="rId4"/>
    <p:sldId id="270" r:id="rId5"/>
    <p:sldId id="271" r:id="rId6"/>
    <p:sldId id="272" r:id="rId7"/>
    <p:sldId id="273" r:id="rId8"/>
    <p:sldId id="274"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D44D17-83C0-4A52-92CB-347331FE09E8}" v="3" dt="2026-10-13T21:32:43.9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25" autoAdjust="0"/>
    <p:restoredTop sz="89068" autoAdjust="0"/>
  </p:normalViewPr>
  <p:slideViewPr>
    <p:cSldViewPr snapToGrid="0" snapToObjects="1">
      <p:cViewPr varScale="1">
        <p:scale>
          <a:sx n="70" d="100"/>
          <a:sy n="70" d="100"/>
        </p:scale>
        <p:origin x="139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1260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Better answers are not just about a better prompt. They depend on governed business meaning in the semantic model. This is a client-neutral working session, using insurance examples and a controlled live demo. The illustrations are conceptual, not a product screenshot.
Sources (Microsoft Learn, reviewed October 13, 2026):
All insurance examples and scorecard values are illustrative, not findings from a customer's model.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plan: opening and agenda are included in the first 10 minutes. Chapter 1 slides 3-5: roughly 8 minutes. Chapter 2 slides 6-8: 15 minutes with 8 minutes reserved for the readiness demo. Chapter 3 slides 9-10: 5 minutes. Chapter 4 slides 11-13: 10 minutes, including agent edits and a controlled retest. Keep the original question set visible throughout.
Sources (Microsoft Learn, reviewed October 13, 2026):
All insurance examples and scorecard values are illustrative, not findings from a customer's model.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laceholder 2"/>
          <p:cNvSpPr>
            <a:spLocks noGrp="1"/>
          </p:cNvSpPr>
          <p:nvPr>
            <p:ph type="body" idx="1"/>
          </p:nvPr>
        </p:nvSpPr>
        <p:spPr/>
        <p:txBody>
          <a:bodyPr/>
          <a:lstStyle/>
          <a:p>
            <a:r>
              <a:rPr dirty="0"/>
              <a:t>Assess the AI and agentic readiness of the Power BI semantic model </a:t>
            </a:r>
            <a:r>
              <a:rPr dirty="0" err="1"/>
              <a:t>i</a:t>
            </a:r>
            <a:r>
              <a:rPr dirty="0"/>
              <a:t> want this to be:</a:t>
            </a:r>
          </a:p>
          <a:p>
            <a:endParaRPr dirty="0"/>
          </a:p>
          <a:p>
            <a:r>
              <a:rPr dirty="0"/>
              <a:t>- Workspace: "Enter workspace"</a:t>
            </a:r>
          </a:p>
          <a:p>
            <a:r>
              <a:rPr dirty="0"/>
              <a:t>- Semantic model: "Enter Semantic model"</a:t>
            </a:r>
          </a:p>
          <a:p>
            <a:endParaRPr dirty="0"/>
          </a:p>
          <a:p>
            <a:endParaRPr dirty="0"/>
          </a:p>
          <a:p>
            <a:r>
              <a:rPr dirty="0"/>
              <a:t>Before starting:</a:t>
            </a:r>
          </a:p>
          <a:p>
            <a:endParaRPr dirty="0"/>
          </a:p>
          <a:p>
            <a:r>
              <a:rPr dirty="0"/>
              <a:t>1. Review the latest guidance in the public Microsoft repository:</a:t>
            </a:r>
          </a:p>
          <a:p>
            <a:r>
              <a:rPr dirty="0"/>
              <a:t>   https://github.com/microsoft/skills-for-fabric</a:t>
            </a:r>
          </a:p>
          <a:p>
            <a:endParaRPr dirty="0"/>
          </a:p>
          <a:p>
            <a:r>
              <a:rPr dirty="0"/>
              <a:t>2. Check whether the current Microsoft skills-for-fabric package is available in this VS Code environment. Use the latest applicable guidance from:</a:t>
            </a:r>
          </a:p>
          <a:p>
            <a:r>
              <a:rPr dirty="0"/>
              <a:t>   - semantic-model-authoring</a:t>
            </a:r>
          </a:p>
          <a:p>
            <a:r>
              <a:rPr dirty="0"/>
              <a:t>   - semantic-model-ai-readiness</a:t>
            </a:r>
          </a:p>
          <a:p>
            <a:r>
              <a:rPr dirty="0"/>
              <a:t>   - semantic-model-consumption</a:t>
            </a:r>
          </a:p>
          <a:p>
            <a:r>
              <a:rPr dirty="0"/>
              <a:t>   - </a:t>
            </a:r>
            <a:r>
              <a:rPr dirty="0" err="1"/>
              <a:t>FabricIQ</a:t>
            </a:r>
            <a:endParaRPr dirty="0"/>
          </a:p>
          <a:p>
            <a:r>
              <a:rPr dirty="0"/>
              <a:t>   - Fabric IQ ontology guidance, where relevant</a:t>
            </a:r>
          </a:p>
          <a:p>
            <a:endParaRPr dirty="0"/>
          </a:p>
          <a:p>
            <a:r>
              <a:rPr dirty="0"/>
              <a:t>3. If the required skills or MCP servers are not installed or configured, do not substitute assumptions or silently continue with a reduced assessment. Explain what is missing and guide me through installing or configuring it.</a:t>
            </a:r>
          </a:p>
          <a:p>
            <a:endParaRPr dirty="0"/>
          </a:p>
          <a:p>
            <a:r>
              <a:rPr dirty="0"/>
              <a:t>4. If Microsoft Fabric, </a:t>
            </a:r>
            <a:r>
              <a:rPr dirty="0" err="1"/>
              <a:t>FabricIQ</a:t>
            </a:r>
            <a:r>
              <a:rPr dirty="0"/>
              <a:t>, or Power BI authentication is required, open or initiate the supported sign-in flow and pause so I can authenticate.</a:t>
            </a:r>
          </a:p>
          <a:p>
            <a:endParaRPr dirty="0"/>
          </a:p>
          <a:p>
            <a:r>
              <a:rPr dirty="0"/>
              <a:t>Perform a read-only assessment. Do not modify the semantic model, report, workspace, permissions, AI configuration, or other Fabric resources unless I explicitly authorize changes afterward.</a:t>
            </a:r>
          </a:p>
          <a:p>
            <a:endParaRPr dirty="0"/>
          </a:p>
          <a:p>
            <a:r>
              <a:rPr dirty="0"/>
              <a:t>Inspect the live semantic model and assess these six dimensions using the following weights:</a:t>
            </a:r>
          </a:p>
          <a:p>
            <a:endParaRPr dirty="0"/>
          </a:p>
          <a:p>
            <a:r>
              <a:rPr dirty="0"/>
              <a:t>- Model architecture: 25%</a:t>
            </a:r>
          </a:p>
          <a:p>
            <a:r>
              <a:rPr dirty="0"/>
              <a:t>- Business-friendly naming: 15%</a:t>
            </a:r>
          </a:p>
          <a:p>
            <a:r>
              <a:rPr dirty="0"/>
              <a:t>- Descriptions and semantic metadata: 15%</a:t>
            </a:r>
          </a:p>
          <a:p>
            <a:r>
              <a:rPr dirty="0"/>
              <a:t>- AI instructions: 20%</a:t>
            </a:r>
          </a:p>
          <a:p>
            <a:r>
              <a:rPr dirty="0"/>
              <a:t>- AI data schema: 15%</a:t>
            </a:r>
          </a:p>
          <a:p>
            <a:r>
              <a:rPr dirty="0"/>
              <a:t>- Verified Answers: 10%</a:t>
            </a:r>
          </a:p>
          <a:p>
            <a:endParaRPr dirty="0"/>
          </a:p>
          <a:p>
            <a:r>
              <a:rPr dirty="0"/>
              <a:t>The assessment should include:</a:t>
            </a:r>
          </a:p>
          <a:p>
            <a:endParaRPr dirty="0"/>
          </a:p>
          <a:p>
            <a:r>
              <a:rPr dirty="0"/>
              <a:t>1. Model foundation</a:t>
            </a:r>
          </a:p>
          <a:p>
            <a:r>
              <a:rPr dirty="0"/>
              <a:t>   - Tables, visible and hidden columns, explicit measures, and relationships</a:t>
            </a:r>
          </a:p>
          <a:p>
            <a:r>
              <a:rPr dirty="0"/>
              <a:t>   - Fact and dimension grains</a:t>
            </a:r>
          </a:p>
          <a:p>
            <a:r>
              <a:rPr dirty="0"/>
              <a:t>   - Relationship cardinality and filter direction</a:t>
            </a:r>
          </a:p>
          <a:p>
            <a:r>
              <a:rPr dirty="0"/>
              <a:t>   - Date dimensions, date roles, hierarchies, and time behavior</a:t>
            </a:r>
          </a:p>
          <a:p>
            <a:r>
              <a:rPr dirty="0"/>
              <a:t>   - Data types, formatting, summarization, hidden technical fields, and default labels</a:t>
            </a:r>
          </a:p>
          <a:p>
            <a:r>
              <a:rPr dirty="0"/>
              <a:t>   - Implicit versus explicit measures</a:t>
            </a:r>
          </a:p>
          <a:p>
            <a:r>
              <a:rPr dirty="0"/>
              <a:t>   - Duplicate, overlapping, helper, or potentially misleading objects</a:t>
            </a:r>
          </a:p>
          <a:p>
            <a:endParaRPr dirty="0"/>
          </a:p>
          <a:p>
            <a:r>
              <a:rPr dirty="0"/>
              <a:t>2. Business semantics</a:t>
            </a:r>
          </a:p>
          <a:p>
            <a:r>
              <a:rPr dirty="0"/>
              <a:t>   - Business-friendly names</a:t>
            </a:r>
          </a:p>
          <a:p>
            <a:r>
              <a:rPr dirty="0"/>
              <a:t>   - Ambiguous terminology, abbreviations, synonyms, and conflicting definitions</a:t>
            </a:r>
          </a:p>
          <a:p>
            <a:r>
              <a:rPr dirty="0"/>
              <a:t>   - Description coverage and quality for visible tables, columns, and measures</a:t>
            </a:r>
          </a:p>
          <a:p>
            <a:r>
              <a:rPr dirty="0"/>
              <a:t>   - Grain, units, filters, time basis, exclusions, and denominator definitions</a:t>
            </a:r>
          </a:p>
          <a:p>
            <a:r>
              <a:rPr dirty="0"/>
              <a:t>   - Misalignment between names, descriptions, synonyms, instructions, and actual DAX</a:t>
            </a:r>
          </a:p>
          <a:p>
            <a:endParaRPr dirty="0"/>
          </a:p>
          <a:p>
            <a:r>
              <a:rPr dirty="0"/>
              <a:t>3. AI preparation</a:t>
            </a:r>
          </a:p>
          <a:p>
            <a:r>
              <a:rPr dirty="0"/>
              <a:t>   - Existing AI instructions and whether they provide metric routing, date defaults, clarification rules, answer boundaries, polarity, and visualization preferences</a:t>
            </a:r>
          </a:p>
          <a:p>
            <a:r>
              <a:rPr dirty="0"/>
              <a:t>   - AI data schema scope, dependencies, synonyms, technical noise, and missing business metrics</a:t>
            </a:r>
          </a:p>
          <a:p>
            <a:r>
              <a:rPr dirty="0"/>
              <a:t>   - Existing Verified Answers, representative coverage, filters, trigger phrases, and potential conflicts</a:t>
            </a:r>
          </a:p>
          <a:p>
            <a:r>
              <a:rPr dirty="0"/>
              <a:t>   - Distinguish curated AI metadata from generated, suggested, legacy, or inaccessible metadata</a:t>
            </a:r>
          </a:p>
          <a:p>
            <a:endParaRPr dirty="0"/>
          </a:p>
          <a:p>
            <a:r>
              <a:rPr dirty="0"/>
              <a:t>4. Agentic-readiness controls</a:t>
            </a:r>
          </a:p>
          <a:p>
            <a:r>
              <a:rPr dirty="0"/>
              <a:t>   - Whether named entities can be resolved to canonical model values before applying filters</a:t>
            </a:r>
          </a:p>
          <a:p>
            <a:r>
              <a:rPr dirty="0"/>
              <a:t>   - Ambiguous-name, alias, misspelling, duplicate-name, and no-match behavior</a:t>
            </a:r>
          </a:p>
          <a:p>
            <a:r>
              <a:rPr dirty="0"/>
              <a:t>   - Answer precedence among Verified Answers, AI instructions, descriptions, and generated DAX</a:t>
            </a:r>
          </a:p>
          <a:p>
            <a:r>
              <a:rPr dirty="0"/>
              <a:t>   - Grounding quality and whether ontology-based grounding would provide value</a:t>
            </a:r>
          </a:p>
          <a:p>
            <a:r>
              <a:rPr dirty="0"/>
              <a:t>   - Clarification behavior for ambiguous metrics or date roles</a:t>
            </a:r>
          </a:p>
          <a:p>
            <a:r>
              <a:rPr dirty="0"/>
              <a:t>   - Behavior for unsupported, causal, regulated, or potentially misleading questions</a:t>
            </a:r>
          </a:p>
          <a:p>
            <a:r>
              <a:rPr dirty="0"/>
              <a:t>   - Whether unrelated model deployments preserve existing Prep-for-AI artifacts</a:t>
            </a:r>
          </a:p>
          <a:p>
            <a:endParaRPr dirty="0"/>
          </a:p>
          <a:p>
            <a:r>
              <a:rPr dirty="0"/>
              <a:t>5. Evidence validation</a:t>
            </a:r>
          </a:p>
          <a:p>
            <a:r>
              <a:rPr dirty="0"/>
              <a:t>   - Run a small number of safe, read-only DAX queries to verify important totals, metric definitions, date behavior, denominators, and identified ambiguities</a:t>
            </a:r>
          </a:p>
          <a:p>
            <a:r>
              <a:rPr dirty="0"/>
              <a:t>   - Reconcile mutually exclusive categories where appropriate</a:t>
            </a:r>
          </a:p>
          <a:p>
            <a:r>
              <a:rPr dirty="0"/>
              <a:t>   - Report actual results and distinguish model-consistency checks from source-system or accounting validation</a:t>
            </a:r>
          </a:p>
          <a:p>
            <a:r>
              <a:rPr dirty="0"/>
              <a:t>   - Do not treat passing DAX queries as proof of conversational accuracy or as Verified Answers</a:t>
            </a:r>
          </a:p>
          <a:p>
            <a:r>
              <a:rPr dirty="0"/>
              <a:t>   - Do not expose sensitive row-level data</a:t>
            </a:r>
          </a:p>
          <a:p>
            <a:endParaRPr dirty="0"/>
          </a:p>
          <a:p>
            <a:r>
              <a:rPr dirty="0"/>
              <a:t>6. Testing recommendations</a:t>
            </a:r>
          </a:p>
          <a:p>
            <a:r>
              <a:rPr dirty="0"/>
              <a:t>   - Provide at least five representative business questions</a:t>
            </a:r>
          </a:p>
          <a:p>
            <a:r>
              <a:rPr dirty="0"/>
              <a:t>   - Provide negative and ambiguous tests</a:t>
            </a:r>
          </a:p>
          <a:p>
            <a:r>
              <a:rPr dirty="0"/>
              <a:t>   - Include tests for entity resolution, date ambiguity, unsupported metrics, causal questions, and Verified Answer near-matches</a:t>
            </a:r>
          </a:p>
          <a:p>
            <a:r>
              <a:rPr dirty="0"/>
              <a:t>   - State what was tested, what was not tested, and what requires live Copilot or data-agent validation</a:t>
            </a:r>
          </a:p>
          <a:p>
            <a:endParaRPr dirty="0"/>
          </a:p>
          <a:p>
            <a:r>
              <a:rPr dirty="0"/>
              <a:t>Scoring rules:</a:t>
            </a:r>
          </a:p>
          <a:p>
            <a:endParaRPr dirty="0"/>
          </a:p>
          <a:p>
            <a:r>
              <a:rPr dirty="0"/>
              <a:t>- Score each dimension from 0–100 using observed evidence.</a:t>
            </a:r>
          </a:p>
          <a:p>
            <a:r>
              <a:rPr dirty="0"/>
              <a:t>- Calculate the overall score using the stated weights and round only once at the end.</a:t>
            </a:r>
          </a:p>
          <a:p>
            <a:r>
              <a:rPr dirty="0"/>
              <a:t>- Label the result “Indicative readiness.”</a:t>
            </a:r>
          </a:p>
          <a:p>
            <a:r>
              <a:rPr dirty="0"/>
              <a:t>- Explain that it is a judgment-based assessment, not certification or measured conversational accuracy.</a:t>
            </a:r>
          </a:p>
          <a:p>
            <a:r>
              <a:rPr dirty="0"/>
              <a:t>- Use 0 only when an artifact or capability is confirmed absent from an inspected source.</a:t>
            </a:r>
          </a:p>
          <a:p>
            <a:r>
              <a:rPr dirty="0"/>
              <a:t>- If evidence is inaccessible, show “Not assessed” rather than assuming it is absent. Do not silently reweight the score; report an incomplete assessment and identify the missing evidence.</a:t>
            </a:r>
          </a:p>
          <a:p>
            <a:r>
              <a:rPr dirty="0"/>
              <a:t>- Do not give Verified Answer credit merely because measures or DAX queries work.</a:t>
            </a:r>
          </a:p>
          <a:p>
            <a:r>
              <a:rPr dirty="0"/>
              <a:t>- Keep agentic-readiness considerations separate from the six weighted dimensions unless the repository guidance explicitly adds them to the scoring model.</a:t>
            </a:r>
          </a:p>
          <a:p>
            <a:endParaRPr dirty="0"/>
          </a:p>
          <a:p>
            <a:r>
              <a:rPr dirty="0"/>
              <a:t>Deliverable:</a:t>
            </a:r>
          </a:p>
          <a:p>
            <a:endParaRPr dirty="0"/>
          </a:p>
          <a:p>
            <a:r>
              <a:rPr dirty="0"/>
              <a:t>Create a new, self-contained HTML file in the current VS Code workspace named:</a:t>
            </a:r>
          </a:p>
          <a:p>
            <a:endParaRPr dirty="0"/>
          </a:p>
          <a:p>
            <a:r>
              <a:rPr dirty="0"/>
              <a:t>[semantic-model-name]-agentic-ai-readiness-scorecard.html</a:t>
            </a:r>
          </a:p>
          <a:p>
            <a:endParaRPr dirty="0"/>
          </a:p>
          <a:p>
            <a:r>
              <a:rPr dirty="0"/>
              <a:t>The HTML must:</a:t>
            </a:r>
          </a:p>
          <a:p>
            <a:endParaRPr dirty="0"/>
          </a:p>
          <a:p>
            <a:r>
              <a:rPr dirty="0"/>
              <a:t>- Work offline with inline CSS and SVG</a:t>
            </a:r>
          </a:p>
          <a:p>
            <a:r>
              <a:rPr dirty="0"/>
              <a:t>- Use a polished emerald/mint executive design</a:t>
            </a:r>
          </a:p>
          <a:p>
            <a:r>
              <a:rPr dirty="0"/>
              <a:t>- Include a circular readiness gauge</a:t>
            </a:r>
          </a:p>
          <a:p>
            <a:r>
              <a:rPr dirty="0"/>
              <a:t>- Include all six dimension scores</a:t>
            </a:r>
          </a:p>
          <a:p>
            <a:r>
              <a:rPr dirty="0"/>
              <a:t>- Show four evidence-backed model inventory metrics</a:t>
            </a:r>
          </a:p>
          <a:p>
            <a:r>
              <a:rPr dirty="0"/>
              <a:t>- Include one model-specific evidence visualization</a:t>
            </a:r>
          </a:p>
          <a:p>
            <a:r>
              <a:rPr dirty="0"/>
              <a:t>- Identify the three highest-value improvements</a:t>
            </a:r>
          </a:p>
          <a:p>
            <a:r>
              <a:rPr dirty="0"/>
              <a:t>- Include a “Preserve what works” section</a:t>
            </a:r>
          </a:p>
          <a:p>
            <a:r>
              <a:rPr dirty="0"/>
              <a:t>- Include an agentic-readiness lens covering grounding, resolution, routing, answer precedence, boundaries, and change safety</a:t>
            </a:r>
          </a:p>
          <a:p>
            <a:r>
              <a:rPr dirty="0"/>
              <a:t>- Include detailed appendices with evidence, scoring rationale, validation results, test questions, negative tests, limitations, and source links</a:t>
            </a:r>
          </a:p>
          <a:p>
            <a:r>
              <a:rPr dirty="0"/>
              <a:t>- Clearly separate observed findings from recommendations and untested behavior</a:t>
            </a:r>
          </a:p>
          <a:p>
            <a:r>
              <a:rPr dirty="0"/>
              <a:t>- Be responsive on desktop and mobile</a:t>
            </a:r>
          </a:p>
          <a:p>
            <a:r>
              <a:rPr dirty="0"/>
              <a:t>- Be formatted for printing to PDF on landscape Letter paper</a:t>
            </a:r>
          </a:p>
          <a:p>
            <a:r>
              <a:rPr dirty="0"/>
              <a:t>- Keep the executive scorecard on page 1 and place detailed appendices on subsequent pages</a:t>
            </a:r>
          </a:p>
          <a:p>
            <a:r>
              <a:rPr dirty="0"/>
              <a:t>- Avoid blank or nearly blank PDF pages</a:t>
            </a:r>
          </a:p>
          <a:p>
            <a:r>
              <a:rPr dirty="0"/>
              <a:t>- Include a Print / Save PDF button</a:t>
            </a:r>
          </a:p>
          <a:p>
            <a:r>
              <a:rPr dirty="0"/>
              <a:t>- Contain no credentials, access tokens, raw sensitive records, or unnecessary connection details</a:t>
            </a:r>
          </a:p>
          <a:p>
            <a:endParaRPr dirty="0"/>
          </a:p>
          <a:p>
            <a:r>
              <a:rPr dirty="0"/>
              <a:t>Before completing:</a:t>
            </a:r>
          </a:p>
          <a:p>
            <a:endParaRPr dirty="0"/>
          </a:p>
          <a:p>
            <a:r>
              <a:rPr dirty="0"/>
              <a:t>- Verify the weighted-score arithmetic independently.</a:t>
            </a:r>
          </a:p>
          <a:p>
            <a:r>
              <a:rPr dirty="0"/>
              <a:t>- Check all counts and findings against the inspected model.</a:t>
            </a:r>
          </a:p>
          <a:p>
            <a:r>
              <a:rPr dirty="0"/>
              <a:t>- Confirm there is no stale content copied from another assessment.</a:t>
            </a:r>
          </a:p>
          <a:p>
            <a:r>
              <a:rPr dirty="0"/>
              <a:t>- Test desktop and narrow mobile layouts for horizontal overflow.</a:t>
            </a:r>
          </a:p>
          <a:p>
            <a:r>
              <a:rPr dirty="0"/>
              <a:t>- Test the evidence appendix and keyboard focus behavior.</a:t>
            </a:r>
          </a:p>
          <a:p>
            <a:r>
              <a:rPr dirty="0"/>
              <a:t>- Test the print layout and confirm the footer stays on page 1.</a:t>
            </a:r>
          </a:p>
          <a:p>
            <a:r>
              <a:rPr dirty="0"/>
              <a:t>- Confirm the executive page and each appendix fit within their intended printed pages.</a:t>
            </a:r>
          </a:p>
          <a:p>
            <a:r>
              <a:rPr dirty="0"/>
              <a:t>- State whether any semantic-model or Fabric changes were made.</a:t>
            </a:r>
          </a:p>
          <a:p>
            <a:endParaRPr dirty="0"/>
          </a:p>
          <a:p>
            <a:r>
              <a:rPr dirty="0"/>
              <a:t>At the end, provide:</a:t>
            </a:r>
          </a:p>
          <a:p>
            <a:r>
              <a:rPr dirty="0"/>
              <a:t>- A link to the generated HTML file</a:t>
            </a:r>
          </a:p>
          <a:p>
            <a:r>
              <a:rPr dirty="0"/>
              <a:t>- The indicative score or incomplete-assessment status</a:t>
            </a:r>
          </a:p>
          <a:p>
            <a:r>
              <a:rPr dirty="0"/>
              <a:t>- The three most important findings</a:t>
            </a:r>
          </a:p>
          <a:p>
            <a:r>
              <a:rPr dirty="0"/>
              <a:t>- Any authentication, access, or runtime limitations</a:t>
            </a:r>
          </a:p>
          <a:p>
            <a:r>
              <a:rPr dirty="0"/>
              <a:t>- A clear statement that the assessment was read-only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~3 minutes comparing the entry points. Report Copilot pane is generally available; standalone Power BI Copilot and Fabric data agent integration with Microsoft 365 Copilot are preview according to cited documentation. Do not imply Microsoft 365 Copilot automatically queries every Power BI model. A published, accessible Fabric data agent is the route illustrated here. Confirm tenant settings, supported capacity/region, relevant licenses, source permissions, agent publication and same-tenant account access before the session. Only use synthetic or approved demo data. Microsoft 365 orchestration can rephrase agent results; it does not inherit a report page or slicer state automatically.
Sources (Microsoft Learn, reviewed October 13, 2026):
https://learn.microsoft.com/en-us/power-bi/create-reports/copilot-introduction
https://learn.microsoft.com/en-us/fabric/data-science/data-agent-microsoft-365-copilot
All insurance examples and scorecard values are illustrative, not findings from a customer's model.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~2 minutes. Ask the same question, then inspect which path answered: visual analysis or semantic-model query. A question can intentionally request a different period or grouping than the report shows. State the as-of date explicitly rather than relying on a slicer. Record the selected item, report filters, conversation history, model version, user/security role and feature toggles. Review How Copilot arrived at this; where Fabric IQ is enabled in report viewing, inspect reasoning, DAX and returned rows. Fabric IQ is documented for report viewing in the service, not editing, and does not return verified answers when enabled. Permissions and row/object-level security remain boundaries; AI instructions are not access controls. Diagram is an original conceptual synthesis of cited sources.
Sources (Microsoft Learn, reviewed October 13, 2026):
https://learn.microsoft.com/en-us/power-bi/create-reports/copilot-ask-data-question
https://learn.microsoft.com/en-us/power-bi/create-reports/copilot-introduction
https://learn.microsoft.com/en-us/fabric/data-science/data-agent-microsoft-365-copilot
https://learn.microsoft.com/en-us/fabric/data-science/semantic-model-best-practices
All insurance examples and scorecard values are illustrative, not findings from a customer's model.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~3 minutes, including a brief baseline demo. These are candidate questions, not claims about the current model. Use questions the prepared demo dataset supports; if settlement dates are unavailable, replace question 3 before rehearsal, not live. Build owner-approved reference results using validated DAX or an existing certified report. Run identical prompts in all three configured experiences. Separate different phrasing from a different value or analytical scope. Record evidence instead of deciding from confidence or eloquence. Never invent a benchmark number. Fix the date window to avoid relative-date drift. This same set is reused in slide 13.
Sources (Microsoft Learn, reviewed October 13, 2026):
https://learn.microsoft.com/en-us/power-bi/create-reports/copilot-ask-data-question
https://learn.microsoft.com/en-us/fabric/data-science/semantic-model-best-practices
All insurance examples and scorecard values are illustrative, not findings from a customer's model.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~4 minutes. Ground the accuracy discussion in the insurance examples: repeated policy snapshot rows should not become a policy count; multiple payments should not become multiple claims; paid and incurred are not synonyms. Explicit, tested DAX measures are reusable business contracts. Show that readable names alone do not fix incorrect math or missing data. Prep data for AI is preview. Its metadata and instructions guide AI, not guarantee output; model correctness and numerical validation are still required. Verified answer behavior depends on the experience: Fabric data agents use matching visual metadata to guide DAX rather than returning the Power BI visual; the Fabric IQ toggle in report viewing does not return verified answers. Keep feature configurations consistent during before/after comparisons.
Sources (Microsoft Learn, reviewed October 13, 2026):
https://learn.microsoft.com/en-us/fabric/data-science/semantic-model-best-practices
https://learn.microsoft.com/en-us/power-bi/create-reports/copilot-prepare-data-ai
https://learn.microsoft.com/en-us/power-bi/create-reports/copilot-ask-data-question
All insurance examples and scorecard values are illustrative, not findings from a customer's model.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~3 minutes. This is a custom six-dimension demo rubric and a hypothetical 5/12 example; it is not an official Fabric score, not the result of scanning a real customer model and not a predictive probability of answer correctness. Score 0 only when an observed gap exists, 1 for incomplete preparation/evidence and 2 when preparation is supported by checks. Mark uninspected areas Not assessed; do not silently assign 0 or 2. If categories are unassessed, report assessed coverage and a denominator of two times assessed categories, not 12. Link each row to exact table/column/measure metadata, query or test evidence. Report an answer-accuracy baseline separately. Row-level security failures, broken measure logic and missing critical data block release regardless of total. Ask the owner to approve definitions.
Sources (Microsoft Learn, reviewed October 13, 2026):
https://learn.microsoft.com/en-us/fabric/data-science/semantic-model-best-practices
https://learn.microsoft.com/en-us/power-bi/create-reports/copilot-prepare-data-ai
All insurance examples and scorecard values are illustrative, not findings from a customer's model.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 ~8 minutes for this demo. Use a model-editing agent such as GitHub Copilot with the Power BI Modeling MCP server against a sandbox, or available Copilot in web modeling for supported analysis. A conversational Fabric data agent is a query experience, not the editing agent in this demo. Suggested prompt: "Inspect this insurance semantic model in read-only mode. Assess terminology, measures, grain and relationships, date semantics, AI context, and data/security using 0 gap, 1 partial, 2 evidenced. For every finding cite the exact object or test evidence, affected baseline question, recommended fix, owner, risk and acceptance test. Mark inaccessible or untested checks Not assessed. Do not invent findings, query results or an official readiness rating. Do not change the model. Return the scorecard and three highest-impact improvements." Provide the baseline question contracts and approved definitions. An agent might not expose Prep data for AI settings; inspect those directly in Desktop/service and supply the evidence. If live access is unavailable, label this slide and the previous scorecard as a walkthrough rather than actual assessment results. Screenshot reproduced from Microsoft Learn, Semantic model best practices for data agent, AI data schema section. https://learn.microsoft.com/en-us/fabric/data-science/media/semantic-model-best-practices/ai-data-schema-config.png
Sources (Microsoft Learn, reviewed October 13, 2026):
https://learn.microsoft.com/en-us/fabric/data-science/semantic-model-best-practices
https://learn.microsoft.com/en-us/power-bi/create-reports/copilot-prepare-data-ai
https://learn.microsoft.com/en-us/power-bi/transform-model/copilot-web-modeling
All insurance examples and scorecard values are illustrative, not findings from a customer's model.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~2 minutes reviewing actual findings. Treat these as hypothetical examples unless the live scorecard confirms them. For terminology, record the exact accepted in-force status and as-of basis; avoid saying all organizations equate active with in force. For claims paid, confirm reversals, recoveries, gross/net, currency and payment dates with the business owner. For model context, decide the default period only if a genuine business default exists; otherwise instruct the assistant to ask a clarifying question. Each accepted improvement needs a named owner and a precise acceptance test.
Sources (Microsoft Learn, reviewed October 13, 2026):
All insurance examples and scorecard values are illustrative, not findings from a customer's model.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~3 minutes selecting improvements. Ask which finding caused the greatest baseline failure, which fix can be safely demonstrated and which requires broader testing. For each selected item state owner, action, affected question, acceptance condition and rollback. The order is illustrative; structural defects or security failures cannot be deferred if the model is to be released. Avoid risky object renames during a short demo without dependency analysis; descriptions are a safer initial choice. Make a checkpoint before any approved write. Model-context configuration may be demonstrated manually in the following chapter.
Sources (Microsoft Learn, reviewed October 13, 2026):
All insurance examples and scorecard values are illustrative, not findings from a customer's model.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~2 minutes introducing the controlled workflow. Querying a Fabric data agent does not edit the model. For the editing agent use the prepared GitHub Copilot/Power BI Modeling MCP setup or Copilot in web modeling preview if available. Web-modeling Copilot requires Write permission, asks for session-level consent and creates a session-start restore checkpoint; that consent permits changes across the session, so do not assume every subsequent change prompts for approval. It cannot currently set Prep data for AI. Author those settings in the dedicated service/Desktop experience. Inspect actual tooling capabilities rather than promising automated changes to unsupported settings. Never operate on production for the demo, change security or restructure relationships without a separately approved plan. Review before/after diffs and dependencies.
Sources (Microsoft Learn, reviewed October 13, 2026):
https://learn.microsoft.com/en-us/power-bi/transform-model/copilot-web-modeling
https://learn.microsoft.com/en-us/power-bi/create-reports/copilot-prepare-data-ai
https://learn.microsoft.com/en-us/fabric/data-science/semantic-model-best-practices
All insurance examples and scorecard values are illustrative, not findings from a customer's model.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 ~5 minutes for edits and AI preparation. Suggested editing prompt: "In this sandbox model, apply only the approved changes from the scorecard. Use the supplied owner-approved definitions for in-force policies and claims paid. Update the agreed descriptions; change DAX only for the specifically approved measure. Preserve object identifiers/names unless dependency-safe renaming is explicitly approved; do not alter relationships, sources, roles or security. Show each changed object, old/new expression or description, dependency impact and reference-query result. Stop and report any missing definition or unsupported action." Suggested model-level AI instructions, to adapt to approved definitions: "For policy-count questions, use the approved In Force Policy Count measure and the explicitly requested snapshot date. For claims paid, use the approved Total Claims Paid measure and payment-date role. For settlement time, use the approved closed-claim cohort and close-date role. If the date basis, period, or metric meaning is missing and no approved default exists, ask for clarification. State the measure, period, units and filters in the response." These are guidance, not guaranteed enforcement. Keep semantic-model-specific instructions in model Prep data for AI, not merely in Fabric data-agent instructions, which are not passed to the DAX generation tool. Curate the AI schema with relevant dependency objects and align selected agent tables. Update verified-answer references after renames if applicable; do not use verified answers in a Fabric IQ-on comparison. Save/publish and refresh/sync per connection type and deployment path; configuration changes can take time to appear.
Sources (Microsoft Learn, reviewed October 13, 2026):
https://learn.microsoft.com/en-us/fabric/data-science/semantic-model-best-practices
https://learn.microsoft.com/en-us/power-bi/create-reports/copilot-prepare-data-ai
https://learn.microsoft.com/en-us/power-bi/transform-model/copilot-web-modeling
https://learn.microsoft.com/en-us/power-bi/create-reports/copilot-ask-data-question
All insurance examples and scorecard values are illustrative, not findings from a customer's model.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final ~3 minutes for retesting and close. This slide is a capture worksheet, not a claim of measured improvement. Replace Record live with observed outcomes if presenting a saved demo. Reuse exact questions, fixed dates, same user/security role, same selected item, same data snapshot and feature toggles. Only model/AI-context changes should vary. Inspect query, measure and filters; compare numerical values and grouping to the approved reference. Record pass/fail/unclear by experience and question, plus latency if useful. Test natural-language variants and underspecified questions; confirm the assistant asks for missing context instead of guessing. Clear chat to remove conversation context, but note that clear chat does not clear cached answers: identical prompts on unchanged model/schema/data/instructions may reuse responses within 24 hours. Verify the updated model/configuration has propagated; reopen the pane and refresh/sync where required. If changes have not propagated or time is insufficient, say improvement is not yet verified rather than reporting a successful before/after. Do not equate a higher readiness total with proven answer accuracy. End with the chosen fixes, owners and remaining release gates.
Sources (Microsoft Learn, reviewed October 13, 2026):
https://learn.microsoft.com/en-us/power-bi/create-reports/copilot-ask-data-question
https://learn.microsoft.com/en-us/power-bi/create-reports/copilot-introduction
https://learn.microsoft.com/en-us/power-bi/create-reports/copilot-prepare-data-ai
https://learn.microsoft.com/en-us/fabric/data-science/semantic-model-best-practices
All insurance examples and scorecard values are illustrative, not findings from a customer's model.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000559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7220800"/>
      </p:ext>
    </p:extLst>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19.png"/><Relationship Id="rId4" Type="http://schemas.openxmlformats.org/officeDocument/2006/relationships/image" Target="../media/image11.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learn.microsoft.com/en-us/power-bi/create-reports/copilot-introduction"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learn.microsoft.com/en-us/power-bi/create-reports/copilot-ask-data-question"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en-us/power-bi/create-reports/copilot-ask-data-question"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learn.microsoft.com/en-us/fabric/data-science/semantic-model-best-practices"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learn.microsoft.com/en-us/fabric/data-science/semantic-model-best-practices"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learn.microsoft.com/en-us/power-bi/create-reports/copilot-prepare-data-ai"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learn.microsoft.com/en-us/power-bi/transform-model/copilot-web-modeling"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learn.microsoft.com/en-us/fabric/data-science/semantic-model-best-practices"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learn.microsoft.com/en-us/power-bi/create-reports/copilot-ask-data-question"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13" name="Picture 12" descr="033e9cbf932942f2.jpg"/>
          <p:cNvPicPr>
            <a:picLocks noChangeAspect="1"/>
          </p:cNvPicPr>
          <p:nvPr/>
        </p:nvPicPr>
        <p:blipFill>
          <a:blip r:embed="rId3"/>
          <a:stretch>
            <a:fillRect/>
          </a:stretch>
        </p:blipFill>
        <p:spPr>
          <a:xfrm>
            <a:off x="0" y="0"/>
            <a:ext cx="12192000" cy="6858000"/>
          </a:xfrm>
          <a:prstGeom prst="rect">
            <a:avLst/>
          </a:prstGeom>
        </p:spPr>
      </p:pic>
      <p:sp>
        <p:nvSpPr>
          <p:cNvPr id="14" name="Rectangle 13"/>
          <p:cNvSpPr/>
          <p:nvPr/>
        </p:nvSpPr>
        <p:spPr>
          <a:xfrm>
            <a:off x="0" y="0"/>
            <a:ext cx="12191695" cy="6858000"/>
          </a:xfrm>
          <a:prstGeom prst="rect">
            <a:avLst/>
          </a:prstGeom>
          <a:gradFill rotWithShape="1">
            <a:gsLst>
              <a:gs pos="0">
                <a:srgbClr val="04141A">
                  <a:alpha val="97000"/>
                </a:srgbClr>
              </a:gs>
              <a:gs pos="50000">
                <a:srgbClr val="04141A">
                  <a:alpha val="82000"/>
                </a:srgbClr>
              </a:gs>
              <a:gs pos="100000">
                <a:srgbClr val="04141A">
                  <a:alpha val="2000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ounded Rectangle 15"/>
          <p:cNvSpPr/>
          <p:nvPr/>
        </p:nvSpPr>
        <p:spPr>
          <a:xfrm>
            <a:off x="585216" y="1298448"/>
            <a:ext cx="4114800" cy="310896"/>
          </a:xfrm>
          <a:prstGeom prst="roundRect">
            <a:avLst>
              <a:gd name="adj" fmla="val 50000"/>
            </a:avLst>
          </a:prstGeom>
          <a:solidFill>
            <a:srgbClr val="1FB58F">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 4"/>
          <p:cNvSpPr/>
          <p:nvPr/>
        </p:nvSpPr>
        <p:spPr>
          <a:xfrm>
            <a:off x="548640" y="6483096"/>
            <a:ext cx="4572000" cy="182880"/>
          </a:xfrm>
          <a:prstGeom prst="rect">
            <a:avLst/>
          </a:prstGeom>
          <a:noFill/>
          <a:ln/>
        </p:spPr>
        <p:txBody>
          <a:bodyPr wrap="square" lIns="0" tIns="0" rIns="0" bIns="0" rtlCol="0" anchor="ctr"/>
          <a:lstStyle/>
          <a:p>
            <a:pPr marL="0" indent="0">
              <a:buNone/>
            </a:pPr>
            <a:r>
              <a:rPr lang="en-US" sz="900" b="1">
                <a:solidFill>
                  <a:srgbClr val="7FA39C"/>
                </a:solidFill>
                <a:latin typeface="Segoe UI" pitchFamily="34" charset="0"/>
                <a:ea typeface="Segoe UI" pitchFamily="34" charset="-122"/>
                <a:cs typeface="Segoe UI" pitchFamily="34" charset="-120"/>
              </a:rPr>
              <a:t>TALK TO YOUR INSURANCE DATA</a:t>
            </a:r>
            <a:endParaRPr lang="en-US" sz="900" dirty="0"/>
          </a:p>
        </p:txBody>
      </p:sp>
      <p:sp>
        <p:nvSpPr>
          <p:cNvPr id="7" name="Text 5"/>
          <p:cNvSpPr/>
          <p:nvPr/>
        </p:nvSpPr>
        <p:spPr>
          <a:xfrm>
            <a:off x="11082528" y="6437376"/>
            <a:ext cx="548640" cy="228600"/>
          </a:xfrm>
          <a:prstGeom prst="rect">
            <a:avLst/>
          </a:prstGeom>
          <a:noFill/>
          <a:ln/>
        </p:spPr>
        <p:txBody>
          <a:bodyPr wrap="square" lIns="0" tIns="0" rIns="0" bIns="0" rtlCol="0" anchor="ctr"/>
          <a:lstStyle/>
          <a:p>
            <a:pPr marL="0" indent="0" algn="r">
              <a:buNone/>
            </a:pPr>
            <a:r>
              <a:rPr lang="en-US" sz="1000" b="1">
                <a:solidFill>
                  <a:srgbClr val="7FE8C8"/>
                </a:solidFill>
                <a:latin typeface="Segoe UI" pitchFamily="34" charset="0"/>
                <a:ea typeface="Segoe UI" pitchFamily="34" charset="-122"/>
                <a:cs typeface="Segoe UI" pitchFamily="34" charset="-120"/>
              </a:rPr>
              <a:t>01</a:t>
            </a:r>
            <a:endParaRPr lang="en-US" sz="1000" dirty="0"/>
          </a:p>
        </p:txBody>
      </p:sp>
      <p:sp>
        <p:nvSpPr>
          <p:cNvPr id="9" name="Text 7"/>
          <p:cNvSpPr/>
          <p:nvPr/>
        </p:nvSpPr>
        <p:spPr>
          <a:xfrm>
            <a:off x="585216" y="1298448"/>
            <a:ext cx="4114800" cy="310896"/>
          </a:xfrm>
          <a:prstGeom prst="rect">
            <a:avLst/>
          </a:prstGeom>
          <a:noFill/>
          <a:ln/>
        </p:spPr>
        <p:txBody>
          <a:bodyPr wrap="square" lIns="0" tIns="0" rIns="0" bIns="0" rtlCol="0" anchor="ctr"/>
          <a:lstStyle/>
          <a:p>
            <a:pPr marL="0" indent="0" algn="ctr">
              <a:buNone/>
            </a:pPr>
            <a:r>
              <a:rPr lang="en-US" sz="1000" b="1">
                <a:solidFill>
                  <a:srgbClr val="C8F5E6"/>
                </a:solidFill>
                <a:latin typeface="Segoe UI" pitchFamily="34" charset="0"/>
                <a:ea typeface="Segoe UI" pitchFamily="34" charset="-122"/>
                <a:cs typeface="Segoe UI" pitchFamily="34" charset="-120"/>
              </a:rPr>
              <a:t>INSURANCE + CONVERSATIONAL ANALYTICS</a:t>
            </a:r>
            <a:endParaRPr lang="en-US" sz="1000"/>
          </a:p>
        </p:txBody>
      </p:sp>
      <p:sp>
        <p:nvSpPr>
          <p:cNvPr id="10" name="Text 8"/>
          <p:cNvSpPr/>
          <p:nvPr/>
        </p:nvSpPr>
        <p:spPr>
          <a:xfrm>
            <a:off x="585216" y="1810512"/>
            <a:ext cx="7132320" cy="1517904"/>
          </a:xfrm>
          <a:prstGeom prst="rect">
            <a:avLst/>
          </a:prstGeom>
          <a:noFill/>
          <a:ln/>
        </p:spPr>
        <p:txBody>
          <a:bodyPr wrap="square" lIns="0" tIns="0" rIns="0" bIns="0" rtlCol="0" anchor="ctr"/>
          <a:lstStyle/>
          <a:p>
            <a:pPr marL="0" indent="0">
              <a:buNone/>
            </a:pPr>
            <a:r>
              <a:rPr lang="en-US" sz="4600" b="1">
                <a:solidFill>
                  <a:srgbClr val="FFFFFF"/>
                </a:solidFill>
                <a:latin typeface="Segoe UI" pitchFamily="34" charset="0"/>
                <a:ea typeface="Segoe UI" pitchFamily="34" charset="-122"/>
                <a:cs typeface="Segoe UI" pitchFamily="34" charset="-120"/>
              </a:rPr>
              <a:t>Talk to Your</a:t>
            </a:r>
            <a:endParaRPr lang="en-US" sz="4300" dirty="0"/>
          </a:p>
          <a:p>
            <a:pPr marL="0" indent="0">
              <a:buNone/>
            </a:pPr>
            <a:r>
              <a:rPr lang="en-US" sz="4600" b="1">
                <a:solidFill>
                  <a:srgbClr val="FFFFFF"/>
                </a:solidFill>
                <a:latin typeface="Segoe UI" pitchFamily="34" charset="0"/>
                <a:ea typeface="Segoe UI" pitchFamily="34" charset="-122"/>
                <a:cs typeface="Segoe UI" pitchFamily="34" charset="-120"/>
              </a:rPr>
              <a:t>Insurance Data</a:t>
            </a:r>
            <a:endParaRPr lang="en-US" sz="4300" dirty="0"/>
          </a:p>
        </p:txBody>
      </p:sp>
      <p:sp>
        <p:nvSpPr>
          <p:cNvPr id="11" name="Text 9"/>
          <p:cNvSpPr/>
          <p:nvPr/>
        </p:nvSpPr>
        <p:spPr>
          <a:xfrm>
            <a:off x="603504" y="3456432"/>
            <a:ext cx="6400800" cy="1005840"/>
          </a:xfrm>
          <a:prstGeom prst="rect">
            <a:avLst/>
          </a:prstGeom>
          <a:noFill/>
          <a:ln/>
        </p:spPr>
        <p:txBody>
          <a:bodyPr wrap="square" lIns="0" tIns="0" rIns="0" bIns="0" rtlCol="0" anchor="ctr"/>
          <a:lstStyle/>
          <a:p>
            <a:pPr marL="0" indent="0">
              <a:buNone/>
            </a:pPr>
            <a:r>
              <a:rPr lang="en-US" sz="2800" b="1">
                <a:solidFill>
                  <a:srgbClr val="5FE0B7"/>
                </a:solidFill>
                <a:latin typeface="Segoe UI" pitchFamily="34" charset="0"/>
                <a:ea typeface="Segoe UI" pitchFamily="34" charset="-122"/>
                <a:cs typeface="Segoe UI" pitchFamily="34" charset="-120"/>
              </a:rPr>
              <a:t>Better answers start with</a:t>
            </a:r>
            <a:endParaRPr lang="en-US" sz="2800" dirty="0"/>
          </a:p>
          <a:p>
            <a:pPr marL="0" indent="0">
              <a:buNone/>
            </a:pPr>
            <a:r>
              <a:rPr lang="en-US" sz="2800" b="1">
                <a:solidFill>
                  <a:srgbClr val="5FE0B7"/>
                </a:solidFill>
                <a:latin typeface="Segoe UI" pitchFamily="34" charset="0"/>
                <a:ea typeface="Segoe UI" pitchFamily="34" charset="-122"/>
                <a:cs typeface="Segoe UI" pitchFamily="34" charset="-120"/>
              </a:rPr>
              <a:t>the semantic model.</a:t>
            </a:r>
            <a:endParaRPr lang="en-US" sz="2800" dirty="0"/>
          </a:p>
        </p:txBody>
      </p:sp>
      <p:sp>
        <p:nvSpPr>
          <p:cNvPr id="12" name="Text 10"/>
          <p:cNvSpPr/>
          <p:nvPr/>
        </p:nvSpPr>
        <p:spPr>
          <a:xfrm>
            <a:off x="603504" y="4754880"/>
            <a:ext cx="6446520" cy="822960"/>
          </a:xfrm>
          <a:prstGeom prst="rect">
            <a:avLst/>
          </a:prstGeom>
          <a:noFill/>
          <a:ln/>
        </p:spPr>
        <p:txBody>
          <a:bodyPr wrap="square" lIns="0" tIns="0" rIns="0" bIns="0" rtlCol="0" anchor="ctr"/>
          <a:lstStyle/>
          <a:p>
            <a:pPr marL="0" indent="0">
              <a:buNone/>
            </a:pPr>
            <a:r>
              <a:rPr lang="en-US" sz="2000">
                <a:solidFill>
                  <a:srgbClr val="A9C4BF"/>
                </a:solidFill>
                <a:latin typeface="Segoe UI" pitchFamily="34" charset="0"/>
                <a:ea typeface="Segoe UI" pitchFamily="34" charset="-122"/>
                <a:cs typeface="Segoe UI" pitchFamily="34" charset="-120"/>
              </a:rPr>
              <a:t>Compare experiences. Assess readiness.</a:t>
            </a:r>
            <a:endParaRPr lang="en-US" sz="2000" dirty="0"/>
          </a:p>
          <a:p>
            <a:pPr marL="0" indent="0">
              <a:buNone/>
            </a:pPr>
            <a:r>
              <a:rPr lang="en-US" sz="2000">
                <a:solidFill>
                  <a:srgbClr val="A9C4BF"/>
                </a:solidFill>
                <a:latin typeface="Segoe UI" pitchFamily="34" charset="0"/>
                <a:ea typeface="Segoe UI" pitchFamily="34" charset="-122"/>
                <a:cs typeface="Segoe UI" pitchFamily="34" charset="-120"/>
              </a:rPr>
              <a:t>Improve the model. Ask again.</a:t>
            </a:r>
            <a:endParaRPr lang="en-US" sz="2000" dirty="0"/>
          </a:p>
        </p:txBody>
      </p:sp>
      <p:sp>
        <p:nvSpPr>
          <p:cNvPr id="17" name="Rounded Rectangle 16"/>
          <p:cNvSpPr/>
          <p:nvPr/>
        </p:nvSpPr>
        <p:spPr>
          <a:xfrm>
            <a:off x="7406640" y="1417320"/>
            <a:ext cx="2011680" cy="731520"/>
          </a:xfrm>
          <a:prstGeom prst="roundRect">
            <a:avLst>
              <a:gd name="adj" fmla="val 18000"/>
            </a:avLst>
          </a:prstGeom>
          <a:solidFill>
            <a:srgbClr val="0B2A2C">
              <a:alpha val="72000"/>
            </a:srgbClr>
          </a:solidFill>
          <a:ln w="9525">
            <a:solidFill>
              <a:srgbClr val="7FE8C8">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icon-document-text-457c9970.png"/>
          <p:cNvPicPr>
            <a:picLocks noChangeAspect="1"/>
          </p:cNvPicPr>
          <p:nvPr/>
        </p:nvPicPr>
        <p:blipFill>
          <a:blip r:embed="rId4"/>
          <a:stretch>
            <a:fillRect/>
          </a:stretch>
        </p:blipFill>
        <p:spPr>
          <a:xfrm>
            <a:off x="7607808" y="1600200"/>
            <a:ext cx="365760" cy="365760"/>
          </a:xfrm>
          <a:prstGeom prst="rect">
            <a:avLst/>
          </a:prstGeom>
        </p:spPr>
      </p:pic>
      <p:sp>
        <p:nvSpPr>
          <p:cNvPr id="19" name="TextBox 18"/>
          <p:cNvSpPr txBox="1">
            <a:spLocks/>
          </p:cNvSpPr>
          <p:nvPr/>
        </p:nvSpPr>
        <p:spPr>
          <a:xfrm>
            <a:off x="8083296" y="1417320"/>
            <a:ext cx="1188720" cy="731520"/>
          </a:xfrm>
          <a:prstGeom prst="rect">
            <a:avLst/>
          </a:prstGeom>
          <a:noFill/>
        </p:spPr>
        <p:txBody>
          <a:bodyPr wrap="square" lIns="0" tIns="0" rIns="0" bIns="0" anchor="ctr">
            <a:spAutoFit/>
          </a:bodyPr>
          <a:lstStyle/>
          <a:p>
            <a:pPr algn="l"/>
            <a:r>
              <a:rPr lang="en-US" sz="1700" b="1">
                <a:solidFill>
                  <a:srgbClr val="FFFFFF"/>
                </a:solidFill>
                <a:latin typeface="Segoe UI"/>
              </a:rPr>
              <a:t>Policies</a:t>
            </a:r>
          </a:p>
        </p:txBody>
      </p:sp>
      <p:sp>
        <p:nvSpPr>
          <p:cNvPr id="20" name="Rounded Rectangle 19"/>
          <p:cNvSpPr/>
          <p:nvPr/>
        </p:nvSpPr>
        <p:spPr>
          <a:xfrm>
            <a:off x="9601200" y="1417320"/>
            <a:ext cx="2011680" cy="731520"/>
          </a:xfrm>
          <a:prstGeom prst="roundRect">
            <a:avLst>
              <a:gd name="adj" fmla="val 18000"/>
            </a:avLst>
          </a:prstGeom>
          <a:solidFill>
            <a:srgbClr val="0B2A2C">
              <a:alpha val="72000"/>
            </a:srgbClr>
          </a:solidFill>
          <a:ln w="9525">
            <a:solidFill>
              <a:srgbClr val="7FE8C8">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Picture 20" descr="icon-shield-checkmark-e87bee0c.png"/>
          <p:cNvPicPr>
            <a:picLocks noChangeAspect="1"/>
          </p:cNvPicPr>
          <p:nvPr/>
        </p:nvPicPr>
        <p:blipFill>
          <a:blip r:embed="rId5"/>
          <a:stretch>
            <a:fillRect/>
          </a:stretch>
        </p:blipFill>
        <p:spPr>
          <a:xfrm>
            <a:off x="9802368" y="1600200"/>
            <a:ext cx="365760" cy="365760"/>
          </a:xfrm>
          <a:prstGeom prst="rect">
            <a:avLst/>
          </a:prstGeom>
        </p:spPr>
      </p:pic>
      <p:sp>
        <p:nvSpPr>
          <p:cNvPr id="22" name="TextBox 21"/>
          <p:cNvSpPr txBox="1">
            <a:spLocks/>
          </p:cNvSpPr>
          <p:nvPr/>
        </p:nvSpPr>
        <p:spPr>
          <a:xfrm>
            <a:off x="10277856" y="1417320"/>
            <a:ext cx="1188720" cy="731520"/>
          </a:xfrm>
          <a:prstGeom prst="rect">
            <a:avLst/>
          </a:prstGeom>
          <a:noFill/>
        </p:spPr>
        <p:txBody>
          <a:bodyPr wrap="square" lIns="0" tIns="0" rIns="0" bIns="0" anchor="ctr">
            <a:spAutoFit/>
          </a:bodyPr>
          <a:lstStyle/>
          <a:p>
            <a:pPr algn="l"/>
            <a:r>
              <a:rPr lang="en-US" sz="1700" b="1">
                <a:solidFill>
                  <a:srgbClr val="FFFFFF"/>
                </a:solidFill>
                <a:latin typeface="Segoe UI"/>
              </a:rPr>
              <a:t>Claims</a:t>
            </a:r>
          </a:p>
        </p:txBody>
      </p:sp>
      <p:sp>
        <p:nvSpPr>
          <p:cNvPr id="23" name="Rounded Rectangle 22"/>
          <p:cNvSpPr/>
          <p:nvPr/>
        </p:nvSpPr>
        <p:spPr>
          <a:xfrm>
            <a:off x="7406640" y="2697480"/>
            <a:ext cx="4206240" cy="1417320"/>
          </a:xfrm>
          <a:prstGeom prst="roundRect">
            <a:avLst>
              <a:gd name="adj" fmla="val 15000"/>
            </a:avLst>
          </a:prstGeom>
          <a:gradFill rotWithShape="1">
            <a:gsLst>
              <a:gs pos="0">
                <a:srgbClr val="0E6B5C"/>
              </a:gs>
              <a:gs pos="100000">
                <a:srgbClr val="1FB58F"/>
              </a:gs>
            </a:gsLst>
            <a:lin ang="2700000" scaled="0"/>
          </a:gradFill>
          <a:ln w="12700">
            <a:solidFill>
              <a:srgbClr val="9CF2D6">
                <a:alpha val="6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p:cNvSpPr/>
          <p:nvPr/>
        </p:nvSpPr>
        <p:spPr>
          <a:xfrm>
            <a:off x="7699248" y="3017520"/>
            <a:ext cx="777240" cy="777240"/>
          </a:xfrm>
          <a:prstGeom prst="ellipse">
            <a:avLst/>
          </a:prstGeom>
          <a:solidFill>
            <a:srgbClr val="FFFFFF">
              <a:alpha val="18000"/>
            </a:srgbClr>
          </a:solidFill>
          <a:ln w="9525">
            <a:solidFill>
              <a:srgbClr val="FFFFFF">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5" name="Picture 24" descr="icon-database-ee7b81c0.png"/>
          <p:cNvPicPr>
            <a:picLocks noChangeAspect="1"/>
          </p:cNvPicPr>
          <p:nvPr/>
        </p:nvPicPr>
        <p:blipFill>
          <a:blip r:embed="rId6"/>
          <a:stretch>
            <a:fillRect/>
          </a:stretch>
        </p:blipFill>
        <p:spPr>
          <a:xfrm>
            <a:off x="7863840" y="3182112"/>
            <a:ext cx="457200" cy="457200"/>
          </a:xfrm>
          <a:prstGeom prst="rect">
            <a:avLst/>
          </a:prstGeom>
        </p:spPr>
      </p:pic>
      <p:sp>
        <p:nvSpPr>
          <p:cNvPr id="26" name="TextBox 25"/>
          <p:cNvSpPr txBox="1">
            <a:spLocks/>
          </p:cNvSpPr>
          <p:nvPr/>
        </p:nvSpPr>
        <p:spPr>
          <a:xfrm>
            <a:off x="8686800" y="2852928"/>
            <a:ext cx="2743200" cy="640080"/>
          </a:xfrm>
          <a:prstGeom prst="rect">
            <a:avLst/>
          </a:prstGeom>
          <a:noFill/>
        </p:spPr>
        <p:txBody>
          <a:bodyPr wrap="square" lIns="0" tIns="0" rIns="0" bIns="0" anchor="ctr">
            <a:spAutoFit/>
          </a:bodyPr>
          <a:lstStyle/>
          <a:p>
            <a:pPr algn="l"/>
            <a:r>
              <a:rPr lang="en-US" sz="2600" b="1">
                <a:solidFill>
                  <a:srgbClr val="FFFFFF"/>
                </a:solidFill>
                <a:latin typeface="Segoe UI"/>
              </a:rPr>
              <a:t>Semantic model</a:t>
            </a:r>
          </a:p>
        </p:txBody>
      </p:sp>
      <p:sp>
        <p:nvSpPr>
          <p:cNvPr id="27" name="TextBox 26"/>
          <p:cNvSpPr txBox="1">
            <a:spLocks/>
          </p:cNvSpPr>
          <p:nvPr/>
        </p:nvSpPr>
        <p:spPr>
          <a:xfrm>
            <a:off x="8686800" y="3456432"/>
            <a:ext cx="2743200" cy="365760"/>
          </a:xfrm>
          <a:prstGeom prst="rect">
            <a:avLst/>
          </a:prstGeom>
          <a:noFill/>
        </p:spPr>
        <p:txBody>
          <a:bodyPr wrap="square" lIns="0" tIns="0" rIns="0" bIns="0" anchor="ctr">
            <a:spAutoFit/>
          </a:bodyPr>
          <a:lstStyle/>
          <a:p>
            <a:pPr algn="l"/>
            <a:r>
              <a:rPr lang="en-US" sz="1200" b="0">
                <a:solidFill>
                  <a:srgbClr val="D9FBEF"/>
                </a:solidFill>
                <a:latin typeface="Segoe UI"/>
              </a:rPr>
              <a:t>One governed foundation in Fabric</a:t>
            </a:r>
          </a:p>
        </p:txBody>
      </p:sp>
      <p:sp>
        <p:nvSpPr>
          <p:cNvPr id="28" name="Rounded Rectangle 27"/>
          <p:cNvSpPr/>
          <p:nvPr/>
        </p:nvSpPr>
        <p:spPr>
          <a:xfrm>
            <a:off x="7406640" y="4663440"/>
            <a:ext cx="2011680" cy="731520"/>
          </a:xfrm>
          <a:prstGeom prst="roundRect">
            <a:avLst>
              <a:gd name="adj" fmla="val 18000"/>
            </a:avLst>
          </a:prstGeom>
          <a:solidFill>
            <a:srgbClr val="0B2A2C">
              <a:alpha val="72000"/>
            </a:srgbClr>
          </a:solidFill>
          <a:ln w="9525">
            <a:solidFill>
              <a:srgbClr val="7FE8C8">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9" name="Picture 28" descr="icon-data-bar-vertical-8b2dd114.png"/>
          <p:cNvPicPr>
            <a:picLocks noChangeAspect="1"/>
          </p:cNvPicPr>
          <p:nvPr/>
        </p:nvPicPr>
        <p:blipFill>
          <a:blip r:embed="rId7"/>
          <a:stretch>
            <a:fillRect/>
          </a:stretch>
        </p:blipFill>
        <p:spPr>
          <a:xfrm>
            <a:off x="7607808" y="4846320"/>
            <a:ext cx="365760" cy="365760"/>
          </a:xfrm>
          <a:prstGeom prst="rect">
            <a:avLst/>
          </a:prstGeom>
        </p:spPr>
      </p:pic>
      <p:sp>
        <p:nvSpPr>
          <p:cNvPr id="30" name="TextBox 29"/>
          <p:cNvSpPr txBox="1"/>
          <p:nvPr/>
        </p:nvSpPr>
        <p:spPr>
          <a:xfrm>
            <a:off x="8083296" y="4663440"/>
            <a:ext cx="1188720" cy="731520"/>
          </a:xfrm>
          <a:prstGeom prst="rect">
            <a:avLst/>
          </a:prstGeom>
          <a:noFill/>
        </p:spPr>
        <p:txBody>
          <a:bodyPr wrap="square" lIns="0" tIns="0" rIns="0" bIns="0" anchor="ctr">
            <a:spAutoFit/>
          </a:bodyPr>
          <a:lstStyle/>
          <a:p>
            <a:pPr algn="l"/>
            <a:r>
              <a:rPr sz="1700" b="1">
                <a:solidFill>
                  <a:srgbClr val="FFFFFF"/>
                </a:solidFill>
                <a:latin typeface="Segoe UI"/>
              </a:rPr>
              <a:t>Reports</a:t>
            </a:r>
          </a:p>
        </p:txBody>
      </p:sp>
      <p:sp>
        <p:nvSpPr>
          <p:cNvPr id="31" name="Rounded Rectangle 30"/>
          <p:cNvSpPr/>
          <p:nvPr/>
        </p:nvSpPr>
        <p:spPr>
          <a:xfrm>
            <a:off x="9601200" y="4663440"/>
            <a:ext cx="2011680" cy="731520"/>
          </a:xfrm>
          <a:prstGeom prst="roundRect">
            <a:avLst>
              <a:gd name="adj" fmla="val 18000"/>
            </a:avLst>
          </a:prstGeom>
          <a:solidFill>
            <a:srgbClr val="0B2A2C">
              <a:alpha val="72000"/>
            </a:srgbClr>
          </a:solidFill>
          <a:ln w="9525">
            <a:solidFill>
              <a:srgbClr val="7FE8C8">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icon-sparkle-b2342e42.png"/>
          <p:cNvPicPr>
            <a:picLocks noChangeAspect="1"/>
          </p:cNvPicPr>
          <p:nvPr/>
        </p:nvPicPr>
        <p:blipFill>
          <a:blip r:embed="rId8"/>
          <a:stretch>
            <a:fillRect/>
          </a:stretch>
        </p:blipFill>
        <p:spPr>
          <a:xfrm>
            <a:off x="9802368" y="4846320"/>
            <a:ext cx="365760" cy="365760"/>
          </a:xfrm>
          <a:prstGeom prst="rect">
            <a:avLst/>
          </a:prstGeom>
        </p:spPr>
      </p:pic>
      <p:sp>
        <p:nvSpPr>
          <p:cNvPr id="33" name="TextBox 32"/>
          <p:cNvSpPr txBox="1"/>
          <p:nvPr/>
        </p:nvSpPr>
        <p:spPr>
          <a:xfrm>
            <a:off x="10277856" y="4663440"/>
            <a:ext cx="1188720" cy="731520"/>
          </a:xfrm>
          <a:prstGeom prst="rect">
            <a:avLst/>
          </a:prstGeom>
          <a:noFill/>
        </p:spPr>
        <p:txBody>
          <a:bodyPr wrap="square" lIns="0" tIns="0" rIns="0" bIns="0" anchor="ctr">
            <a:spAutoFit/>
          </a:bodyPr>
          <a:lstStyle/>
          <a:p>
            <a:pPr algn="l"/>
            <a:r>
              <a:rPr sz="1700" b="1">
                <a:solidFill>
                  <a:srgbClr val="FFFFFF"/>
                </a:solidFill>
                <a:latin typeface="Segoe UI"/>
              </a:rPr>
              <a:t>Copilot</a:t>
            </a:r>
          </a:p>
        </p:txBody>
      </p:sp>
      <p:cxnSp>
        <p:nvCxnSpPr>
          <p:cNvPr id="34" name="Connector 33"/>
          <p:cNvCxnSpPr/>
          <p:nvPr/>
        </p:nvCxnSpPr>
        <p:spPr>
          <a:xfrm>
            <a:off x="8412480" y="2148840"/>
            <a:ext cx="0" cy="548640"/>
          </a:xfrm>
          <a:prstGeom prst="line">
            <a:avLst/>
          </a:prstGeom>
          <a:ln w="19050">
            <a:solidFill>
              <a:srgbClr val="7FE8C8"/>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607040" y="2148840"/>
            <a:ext cx="0" cy="548640"/>
          </a:xfrm>
          <a:prstGeom prst="line">
            <a:avLst/>
          </a:prstGeom>
          <a:ln w="19050">
            <a:solidFill>
              <a:srgbClr val="7FE8C8"/>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412480" y="4114800"/>
            <a:ext cx="0" cy="548640"/>
          </a:xfrm>
          <a:prstGeom prst="line">
            <a:avLst/>
          </a:prstGeom>
          <a:ln w="19050">
            <a:solidFill>
              <a:srgbClr val="7FE8C8"/>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607040" y="4114800"/>
            <a:ext cx="0" cy="548640"/>
          </a:xfrm>
          <a:prstGeom prst="line">
            <a:avLst/>
          </a:prstGeom>
          <a:ln w="19050">
            <a:solidFill>
              <a:srgbClr val="7FE8C8"/>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3017520" cy="292608"/>
          </a:xfrm>
          <a:prstGeom prst="roundRect">
            <a:avLst>
              <a:gd name="adj" fmla="val 50000"/>
            </a:avLst>
          </a:prstGeom>
          <a:solidFill>
            <a:srgbClr val="F3EFFE"/>
          </a:solidFill>
          <a:ln w="8890">
            <a:solidFill>
              <a:srgbClr val="F3EFFE"/>
            </a:solidFill>
            <a:prstDash val="solid"/>
          </a:ln>
        </p:spPr>
        <p:txBody>
          <a:bodyPr/>
          <a:lstStyle/>
          <a:p>
            <a:endParaRPr lang="en-US"/>
          </a:p>
        </p:txBody>
      </p:sp>
      <p:sp>
        <p:nvSpPr>
          <p:cNvPr id="3" name="Text 1"/>
          <p:cNvSpPr/>
          <p:nvPr/>
        </p:nvSpPr>
        <p:spPr>
          <a:xfrm>
            <a:off x="658368" y="320040"/>
            <a:ext cx="2798064" cy="292608"/>
          </a:xfrm>
          <a:prstGeom prst="rect">
            <a:avLst/>
          </a:prstGeom>
          <a:noFill/>
          <a:ln/>
        </p:spPr>
        <p:txBody>
          <a:bodyPr wrap="square" lIns="0" tIns="0" rIns="0" bIns="0" rtlCol="0" anchor="ctr"/>
          <a:lstStyle/>
          <a:p>
            <a:pPr marL="0" indent="0">
              <a:buNone/>
            </a:pPr>
            <a:r>
              <a:rPr lang="en-US" sz="1000" b="1" dirty="0">
                <a:solidFill>
                  <a:srgbClr val="7655D6"/>
                </a:solidFill>
                <a:latin typeface="Segoe UI" pitchFamily="34" charset="0"/>
                <a:ea typeface="Segoe UI" pitchFamily="34" charset="-122"/>
                <a:cs typeface="Segoe UI" pitchFamily="34" charset="-120"/>
              </a:rPr>
              <a:t>AGENDA</a:t>
            </a:r>
            <a:endParaRPr lang="en-US" sz="1000" dirty="0"/>
          </a:p>
        </p:txBody>
      </p:sp>
      <p:sp>
        <p:nvSpPr>
          <p:cNvPr id="4" name="Text 2"/>
          <p:cNvSpPr/>
          <p:nvPr/>
        </p:nvSpPr>
        <p:spPr>
          <a:xfrm>
            <a:off x="9582912" y="320040"/>
            <a:ext cx="2057400" cy="292608"/>
          </a:xfrm>
          <a:prstGeom prst="rect">
            <a:avLst/>
          </a:prstGeom>
          <a:noFill/>
          <a:ln/>
        </p:spPr>
        <p:txBody>
          <a:bodyPr wrap="square" lIns="0" tIns="0" rIns="0" bIns="0" rtlCol="0" anchor="ctr"/>
          <a:lstStyle/>
          <a:p>
            <a:pPr marL="0" indent="0" algn="r">
              <a:buNone/>
            </a:pPr>
            <a:r>
              <a:rPr lang="en-US" sz="1100" dirty="0">
                <a:solidFill>
                  <a:srgbClr val="56657B"/>
                </a:solidFill>
                <a:latin typeface="Segoe UI" pitchFamily="34" charset="0"/>
                <a:ea typeface="Segoe UI" pitchFamily="34" charset="-122"/>
                <a:cs typeface="Segoe UI" pitchFamily="34" charset="-120"/>
              </a:rPr>
              <a:t>0-40 minutes</a:t>
            </a:r>
            <a:endParaRPr lang="en-US" sz="1100" dirty="0"/>
          </a:p>
        </p:txBody>
      </p:sp>
      <p:sp>
        <p:nvSpPr>
          <p:cNvPr id="5" name="Text 3"/>
          <p:cNvSpPr/>
          <p:nvPr/>
        </p:nvSpPr>
        <p:spPr>
          <a:xfrm>
            <a:off x="548640" y="877824"/>
            <a:ext cx="11064240" cy="621792"/>
          </a:xfrm>
          <a:prstGeom prst="rect">
            <a:avLst/>
          </a:prstGeom>
          <a:noFill/>
          <a:ln/>
        </p:spPr>
        <p:txBody>
          <a:bodyPr wrap="square" lIns="0" tIns="0" rIns="0" bIns="0" rtlCol="0" anchor="ctr"/>
          <a:lstStyle/>
          <a:p>
            <a:pPr marL="0" indent="0">
              <a:buNone/>
            </a:pPr>
            <a:r>
              <a:rPr lang="en-US" sz="3200" b="1" dirty="0">
                <a:solidFill>
                  <a:srgbClr val="17233C"/>
                </a:solidFill>
                <a:latin typeface="Segoe UI" pitchFamily="34" charset="0"/>
                <a:ea typeface="Segoe UI" pitchFamily="34" charset="-122"/>
                <a:cs typeface="Segoe UI" pitchFamily="34" charset="-120"/>
              </a:rPr>
              <a:t>From conversation to a stronger model</a:t>
            </a:r>
            <a:endParaRPr lang="en-US" sz="3200" dirty="0"/>
          </a:p>
        </p:txBody>
      </p:sp>
      <p:sp>
        <p:nvSpPr>
          <p:cNvPr id="6" name="Text 4"/>
          <p:cNvSpPr/>
          <p:nvPr/>
        </p:nvSpPr>
        <p:spPr>
          <a:xfrm>
            <a:off x="566928" y="1581912"/>
            <a:ext cx="10927080" cy="502920"/>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Four chapters. One repeatable improvement loop.</a:t>
            </a:r>
            <a:endParaRPr lang="en-US" sz="1500" dirty="0"/>
          </a:p>
        </p:txBody>
      </p:sp>
      <p:sp>
        <p:nvSpPr>
          <p:cNvPr id="7" name="Text 5"/>
          <p:cNvSpPr/>
          <p:nvPr/>
        </p:nvSpPr>
        <p:spPr>
          <a:xfrm>
            <a:off x="548640" y="6483096"/>
            <a:ext cx="4572000" cy="182880"/>
          </a:xfrm>
          <a:prstGeom prst="rect">
            <a:avLst/>
          </a:prstGeom>
          <a:noFill/>
          <a:ln/>
        </p:spPr>
        <p:txBody>
          <a:bodyPr wrap="square" lIns="0" tIns="0" rIns="0" bIns="0" rtlCol="0" anchor="ctr"/>
          <a:lstStyle/>
          <a:p>
            <a:pPr marL="0" indent="0">
              <a:buNone/>
            </a:pPr>
            <a:r>
              <a:rPr lang="en-US" sz="900" b="1" dirty="0">
                <a:solidFill>
                  <a:srgbClr val="56657B"/>
                </a:solidFill>
                <a:latin typeface="Segoe UI" pitchFamily="34" charset="0"/>
                <a:ea typeface="Segoe UI" pitchFamily="34" charset="-122"/>
                <a:cs typeface="Segoe UI" pitchFamily="34" charset="-120"/>
              </a:rPr>
              <a:t>TALK TO YOUR INSURANCE DATA</a:t>
            </a:r>
            <a:endParaRPr lang="en-US" sz="900" dirty="0"/>
          </a:p>
        </p:txBody>
      </p:sp>
      <p:sp>
        <p:nvSpPr>
          <p:cNvPr id="8" name="Text 6"/>
          <p:cNvSpPr/>
          <p:nvPr/>
        </p:nvSpPr>
        <p:spPr>
          <a:xfrm>
            <a:off x="11082528" y="6437376"/>
            <a:ext cx="548640" cy="228600"/>
          </a:xfrm>
          <a:prstGeom prst="rect">
            <a:avLst/>
          </a:prstGeom>
          <a:noFill/>
          <a:ln/>
        </p:spPr>
        <p:txBody>
          <a:bodyPr wrap="square" lIns="0" tIns="0" rIns="0" bIns="0" rtlCol="0" anchor="ctr"/>
          <a:lstStyle/>
          <a:p>
            <a:pPr marL="0" indent="0" algn="r">
              <a:buNone/>
            </a:pPr>
            <a:r>
              <a:rPr lang="en-US" sz="1000" b="1" dirty="0">
                <a:solidFill>
                  <a:srgbClr val="7655D6"/>
                </a:solidFill>
                <a:latin typeface="Segoe UI" pitchFamily="34" charset="0"/>
                <a:ea typeface="Segoe UI" pitchFamily="34" charset="-122"/>
                <a:cs typeface="Segoe UI" pitchFamily="34" charset="-120"/>
              </a:rPr>
              <a:t>02</a:t>
            </a:r>
            <a:endParaRPr lang="en-US" sz="1000" dirty="0"/>
          </a:p>
        </p:txBody>
      </p:sp>
      <p:sp>
        <p:nvSpPr>
          <p:cNvPr id="9" name="Shape 7"/>
          <p:cNvSpPr/>
          <p:nvPr/>
        </p:nvSpPr>
        <p:spPr>
          <a:xfrm>
            <a:off x="548640" y="2286000"/>
            <a:ext cx="11064240" cy="722376"/>
          </a:xfrm>
          <a:prstGeom prst="roundRect">
            <a:avLst>
              <a:gd name="adj" fmla="val 20253"/>
            </a:avLst>
          </a:prstGeom>
          <a:solidFill>
            <a:srgbClr val="EDF3FF"/>
          </a:solidFill>
          <a:ln w="8890">
            <a:solidFill>
              <a:srgbClr val="EDF3FF"/>
            </a:solidFill>
            <a:prstDash val="solid"/>
          </a:ln>
        </p:spPr>
        <p:txBody>
          <a:bodyPr/>
          <a:lstStyle/>
          <a:p>
            <a:endParaRPr lang="en-US"/>
          </a:p>
        </p:txBody>
      </p:sp>
      <p:sp>
        <p:nvSpPr>
          <p:cNvPr id="10" name="Shape 8"/>
          <p:cNvSpPr/>
          <p:nvPr/>
        </p:nvSpPr>
        <p:spPr>
          <a:xfrm>
            <a:off x="758952" y="2432304"/>
            <a:ext cx="420624" cy="420624"/>
          </a:xfrm>
          <a:prstGeom prst="ellipse">
            <a:avLst/>
          </a:prstGeom>
          <a:solidFill>
            <a:srgbClr val="2563EB"/>
          </a:solidFill>
          <a:ln w="12700">
            <a:solidFill>
              <a:srgbClr val="2563EB"/>
            </a:solidFill>
            <a:prstDash val="solid"/>
          </a:ln>
        </p:spPr>
        <p:txBody>
          <a:bodyPr/>
          <a:lstStyle/>
          <a:p>
            <a:endParaRPr lang="en-US"/>
          </a:p>
        </p:txBody>
      </p:sp>
      <p:sp>
        <p:nvSpPr>
          <p:cNvPr id="11" name="Text 9"/>
          <p:cNvSpPr/>
          <p:nvPr/>
        </p:nvSpPr>
        <p:spPr>
          <a:xfrm>
            <a:off x="758952" y="243230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01</a:t>
            </a:r>
            <a:endParaRPr lang="en-US" sz="1300" dirty="0"/>
          </a:p>
        </p:txBody>
      </p:sp>
      <p:sp>
        <p:nvSpPr>
          <p:cNvPr id="12" name="Text 10"/>
          <p:cNvSpPr/>
          <p:nvPr/>
        </p:nvSpPr>
        <p:spPr>
          <a:xfrm>
            <a:off x="1417320" y="2423160"/>
            <a:ext cx="1298448" cy="438912"/>
          </a:xfrm>
          <a:prstGeom prst="rect">
            <a:avLst/>
          </a:prstGeom>
          <a:noFill/>
          <a:ln/>
        </p:spPr>
        <p:txBody>
          <a:bodyPr wrap="square" lIns="0" tIns="0" rIns="0" bIns="0" rtlCol="0" anchor="ctr"/>
          <a:lstStyle/>
          <a:p>
            <a:pPr marL="0" indent="0">
              <a:buNone/>
            </a:pPr>
            <a:r>
              <a:rPr lang="en-US" sz="1800" b="1" dirty="0">
                <a:solidFill>
                  <a:srgbClr val="2563EB"/>
                </a:solidFill>
                <a:latin typeface="Segoe UI" pitchFamily="34" charset="0"/>
                <a:ea typeface="Segoe UI" pitchFamily="34" charset="-122"/>
                <a:cs typeface="Segoe UI" pitchFamily="34" charset="-120"/>
              </a:rPr>
              <a:t>0-10 min</a:t>
            </a:r>
            <a:endParaRPr lang="en-US" sz="1800" dirty="0"/>
          </a:p>
        </p:txBody>
      </p:sp>
      <p:sp>
        <p:nvSpPr>
          <p:cNvPr id="13" name="Text 11"/>
          <p:cNvSpPr/>
          <p:nvPr/>
        </p:nvSpPr>
        <p:spPr>
          <a:xfrm>
            <a:off x="2852928" y="2377440"/>
            <a:ext cx="3858768" cy="265176"/>
          </a:xfrm>
          <a:prstGeom prst="rect">
            <a:avLst/>
          </a:prstGeom>
          <a:noFill/>
          <a:ln/>
        </p:spPr>
        <p:txBody>
          <a:bodyPr wrap="square" lIns="0" tIns="0" rIns="0" bIns="0" rtlCol="0" anchor="ctr"/>
          <a:lstStyle/>
          <a:p>
            <a:pPr marL="0" indent="0">
              <a:buNone/>
            </a:pPr>
            <a:r>
              <a:rPr lang="en-US" sz="1900" b="1" dirty="0">
                <a:solidFill>
                  <a:srgbClr val="17233C"/>
                </a:solidFill>
                <a:latin typeface="Segoe UI" pitchFamily="34" charset="0"/>
                <a:ea typeface="Segoe UI" pitchFamily="34" charset="-122"/>
                <a:cs typeface="Segoe UI" pitchFamily="34" charset="-120"/>
              </a:rPr>
              <a:t>Compare the experiences</a:t>
            </a:r>
            <a:endParaRPr lang="en-US" sz="1900" dirty="0"/>
          </a:p>
        </p:txBody>
      </p:sp>
      <p:sp>
        <p:nvSpPr>
          <p:cNvPr id="14" name="Text 12"/>
          <p:cNvSpPr/>
          <p:nvPr/>
        </p:nvSpPr>
        <p:spPr>
          <a:xfrm>
            <a:off x="2852928" y="2670048"/>
            <a:ext cx="8183880" cy="237744"/>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Reports, Power BI service, and Microsoft 365 Copilot</a:t>
            </a:r>
            <a:endParaRPr lang="en-US" sz="1500" dirty="0"/>
          </a:p>
        </p:txBody>
      </p:sp>
      <p:sp>
        <p:nvSpPr>
          <p:cNvPr id="15" name="Shape 13"/>
          <p:cNvSpPr/>
          <p:nvPr/>
        </p:nvSpPr>
        <p:spPr>
          <a:xfrm>
            <a:off x="548640" y="3145536"/>
            <a:ext cx="11064240" cy="722376"/>
          </a:xfrm>
          <a:prstGeom prst="roundRect">
            <a:avLst>
              <a:gd name="adj" fmla="val 20253"/>
            </a:avLst>
          </a:prstGeom>
          <a:solidFill>
            <a:srgbClr val="F3EFFE"/>
          </a:solidFill>
          <a:ln w="8890">
            <a:solidFill>
              <a:srgbClr val="F3EFFE"/>
            </a:solidFill>
            <a:prstDash val="solid"/>
          </a:ln>
        </p:spPr>
        <p:txBody>
          <a:bodyPr/>
          <a:lstStyle/>
          <a:p>
            <a:endParaRPr lang="en-US"/>
          </a:p>
        </p:txBody>
      </p:sp>
      <p:sp>
        <p:nvSpPr>
          <p:cNvPr id="16" name="Shape 14"/>
          <p:cNvSpPr/>
          <p:nvPr/>
        </p:nvSpPr>
        <p:spPr>
          <a:xfrm>
            <a:off x="758952" y="3291840"/>
            <a:ext cx="420624" cy="420624"/>
          </a:xfrm>
          <a:prstGeom prst="ellipse">
            <a:avLst/>
          </a:prstGeom>
          <a:solidFill>
            <a:srgbClr val="7655D6"/>
          </a:solidFill>
          <a:ln w="12700">
            <a:solidFill>
              <a:srgbClr val="7655D6"/>
            </a:solidFill>
            <a:prstDash val="solid"/>
          </a:ln>
        </p:spPr>
        <p:txBody>
          <a:bodyPr/>
          <a:lstStyle/>
          <a:p>
            <a:endParaRPr lang="en-US"/>
          </a:p>
        </p:txBody>
      </p:sp>
      <p:sp>
        <p:nvSpPr>
          <p:cNvPr id="17" name="Text 15"/>
          <p:cNvSpPr/>
          <p:nvPr/>
        </p:nvSpPr>
        <p:spPr>
          <a:xfrm>
            <a:off x="758952" y="32918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02</a:t>
            </a:r>
            <a:endParaRPr lang="en-US" sz="1300" dirty="0"/>
          </a:p>
        </p:txBody>
      </p:sp>
      <p:sp>
        <p:nvSpPr>
          <p:cNvPr id="18" name="Text 16"/>
          <p:cNvSpPr/>
          <p:nvPr/>
        </p:nvSpPr>
        <p:spPr>
          <a:xfrm>
            <a:off x="1417320" y="3282696"/>
            <a:ext cx="1298448" cy="438912"/>
          </a:xfrm>
          <a:prstGeom prst="rect">
            <a:avLst/>
          </a:prstGeom>
          <a:noFill/>
          <a:ln/>
        </p:spPr>
        <p:txBody>
          <a:bodyPr wrap="square" lIns="0" tIns="0" rIns="0" bIns="0" rtlCol="0" anchor="ctr"/>
          <a:lstStyle/>
          <a:p>
            <a:pPr marL="0" indent="0">
              <a:buNone/>
            </a:pPr>
            <a:r>
              <a:rPr lang="en-US" sz="1800" b="1" dirty="0">
                <a:solidFill>
                  <a:srgbClr val="7655D6"/>
                </a:solidFill>
                <a:latin typeface="Segoe UI" pitchFamily="34" charset="0"/>
                <a:ea typeface="Segoe UI" pitchFamily="34" charset="-122"/>
                <a:cs typeface="Segoe UI" pitchFamily="34" charset="-120"/>
              </a:rPr>
              <a:t>10-25 min</a:t>
            </a:r>
            <a:endParaRPr lang="en-US" sz="1800" dirty="0"/>
          </a:p>
        </p:txBody>
      </p:sp>
      <p:sp>
        <p:nvSpPr>
          <p:cNvPr id="19" name="Text 17"/>
          <p:cNvSpPr/>
          <p:nvPr/>
        </p:nvSpPr>
        <p:spPr>
          <a:xfrm>
            <a:off x="2852928" y="3236976"/>
            <a:ext cx="3858768" cy="265176"/>
          </a:xfrm>
          <a:prstGeom prst="rect">
            <a:avLst/>
          </a:prstGeom>
          <a:noFill/>
          <a:ln/>
        </p:spPr>
        <p:txBody>
          <a:bodyPr wrap="square" lIns="0" tIns="0" rIns="0" bIns="0" rtlCol="0" anchor="ctr"/>
          <a:lstStyle/>
          <a:p>
            <a:pPr marL="0" indent="0">
              <a:buNone/>
            </a:pPr>
            <a:r>
              <a:rPr lang="en-US" sz="1900" b="1" dirty="0">
                <a:solidFill>
                  <a:srgbClr val="17233C"/>
                </a:solidFill>
                <a:latin typeface="Segoe UI" pitchFamily="34" charset="0"/>
                <a:ea typeface="Segoe UI" pitchFamily="34" charset="-122"/>
                <a:cs typeface="Segoe UI" pitchFamily="34" charset="-120"/>
              </a:rPr>
              <a:t>Assess AI readiness</a:t>
            </a:r>
            <a:endParaRPr lang="en-US" sz="1900" dirty="0"/>
          </a:p>
        </p:txBody>
      </p:sp>
      <p:sp>
        <p:nvSpPr>
          <p:cNvPr id="20" name="Text 18"/>
          <p:cNvSpPr/>
          <p:nvPr/>
        </p:nvSpPr>
        <p:spPr>
          <a:xfrm>
            <a:off x="2852928" y="3529584"/>
            <a:ext cx="8183880" cy="237744"/>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What drives accuracy + an agent-created scorecard</a:t>
            </a:r>
            <a:endParaRPr lang="en-US" sz="1500" dirty="0"/>
          </a:p>
        </p:txBody>
      </p:sp>
      <p:sp>
        <p:nvSpPr>
          <p:cNvPr id="21" name="Shape 19"/>
          <p:cNvSpPr/>
          <p:nvPr/>
        </p:nvSpPr>
        <p:spPr>
          <a:xfrm>
            <a:off x="548640" y="4005072"/>
            <a:ext cx="11064240" cy="722376"/>
          </a:xfrm>
          <a:prstGeom prst="roundRect">
            <a:avLst>
              <a:gd name="adj" fmla="val 20253"/>
            </a:avLst>
          </a:prstGeom>
          <a:solidFill>
            <a:srgbClr val="EDF8F5"/>
          </a:solidFill>
          <a:ln w="8890">
            <a:solidFill>
              <a:srgbClr val="EDF8F5"/>
            </a:solidFill>
            <a:prstDash val="solid"/>
          </a:ln>
        </p:spPr>
        <p:txBody>
          <a:bodyPr/>
          <a:lstStyle/>
          <a:p>
            <a:endParaRPr lang="en-US"/>
          </a:p>
        </p:txBody>
      </p:sp>
      <p:sp>
        <p:nvSpPr>
          <p:cNvPr id="22" name="Shape 20"/>
          <p:cNvSpPr/>
          <p:nvPr/>
        </p:nvSpPr>
        <p:spPr>
          <a:xfrm>
            <a:off x="758952" y="4151376"/>
            <a:ext cx="420624" cy="420624"/>
          </a:xfrm>
          <a:prstGeom prst="ellipse">
            <a:avLst/>
          </a:prstGeom>
          <a:solidFill>
            <a:srgbClr val="138477"/>
          </a:solidFill>
          <a:ln w="12700">
            <a:solidFill>
              <a:srgbClr val="138477"/>
            </a:solidFill>
            <a:prstDash val="solid"/>
          </a:ln>
        </p:spPr>
        <p:txBody>
          <a:bodyPr/>
          <a:lstStyle/>
          <a:p>
            <a:endParaRPr lang="en-US"/>
          </a:p>
        </p:txBody>
      </p:sp>
      <p:sp>
        <p:nvSpPr>
          <p:cNvPr id="23" name="Text 21"/>
          <p:cNvSpPr/>
          <p:nvPr/>
        </p:nvSpPr>
        <p:spPr>
          <a:xfrm>
            <a:off x="758952" y="415137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03</a:t>
            </a:r>
            <a:endParaRPr lang="en-US" sz="1300" dirty="0"/>
          </a:p>
        </p:txBody>
      </p:sp>
      <p:sp>
        <p:nvSpPr>
          <p:cNvPr id="24" name="Text 22"/>
          <p:cNvSpPr/>
          <p:nvPr/>
        </p:nvSpPr>
        <p:spPr>
          <a:xfrm>
            <a:off x="1417320" y="4142232"/>
            <a:ext cx="1298448" cy="438912"/>
          </a:xfrm>
          <a:prstGeom prst="rect">
            <a:avLst/>
          </a:prstGeom>
          <a:noFill/>
          <a:ln/>
        </p:spPr>
        <p:txBody>
          <a:bodyPr wrap="square" lIns="0" tIns="0" rIns="0" bIns="0" rtlCol="0" anchor="ctr"/>
          <a:lstStyle/>
          <a:p>
            <a:pPr marL="0" indent="0">
              <a:buNone/>
            </a:pPr>
            <a:r>
              <a:rPr lang="en-US" sz="1800" b="1" dirty="0">
                <a:solidFill>
                  <a:srgbClr val="138477"/>
                </a:solidFill>
                <a:latin typeface="Segoe UI" pitchFamily="34" charset="0"/>
                <a:ea typeface="Segoe UI" pitchFamily="34" charset="-122"/>
                <a:cs typeface="Segoe UI" pitchFamily="34" charset="-120"/>
              </a:rPr>
              <a:t>25-30 min</a:t>
            </a:r>
            <a:endParaRPr lang="en-US" sz="1800" dirty="0"/>
          </a:p>
        </p:txBody>
      </p:sp>
      <p:sp>
        <p:nvSpPr>
          <p:cNvPr id="25" name="Text 23"/>
          <p:cNvSpPr/>
          <p:nvPr/>
        </p:nvSpPr>
        <p:spPr>
          <a:xfrm>
            <a:off x="2852928" y="4096512"/>
            <a:ext cx="3858768" cy="265176"/>
          </a:xfrm>
          <a:prstGeom prst="rect">
            <a:avLst/>
          </a:prstGeom>
          <a:noFill/>
          <a:ln/>
        </p:spPr>
        <p:txBody>
          <a:bodyPr wrap="square" lIns="0" tIns="0" rIns="0" bIns="0" rtlCol="0" anchor="ctr"/>
          <a:lstStyle/>
          <a:p>
            <a:pPr marL="0" indent="0">
              <a:buNone/>
            </a:pPr>
            <a:r>
              <a:rPr lang="en-US" sz="1900" b="1" dirty="0">
                <a:solidFill>
                  <a:srgbClr val="17233C"/>
                </a:solidFill>
                <a:latin typeface="Segoe UI" pitchFamily="34" charset="0"/>
                <a:ea typeface="Segoe UI" pitchFamily="34" charset="-122"/>
                <a:cs typeface="Segoe UI" pitchFamily="34" charset="-120"/>
              </a:rPr>
              <a:t>Prioritize the findings</a:t>
            </a:r>
            <a:endParaRPr lang="en-US" sz="1900" dirty="0"/>
          </a:p>
        </p:txBody>
      </p:sp>
      <p:sp>
        <p:nvSpPr>
          <p:cNvPr id="26" name="Text 24"/>
          <p:cNvSpPr/>
          <p:nvPr/>
        </p:nvSpPr>
        <p:spPr>
          <a:xfrm>
            <a:off x="2852928" y="4389120"/>
            <a:ext cx="8183880" cy="237744"/>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Terminology, measures, and model context</a:t>
            </a:r>
            <a:endParaRPr lang="en-US" sz="1500" dirty="0"/>
          </a:p>
        </p:txBody>
      </p:sp>
      <p:sp>
        <p:nvSpPr>
          <p:cNvPr id="27" name="Shape 25"/>
          <p:cNvSpPr/>
          <p:nvPr/>
        </p:nvSpPr>
        <p:spPr>
          <a:xfrm>
            <a:off x="548640" y="4864608"/>
            <a:ext cx="11064240" cy="722376"/>
          </a:xfrm>
          <a:prstGeom prst="roundRect">
            <a:avLst>
              <a:gd name="adj" fmla="val 20253"/>
            </a:avLst>
          </a:prstGeom>
          <a:solidFill>
            <a:srgbClr val="EDF3FF"/>
          </a:solidFill>
          <a:ln w="8890">
            <a:solidFill>
              <a:srgbClr val="EDF3FF"/>
            </a:solidFill>
            <a:prstDash val="solid"/>
          </a:ln>
        </p:spPr>
        <p:txBody>
          <a:bodyPr/>
          <a:lstStyle/>
          <a:p>
            <a:endParaRPr lang="en-US"/>
          </a:p>
        </p:txBody>
      </p:sp>
      <p:sp>
        <p:nvSpPr>
          <p:cNvPr id="28" name="Shape 26"/>
          <p:cNvSpPr/>
          <p:nvPr/>
        </p:nvSpPr>
        <p:spPr>
          <a:xfrm>
            <a:off x="758952" y="5010912"/>
            <a:ext cx="420624" cy="420624"/>
          </a:xfrm>
          <a:prstGeom prst="ellipse">
            <a:avLst/>
          </a:prstGeom>
          <a:solidFill>
            <a:srgbClr val="2563EB"/>
          </a:solidFill>
          <a:ln w="12700">
            <a:solidFill>
              <a:srgbClr val="2563EB"/>
            </a:solidFill>
            <a:prstDash val="solid"/>
          </a:ln>
        </p:spPr>
        <p:txBody>
          <a:bodyPr/>
          <a:lstStyle/>
          <a:p>
            <a:endParaRPr lang="en-US"/>
          </a:p>
        </p:txBody>
      </p:sp>
      <p:sp>
        <p:nvSpPr>
          <p:cNvPr id="29" name="Text 27"/>
          <p:cNvSpPr/>
          <p:nvPr/>
        </p:nvSpPr>
        <p:spPr>
          <a:xfrm>
            <a:off x="758952" y="501091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04</a:t>
            </a:r>
            <a:endParaRPr lang="en-US" sz="1300" dirty="0"/>
          </a:p>
        </p:txBody>
      </p:sp>
      <p:sp>
        <p:nvSpPr>
          <p:cNvPr id="30" name="Text 28"/>
          <p:cNvSpPr/>
          <p:nvPr/>
        </p:nvSpPr>
        <p:spPr>
          <a:xfrm>
            <a:off x="1417320" y="5001768"/>
            <a:ext cx="1298448" cy="438912"/>
          </a:xfrm>
          <a:prstGeom prst="rect">
            <a:avLst/>
          </a:prstGeom>
          <a:noFill/>
          <a:ln/>
        </p:spPr>
        <p:txBody>
          <a:bodyPr wrap="square" lIns="0" tIns="0" rIns="0" bIns="0" rtlCol="0" anchor="ctr"/>
          <a:lstStyle/>
          <a:p>
            <a:pPr marL="0" indent="0">
              <a:buNone/>
            </a:pPr>
            <a:r>
              <a:rPr lang="en-US" sz="1800" b="1" dirty="0">
                <a:solidFill>
                  <a:srgbClr val="2563EB"/>
                </a:solidFill>
                <a:latin typeface="Segoe UI" pitchFamily="34" charset="0"/>
                <a:ea typeface="Segoe UI" pitchFamily="34" charset="-122"/>
                <a:cs typeface="Segoe UI" pitchFamily="34" charset="-120"/>
              </a:rPr>
              <a:t>30-40 min</a:t>
            </a:r>
            <a:endParaRPr lang="en-US" sz="1800" dirty="0"/>
          </a:p>
        </p:txBody>
      </p:sp>
      <p:sp>
        <p:nvSpPr>
          <p:cNvPr id="31" name="Text 29"/>
          <p:cNvSpPr/>
          <p:nvPr/>
        </p:nvSpPr>
        <p:spPr>
          <a:xfrm>
            <a:off x="2852928" y="4956048"/>
            <a:ext cx="3858768" cy="265176"/>
          </a:xfrm>
          <a:prstGeom prst="rect">
            <a:avLst/>
          </a:prstGeom>
          <a:noFill/>
          <a:ln/>
        </p:spPr>
        <p:txBody>
          <a:bodyPr wrap="square" lIns="0" tIns="0" rIns="0" bIns="0" rtlCol="0" anchor="ctr"/>
          <a:lstStyle/>
          <a:p>
            <a:pPr marL="0" indent="0">
              <a:buNone/>
            </a:pPr>
            <a:r>
              <a:rPr lang="en-US" sz="1900" b="1" dirty="0">
                <a:solidFill>
                  <a:srgbClr val="17233C"/>
                </a:solidFill>
                <a:latin typeface="Segoe UI" pitchFamily="34" charset="0"/>
                <a:ea typeface="Segoe UI" pitchFamily="34" charset="-122"/>
                <a:cs typeface="Segoe UI" pitchFamily="34" charset="-120"/>
              </a:rPr>
              <a:t>Improve and ask again</a:t>
            </a:r>
            <a:endParaRPr lang="en-US" sz="1900" dirty="0"/>
          </a:p>
        </p:txBody>
      </p:sp>
      <p:sp>
        <p:nvSpPr>
          <p:cNvPr id="32" name="Text 30"/>
          <p:cNvSpPr/>
          <p:nvPr/>
        </p:nvSpPr>
        <p:spPr>
          <a:xfrm>
            <a:off x="2852928" y="5248656"/>
            <a:ext cx="8183880" cy="237744"/>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Agent-assisted model updates + before/after comparison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5800" y="384048"/>
            <a:ext cx="10058400" cy="256032"/>
          </a:xfrm>
          <a:prstGeom prst="rect">
            <a:avLst/>
          </a:prstGeom>
          <a:noFill/>
          <a:ln/>
        </p:spPr>
        <p:txBody>
          <a:bodyPr wrap="square" lIns="0" tIns="0" rIns="0" bIns="0" rtlCol="0" anchor="ctr"/>
          <a:lstStyle/>
          <a:p>
            <a:pPr marL="0" indent="0">
              <a:buNone/>
            </a:pPr>
            <a:r>
              <a:rPr lang="en-US" sz="1100" b="1" kern="0" spc="220" dirty="0">
                <a:solidFill>
                  <a:srgbClr val="0078D4"/>
                </a:solidFill>
                <a:latin typeface="Segoe UI" pitchFamily="34" charset="0"/>
                <a:ea typeface="Segoe UI" pitchFamily="34" charset="-122"/>
                <a:cs typeface="Segoe UI" pitchFamily="34" charset="-120"/>
              </a:rPr>
              <a:t>MULTIPLE AUDIENCES, ONE FOUNDATION</a:t>
            </a:r>
            <a:endParaRPr lang="en-US" sz="1100" dirty="0"/>
          </a:p>
        </p:txBody>
      </p:sp>
      <p:sp>
        <p:nvSpPr>
          <p:cNvPr id="3" name="Text 1"/>
          <p:cNvSpPr/>
          <p:nvPr/>
        </p:nvSpPr>
        <p:spPr>
          <a:xfrm>
            <a:off x="685800" y="658368"/>
            <a:ext cx="10607040" cy="658368"/>
          </a:xfrm>
          <a:prstGeom prst="rect">
            <a:avLst/>
          </a:prstGeom>
          <a:noFill/>
          <a:ln/>
        </p:spPr>
        <p:txBody>
          <a:bodyPr wrap="square" lIns="0" tIns="0" rIns="0" bIns="0" rtlCol="0" anchor="t"/>
          <a:lstStyle/>
          <a:p>
            <a:pPr marL="0" indent="0">
              <a:buNone/>
            </a:pPr>
            <a:r>
              <a:rPr lang="en-US" sz="3000" b="1" dirty="0">
                <a:solidFill>
                  <a:srgbClr val="1B1B1F"/>
                </a:solidFill>
                <a:latin typeface="Segoe UI" pitchFamily="34" charset="0"/>
                <a:ea typeface="Segoe UI" pitchFamily="34" charset="-122"/>
                <a:cs typeface="Segoe UI" pitchFamily="34" charset="-120"/>
              </a:rPr>
              <a:t>Conversational AI Serves Both Builders and Business Users</a:t>
            </a:r>
            <a:endParaRPr lang="en-US" sz="3000" dirty="0"/>
          </a:p>
        </p:txBody>
      </p:sp>
      <p:sp>
        <p:nvSpPr>
          <p:cNvPr id="4" name="Shape 2"/>
          <p:cNvSpPr/>
          <p:nvPr/>
        </p:nvSpPr>
        <p:spPr>
          <a:xfrm>
            <a:off x="6080760" y="1481328"/>
            <a:ext cx="5440680" cy="1773936"/>
          </a:xfrm>
          <a:prstGeom prst="roundRect">
            <a:avLst>
              <a:gd name="adj" fmla="val 1523"/>
            </a:avLst>
          </a:prstGeom>
          <a:solidFill>
            <a:srgbClr val="FFFFFF"/>
          </a:solidFill>
          <a:ln w="9525">
            <a:solidFill>
              <a:srgbClr val="D8E2EE"/>
            </a:solidFill>
            <a:prstDash val="solid"/>
          </a:ln>
        </p:spPr>
        <p:txBody>
          <a:bodyPr/>
          <a:lstStyle/>
          <a:p>
            <a:endParaRPr lang="en-US"/>
          </a:p>
        </p:txBody>
      </p:sp>
      <p:sp>
        <p:nvSpPr>
          <p:cNvPr id="5" name="Shape 3"/>
          <p:cNvSpPr/>
          <p:nvPr/>
        </p:nvSpPr>
        <p:spPr>
          <a:xfrm>
            <a:off x="6080760" y="1481328"/>
            <a:ext cx="5440680" cy="82296"/>
          </a:xfrm>
          <a:prstGeom prst="rect">
            <a:avLst/>
          </a:prstGeom>
          <a:solidFill>
            <a:srgbClr val="0078D4"/>
          </a:solidFill>
          <a:ln w="12700">
            <a:solidFill>
              <a:srgbClr val="0078D4"/>
            </a:solidFill>
            <a:prstDash val="solid"/>
          </a:ln>
        </p:spPr>
        <p:txBody>
          <a:bodyPr/>
          <a:lstStyle/>
          <a:p>
            <a:endParaRPr lang="en-US"/>
          </a:p>
        </p:txBody>
      </p:sp>
      <p:sp>
        <p:nvSpPr>
          <p:cNvPr id="6" name="Text 4"/>
          <p:cNvSpPr/>
          <p:nvPr/>
        </p:nvSpPr>
        <p:spPr>
          <a:xfrm>
            <a:off x="6355080" y="1627632"/>
            <a:ext cx="3108960" cy="256032"/>
          </a:xfrm>
          <a:prstGeom prst="rect">
            <a:avLst/>
          </a:prstGeom>
          <a:noFill/>
          <a:ln/>
        </p:spPr>
        <p:txBody>
          <a:bodyPr wrap="square" lIns="0" tIns="0" rIns="0" bIns="0" rtlCol="0" anchor="ctr"/>
          <a:lstStyle/>
          <a:p>
            <a:pPr marL="0" indent="0">
              <a:buNone/>
            </a:pPr>
            <a:r>
              <a:rPr lang="en-US" sz="1000" b="1" kern="0" spc="160" dirty="0">
                <a:solidFill>
                  <a:srgbClr val="0078D4"/>
                </a:solidFill>
                <a:latin typeface="Segoe UI" pitchFamily="34" charset="0"/>
                <a:ea typeface="Segoe UI" pitchFamily="34" charset="-122"/>
                <a:cs typeface="Segoe UI" pitchFamily="34" charset="-120"/>
              </a:rPr>
              <a:t>BUILD AND DEVELOP</a:t>
            </a:r>
            <a:endParaRPr lang="en-US" sz="1000" dirty="0"/>
          </a:p>
        </p:txBody>
      </p:sp>
      <p:pic>
        <p:nvPicPr>
          <p:cNvPr id="7" name="Image 0" descr="C:\Users\amolmanocha\OneDrive - Microsoft\Documents\Microsoft Scout\deck-assets\notebook_64_item.png"/>
          <p:cNvPicPr>
            <a:picLocks noChangeAspect="1"/>
          </p:cNvPicPr>
          <p:nvPr/>
        </p:nvPicPr>
        <p:blipFill>
          <a:blip r:embed="rId3"/>
          <a:stretch>
            <a:fillRect/>
          </a:stretch>
        </p:blipFill>
        <p:spPr>
          <a:xfrm>
            <a:off x="11201400" y="1591056"/>
            <a:ext cx="292608" cy="292608"/>
          </a:xfrm>
          <a:prstGeom prst="rect">
            <a:avLst/>
          </a:prstGeom>
        </p:spPr>
      </p:pic>
      <p:pic>
        <p:nvPicPr>
          <p:cNvPr id="8" name="Image 1" descr="C:\Users\amolmanocha\OneDrive - Microsoft\Documents\Microsoft Scout\deck-assets\semantic_model_64_item.png"/>
          <p:cNvPicPr>
            <a:picLocks noChangeAspect="1"/>
          </p:cNvPicPr>
          <p:nvPr/>
        </p:nvPicPr>
        <p:blipFill>
          <a:blip r:embed="rId4"/>
          <a:stretch>
            <a:fillRect/>
          </a:stretch>
        </p:blipFill>
        <p:spPr>
          <a:xfrm>
            <a:off x="10789920" y="1591056"/>
            <a:ext cx="292608" cy="292608"/>
          </a:xfrm>
          <a:prstGeom prst="rect">
            <a:avLst/>
          </a:prstGeom>
        </p:spPr>
      </p:pic>
      <p:pic>
        <p:nvPicPr>
          <p:cNvPr id="9" name="Image 2" descr="C:\Users\amolmanocha\OneDrive - Microsoft\Documents\Microsoft Scout\deck-assets\dataflow_gen2_64_item.png"/>
          <p:cNvPicPr>
            <a:picLocks noChangeAspect="1"/>
          </p:cNvPicPr>
          <p:nvPr/>
        </p:nvPicPr>
        <p:blipFill>
          <a:blip r:embed="rId5"/>
          <a:stretch>
            <a:fillRect/>
          </a:stretch>
        </p:blipFill>
        <p:spPr>
          <a:xfrm>
            <a:off x="10378440" y="1591056"/>
            <a:ext cx="292608" cy="292608"/>
          </a:xfrm>
          <a:prstGeom prst="rect">
            <a:avLst/>
          </a:prstGeom>
        </p:spPr>
      </p:pic>
      <p:sp>
        <p:nvSpPr>
          <p:cNvPr id="10" name="Text 5"/>
          <p:cNvSpPr/>
          <p:nvPr/>
        </p:nvSpPr>
        <p:spPr>
          <a:xfrm>
            <a:off x="6355080" y="1883664"/>
            <a:ext cx="4846320" cy="274320"/>
          </a:xfrm>
          <a:prstGeom prst="rect">
            <a:avLst/>
          </a:prstGeom>
          <a:noFill/>
          <a:ln/>
        </p:spPr>
        <p:txBody>
          <a:bodyPr wrap="square" lIns="0" tIns="0" rIns="0" bIns="0" rtlCol="0" anchor="ctr"/>
          <a:lstStyle/>
          <a:p>
            <a:pPr marL="0" indent="0">
              <a:buNone/>
            </a:pPr>
            <a:r>
              <a:rPr lang="en-US" sz="900" dirty="0">
                <a:solidFill>
                  <a:srgbClr val="5B6875"/>
                </a:solidFill>
                <a:latin typeface="Segoe UI" pitchFamily="34" charset="0"/>
                <a:ea typeface="Segoe UI" pitchFamily="34" charset="-122"/>
                <a:cs typeface="Segoe UI" pitchFamily="34" charset="-120"/>
              </a:rPr>
              <a:t>Enterprise Developers ·  Self-service users  ·  Analysts  ·  Admins</a:t>
            </a:r>
            <a:endParaRPr lang="en-US" sz="900" dirty="0"/>
          </a:p>
        </p:txBody>
      </p:sp>
      <p:sp>
        <p:nvSpPr>
          <p:cNvPr id="11" name="Shape 6"/>
          <p:cNvSpPr/>
          <p:nvPr/>
        </p:nvSpPr>
        <p:spPr>
          <a:xfrm>
            <a:off x="6373368" y="2249424"/>
            <a:ext cx="128016" cy="128016"/>
          </a:xfrm>
          <a:prstGeom prst="ellipse">
            <a:avLst/>
          </a:prstGeom>
          <a:solidFill>
            <a:srgbClr val="0078D4"/>
          </a:solidFill>
          <a:ln w="12700">
            <a:solidFill>
              <a:srgbClr val="0078D4"/>
            </a:solidFill>
            <a:prstDash val="solid"/>
          </a:ln>
        </p:spPr>
        <p:txBody>
          <a:bodyPr/>
          <a:lstStyle/>
          <a:p>
            <a:endParaRPr lang="en-US"/>
          </a:p>
        </p:txBody>
      </p:sp>
      <p:sp>
        <p:nvSpPr>
          <p:cNvPr id="12" name="Text 7"/>
          <p:cNvSpPr/>
          <p:nvPr/>
        </p:nvSpPr>
        <p:spPr>
          <a:xfrm>
            <a:off x="6647688" y="2176272"/>
            <a:ext cx="4206240" cy="256032"/>
          </a:xfrm>
          <a:prstGeom prst="rect">
            <a:avLst/>
          </a:prstGeom>
          <a:noFill/>
          <a:ln/>
        </p:spPr>
        <p:txBody>
          <a:bodyPr wrap="square" lIns="0" tIns="0" rIns="0" bIns="0" rtlCol="0" anchor="ctr"/>
          <a:lstStyle/>
          <a:p>
            <a:pPr marL="0" indent="0">
              <a:buNone/>
            </a:pPr>
            <a:r>
              <a:rPr lang="en-US" sz="1150" dirty="0">
                <a:solidFill>
                  <a:srgbClr val="1B1B1F"/>
                </a:solidFill>
                <a:latin typeface="Segoe UI" pitchFamily="34" charset="0"/>
                <a:ea typeface="Segoe UI" pitchFamily="34" charset="-122"/>
                <a:cs typeface="Segoe UI" pitchFamily="34" charset="-120"/>
              </a:rPr>
              <a:t>Create and improve semantic models</a:t>
            </a:r>
            <a:endParaRPr lang="en-US" sz="1150" dirty="0"/>
          </a:p>
        </p:txBody>
      </p:sp>
      <p:sp>
        <p:nvSpPr>
          <p:cNvPr id="15" name="Shape 10"/>
          <p:cNvSpPr/>
          <p:nvPr/>
        </p:nvSpPr>
        <p:spPr>
          <a:xfrm>
            <a:off x="6373368" y="2487168"/>
            <a:ext cx="128016" cy="128016"/>
          </a:xfrm>
          <a:prstGeom prst="ellipse">
            <a:avLst/>
          </a:prstGeom>
          <a:solidFill>
            <a:srgbClr val="0078D4"/>
          </a:solidFill>
          <a:ln w="12700">
            <a:solidFill>
              <a:srgbClr val="0078D4"/>
            </a:solidFill>
            <a:prstDash val="solid"/>
          </a:ln>
        </p:spPr>
        <p:txBody>
          <a:bodyPr/>
          <a:lstStyle/>
          <a:p>
            <a:endParaRPr lang="en-US"/>
          </a:p>
        </p:txBody>
      </p:sp>
      <p:sp>
        <p:nvSpPr>
          <p:cNvPr id="16" name="Text 11"/>
          <p:cNvSpPr/>
          <p:nvPr/>
        </p:nvSpPr>
        <p:spPr>
          <a:xfrm>
            <a:off x="6647688" y="2414016"/>
            <a:ext cx="4206240" cy="256032"/>
          </a:xfrm>
          <a:prstGeom prst="rect">
            <a:avLst/>
          </a:prstGeom>
          <a:noFill/>
          <a:ln/>
        </p:spPr>
        <p:txBody>
          <a:bodyPr wrap="square" lIns="0" tIns="0" rIns="0" bIns="0" rtlCol="0" anchor="ctr"/>
          <a:lstStyle/>
          <a:p>
            <a:pPr marL="0" indent="0">
              <a:buNone/>
            </a:pPr>
            <a:r>
              <a:rPr lang="en-US" sz="1150" dirty="0">
                <a:solidFill>
                  <a:srgbClr val="1B1B1F"/>
                </a:solidFill>
                <a:latin typeface="Segoe UI" pitchFamily="34" charset="0"/>
                <a:ea typeface="Segoe UI" pitchFamily="34" charset="-122"/>
                <a:cs typeface="Segoe UI" pitchFamily="34" charset="-120"/>
              </a:rPr>
              <a:t>Generate, explain and fix DAX or queries</a:t>
            </a:r>
            <a:endParaRPr lang="en-US" sz="1150" dirty="0"/>
          </a:p>
        </p:txBody>
      </p:sp>
      <p:sp>
        <p:nvSpPr>
          <p:cNvPr id="17" name="Shape 12"/>
          <p:cNvSpPr/>
          <p:nvPr/>
        </p:nvSpPr>
        <p:spPr>
          <a:xfrm>
            <a:off x="6373368" y="2724912"/>
            <a:ext cx="128016" cy="128016"/>
          </a:xfrm>
          <a:prstGeom prst="ellipse">
            <a:avLst/>
          </a:prstGeom>
          <a:solidFill>
            <a:srgbClr val="0078D4"/>
          </a:solidFill>
          <a:ln w="12700">
            <a:solidFill>
              <a:srgbClr val="0078D4"/>
            </a:solidFill>
            <a:prstDash val="solid"/>
          </a:ln>
        </p:spPr>
        <p:txBody>
          <a:bodyPr/>
          <a:lstStyle/>
          <a:p>
            <a:endParaRPr lang="en-US"/>
          </a:p>
        </p:txBody>
      </p:sp>
      <p:sp>
        <p:nvSpPr>
          <p:cNvPr id="18" name="Text 13"/>
          <p:cNvSpPr/>
          <p:nvPr/>
        </p:nvSpPr>
        <p:spPr>
          <a:xfrm>
            <a:off x="6647688" y="2651760"/>
            <a:ext cx="4206240" cy="256032"/>
          </a:xfrm>
          <a:prstGeom prst="rect">
            <a:avLst/>
          </a:prstGeom>
          <a:noFill/>
          <a:ln/>
        </p:spPr>
        <p:txBody>
          <a:bodyPr wrap="square" lIns="0" tIns="0" rIns="0" bIns="0" rtlCol="0" anchor="ctr"/>
          <a:lstStyle/>
          <a:p>
            <a:pPr marL="0" indent="0">
              <a:buNone/>
            </a:pPr>
            <a:r>
              <a:rPr lang="en-US" sz="1150" dirty="0">
                <a:solidFill>
                  <a:srgbClr val="1B1B1F"/>
                </a:solidFill>
                <a:latin typeface="Segoe UI" pitchFamily="34" charset="0"/>
                <a:ea typeface="Segoe UI" pitchFamily="34" charset="-122"/>
                <a:cs typeface="Segoe UI" pitchFamily="34" charset="-120"/>
              </a:rPr>
              <a:t>Build reports and </a:t>
            </a:r>
            <a:r>
              <a:rPr lang="en-US" sz="1150">
                <a:solidFill>
                  <a:srgbClr val="1B1B1F"/>
                </a:solidFill>
                <a:latin typeface="Segoe UI" pitchFamily="34" charset="0"/>
                <a:ea typeface="Segoe UI" pitchFamily="34" charset="-122"/>
                <a:cs typeface="Segoe UI" pitchFamily="34" charset="-120"/>
              </a:rPr>
              <a:t>tune agent grounding</a:t>
            </a:r>
            <a:endParaRPr lang="en-US" sz="1150" dirty="0"/>
          </a:p>
        </p:txBody>
      </p:sp>
      <p:sp>
        <p:nvSpPr>
          <p:cNvPr id="21" name="Shape 16"/>
          <p:cNvSpPr/>
          <p:nvPr/>
        </p:nvSpPr>
        <p:spPr>
          <a:xfrm>
            <a:off x="6355080" y="2889504"/>
            <a:ext cx="4892040" cy="329184"/>
          </a:xfrm>
          <a:prstGeom prst="roundRect">
            <a:avLst>
              <a:gd name="adj" fmla="val 12000"/>
            </a:avLst>
          </a:prstGeom>
          <a:solidFill>
            <a:srgbClr val="E7F0FA"/>
          </a:solidFill>
          <a:ln w="12700">
            <a:solidFill>
              <a:srgbClr val="E7F0FA"/>
            </a:solidFill>
            <a:prstDash val="solid"/>
          </a:ln>
        </p:spPr>
        <p:txBody>
          <a:bodyPr/>
          <a:lstStyle/>
          <a:p>
            <a:endParaRPr lang="en-US"/>
          </a:p>
        </p:txBody>
      </p:sp>
      <p:sp>
        <p:nvSpPr>
          <p:cNvPr id="22" name="Text 17"/>
          <p:cNvSpPr/>
          <p:nvPr/>
        </p:nvSpPr>
        <p:spPr>
          <a:xfrm>
            <a:off x="6501384" y="2889504"/>
            <a:ext cx="4617720" cy="329184"/>
          </a:xfrm>
          <a:prstGeom prst="rect">
            <a:avLst/>
          </a:prstGeom>
          <a:noFill/>
          <a:ln/>
        </p:spPr>
        <p:txBody>
          <a:bodyPr wrap="square" lIns="0" tIns="0" rIns="0" bIns="0" rtlCol="0" anchor="ctr"/>
          <a:lstStyle/>
          <a:p>
            <a:pPr marL="0" indent="0">
              <a:buNone/>
            </a:pPr>
            <a:r>
              <a:rPr lang="en-US" sz="1050" b="1" dirty="0">
                <a:solidFill>
                  <a:srgbClr val="243A5E"/>
                </a:solidFill>
                <a:latin typeface="Segoe UI" pitchFamily="34" charset="0"/>
                <a:ea typeface="Segoe UI" pitchFamily="34" charset="-122"/>
                <a:cs typeface="Segoe UI" pitchFamily="34" charset="-120"/>
              </a:rPr>
              <a:t>Faster development, stronger consistency, and AI-ready data products</a:t>
            </a:r>
            <a:endParaRPr lang="en-US" sz="1050" dirty="0"/>
          </a:p>
        </p:txBody>
      </p:sp>
      <p:sp>
        <p:nvSpPr>
          <p:cNvPr id="23" name="Shape 18"/>
          <p:cNvSpPr/>
          <p:nvPr/>
        </p:nvSpPr>
        <p:spPr>
          <a:xfrm>
            <a:off x="6080760" y="3346704"/>
            <a:ext cx="5440680" cy="1773936"/>
          </a:xfrm>
          <a:prstGeom prst="roundRect">
            <a:avLst>
              <a:gd name="adj" fmla="val 1523"/>
            </a:avLst>
          </a:prstGeom>
          <a:solidFill>
            <a:srgbClr val="FFFFFF"/>
          </a:solidFill>
          <a:ln w="9525">
            <a:solidFill>
              <a:srgbClr val="D8E2EE"/>
            </a:solidFill>
            <a:prstDash val="solid"/>
          </a:ln>
        </p:spPr>
        <p:txBody>
          <a:bodyPr/>
          <a:lstStyle/>
          <a:p>
            <a:endParaRPr lang="en-US"/>
          </a:p>
        </p:txBody>
      </p:sp>
      <p:sp>
        <p:nvSpPr>
          <p:cNvPr id="24" name="Shape 19"/>
          <p:cNvSpPr/>
          <p:nvPr/>
        </p:nvSpPr>
        <p:spPr>
          <a:xfrm>
            <a:off x="6080760" y="3346704"/>
            <a:ext cx="5440680" cy="82296"/>
          </a:xfrm>
          <a:prstGeom prst="rect">
            <a:avLst/>
          </a:prstGeom>
          <a:solidFill>
            <a:srgbClr val="00B7C3"/>
          </a:solidFill>
          <a:ln w="12700">
            <a:solidFill>
              <a:srgbClr val="00B7C3"/>
            </a:solidFill>
            <a:prstDash val="solid"/>
          </a:ln>
        </p:spPr>
        <p:txBody>
          <a:bodyPr/>
          <a:lstStyle/>
          <a:p>
            <a:endParaRPr lang="en-US"/>
          </a:p>
        </p:txBody>
      </p:sp>
      <p:sp>
        <p:nvSpPr>
          <p:cNvPr id="25" name="Text 20"/>
          <p:cNvSpPr/>
          <p:nvPr/>
        </p:nvSpPr>
        <p:spPr>
          <a:xfrm>
            <a:off x="6355080" y="3493008"/>
            <a:ext cx="3108960" cy="256032"/>
          </a:xfrm>
          <a:prstGeom prst="rect">
            <a:avLst/>
          </a:prstGeom>
          <a:noFill/>
          <a:ln/>
        </p:spPr>
        <p:txBody>
          <a:bodyPr wrap="square" lIns="0" tIns="0" rIns="0" bIns="0" rtlCol="0" anchor="ctr"/>
          <a:lstStyle/>
          <a:p>
            <a:pPr marL="0" indent="0">
              <a:buNone/>
            </a:pPr>
            <a:r>
              <a:rPr lang="en-US" sz="1000" b="1" kern="0" spc="160" dirty="0">
                <a:solidFill>
                  <a:srgbClr val="00B7C3"/>
                </a:solidFill>
                <a:latin typeface="Segoe UI" pitchFamily="34" charset="0"/>
                <a:ea typeface="Segoe UI" pitchFamily="34" charset="-122"/>
                <a:cs typeface="Segoe UI" pitchFamily="34" charset="-120"/>
              </a:rPr>
              <a:t>ASK AND UNDERSTAND</a:t>
            </a:r>
            <a:endParaRPr lang="en-US" sz="1000" dirty="0"/>
          </a:p>
        </p:txBody>
      </p:sp>
      <p:pic>
        <p:nvPicPr>
          <p:cNvPr id="26" name="Image 3" descr="C:\Users\amolmanocha\OneDrive - Microsoft\Documents\Microsoft Scout\deck-assets\report_64_item.png"/>
          <p:cNvPicPr>
            <a:picLocks noChangeAspect="1"/>
          </p:cNvPicPr>
          <p:nvPr/>
        </p:nvPicPr>
        <p:blipFill>
          <a:blip r:embed="rId6"/>
          <a:stretch>
            <a:fillRect/>
          </a:stretch>
        </p:blipFill>
        <p:spPr>
          <a:xfrm>
            <a:off x="11201400" y="3456432"/>
            <a:ext cx="292608" cy="292608"/>
          </a:xfrm>
          <a:prstGeom prst="rect">
            <a:avLst/>
          </a:prstGeom>
        </p:spPr>
      </p:pic>
      <p:pic>
        <p:nvPicPr>
          <p:cNvPr id="27" name="Image 4" descr="C:\Users\amolmanocha\OneDrive - Microsoft\Documents\Microsoft Scout\deck-assets\copilot_48_color.png"/>
          <p:cNvPicPr>
            <a:picLocks noChangeAspect="1"/>
          </p:cNvPicPr>
          <p:nvPr/>
        </p:nvPicPr>
        <p:blipFill>
          <a:blip r:embed="rId7"/>
          <a:stretch>
            <a:fillRect/>
          </a:stretch>
        </p:blipFill>
        <p:spPr>
          <a:xfrm>
            <a:off x="10789920" y="3456432"/>
            <a:ext cx="292608" cy="292608"/>
          </a:xfrm>
          <a:prstGeom prst="rect">
            <a:avLst/>
          </a:prstGeom>
        </p:spPr>
      </p:pic>
      <p:pic>
        <p:nvPicPr>
          <p:cNvPr id="28" name="Image 5" descr="C:\Users\amolmanocha\OneDrive - Microsoft\Documents\Microsoft Scout\deck-assets\chat.png"/>
          <p:cNvPicPr>
            <a:picLocks noChangeAspect="1"/>
          </p:cNvPicPr>
          <p:nvPr/>
        </p:nvPicPr>
        <p:blipFill>
          <a:blip r:embed="rId8"/>
          <a:stretch>
            <a:fillRect/>
          </a:stretch>
        </p:blipFill>
        <p:spPr>
          <a:xfrm>
            <a:off x="10378440" y="3456432"/>
            <a:ext cx="292608" cy="292608"/>
          </a:xfrm>
          <a:prstGeom prst="rect">
            <a:avLst/>
          </a:prstGeom>
        </p:spPr>
      </p:pic>
      <p:sp>
        <p:nvSpPr>
          <p:cNvPr id="29" name="Text 21"/>
          <p:cNvSpPr/>
          <p:nvPr/>
        </p:nvSpPr>
        <p:spPr>
          <a:xfrm>
            <a:off x="6355080" y="3749040"/>
            <a:ext cx="4846320" cy="274320"/>
          </a:xfrm>
          <a:prstGeom prst="rect">
            <a:avLst/>
          </a:prstGeom>
          <a:noFill/>
          <a:ln/>
        </p:spPr>
        <p:txBody>
          <a:bodyPr wrap="square" lIns="0" tIns="0" rIns="0" bIns="0" rtlCol="0" anchor="ctr"/>
          <a:lstStyle/>
          <a:p>
            <a:pPr marL="0" indent="0">
              <a:buNone/>
            </a:pPr>
            <a:r>
              <a:rPr lang="en-US" sz="900" dirty="0">
                <a:solidFill>
                  <a:srgbClr val="5B6875"/>
                </a:solidFill>
                <a:latin typeface="Segoe UI" pitchFamily="34" charset="0"/>
                <a:ea typeface="Segoe UI" pitchFamily="34" charset="-122"/>
                <a:cs typeface="Segoe UI" pitchFamily="34" charset="-120"/>
              </a:rPr>
              <a:t>Business users  ·  Leaders  ·  </a:t>
            </a:r>
            <a:r>
              <a:rPr lang="en-US" sz="900">
                <a:solidFill>
                  <a:srgbClr val="5B6875"/>
                </a:solidFill>
                <a:latin typeface="Segoe UI" pitchFamily="34" charset="0"/>
                <a:ea typeface="Segoe UI" pitchFamily="34" charset="-122"/>
                <a:cs typeface="Segoe UI" pitchFamily="34" charset="-120"/>
              </a:rPr>
              <a:t>Ops </a:t>
            </a:r>
            <a:r>
              <a:rPr lang="en-US" sz="900" dirty="0">
                <a:solidFill>
                  <a:srgbClr val="5B6875"/>
                </a:solidFill>
                <a:latin typeface="Segoe UI" pitchFamily="34" charset="0"/>
                <a:ea typeface="Segoe UI" pitchFamily="34" charset="-122"/>
                <a:cs typeface="Segoe UI" pitchFamily="34" charset="-120"/>
              </a:rPr>
              <a:t>teams  ·  Decision-makers</a:t>
            </a:r>
            <a:endParaRPr lang="en-US" sz="900" dirty="0"/>
          </a:p>
        </p:txBody>
      </p:sp>
      <p:sp>
        <p:nvSpPr>
          <p:cNvPr id="30" name="Shape 22"/>
          <p:cNvSpPr/>
          <p:nvPr/>
        </p:nvSpPr>
        <p:spPr>
          <a:xfrm>
            <a:off x="6373368" y="4114800"/>
            <a:ext cx="128016" cy="128016"/>
          </a:xfrm>
          <a:prstGeom prst="ellipse">
            <a:avLst/>
          </a:prstGeom>
          <a:solidFill>
            <a:srgbClr val="00B7C3"/>
          </a:solidFill>
          <a:ln w="12700">
            <a:solidFill>
              <a:srgbClr val="00B7C3"/>
            </a:solidFill>
            <a:prstDash val="solid"/>
          </a:ln>
        </p:spPr>
        <p:txBody>
          <a:bodyPr/>
          <a:lstStyle/>
          <a:p>
            <a:endParaRPr lang="en-US"/>
          </a:p>
        </p:txBody>
      </p:sp>
      <p:sp>
        <p:nvSpPr>
          <p:cNvPr id="31" name="Text 23"/>
          <p:cNvSpPr/>
          <p:nvPr/>
        </p:nvSpPr>
        <p:spPr>
          <a:xfrm>
            <a:off x="6647688" y="4041648"/>
            <a:ext cx="4206240" cy="256032"/>
          </a:xfrm>
          <a:prstGeom prst="rect">
            <a:avLst/>
          </a:prstGeom>
          <a:noFill/>
          <a:ln/>
        </p:spPr>
        <p:txBody>
          <a:bodyPr wrap="square" lIns="0" tIns="0" rIns="0" bIns="0" rtlCol="0" anchor="ctr"/>
          <a:lstStyle/>
          <a:p>
            <a:pPr marL="0" indent="0">
              <a:buNone/>
            </a:pPr>
            <a:r>
              <a:rPr lang="en-US" sz="1150" dirty="0">
                <a:solidFill>
                  <a:srgbClr val="1B1B1F"/>
                </a:solidFill>
                <a:latin typeface="Segoe UI" pitchFamily="34" charset="0"/>
                <a:ea typeface="Segoe UI" pitchFamily="34" charset="-122"/>
                <a:cs typeface="Segoe UI" pitchFamily="34" charset="-120"/>
              </a:rPr>
              <a:t>Ask questions in natural language</a:t>
            </a:r>
            <a:endParaRPr lang="en-US" sz="1150" dirty="0"/>
          </a:p>
        </p:txBody>
      </p:sp>
      <p:sp>
        <p:nvSpPr>
          <p:cNvPr id="32" name="Shape 24"/>
          <p:cNvSpPr/>
          <p:nvPr/>
        </p:nvSpPr>
        <p:spPr>
          <a:xfrm>
            <a:off x="6373368" y="4352544"/>
            <a:ext cx="128016" cy="128016"/>
          </a:xfrm>
          <a:prstGeom prst="ellipse">
            <a:avLst/>
          </a:prstGeom>
          <a:solidFill>
            <a:srgbClr val="00B7C3"/>
          </a:solidFill>
          <a:ln w="12700">
            <a:solidFill>
              <a:srgbClr val="00B7C3"/>
            </a:solidFill>
            <a:prstDash val="solid"/>
          </a:ln>
        </p:spPr>
        <p:txBody>
          <a:bodyPr/>
          <a:lstStyle/>
          <a:p>
            <a:endParaRPr lang="en-US"/>
          </a:p>
        </p:txBody>
      </p:sp>
      <p:sp>
        <p:nvSpPr>
          <p:cNvPr id="33" name="Text 25"/>
          <p:cNvSpPr/>
          <p:nvPr/>
        </p:nvSpPr>
        <p:spPr>
          <a:xfrm>
            <a:off x="6647688" y="4279392"/>
            <a:ext cx="4206240" cy="256032"/>
          </a:xfrm>
          <a:prstGeom prst="rect">
            <a:avLst/>
          </a:prstGeom>
          <a:noFill/>
          <a:ln/>
        </p:spPr>
        <p:txBody>
          <a:bodyPr wrap="square" lIns="0" tIns="0" rIns="0" bIns="0" rtlCol="0" anchor="ctr"/>
          <a:lstStyle/>
          <a:p>
            <a:pPr marL="0" indent="0">
              <a:buNone/>
            </a:pPr>
            <a:r>
              <a:rPr lang="en-US" sz="1150" dirty="0">
                <a:solidFill>
                  <a:srgbClr val="1B1B1F"/>
                </a:solidFill>
                <a:latin typeface="Segoe UI" pitchFamily="34" charset="0"/>
                <a:ea typeface="Segoe UI" pitchFamily="34" charset="-122"/>
                <a:cs typeface="Segoe UI" pitchFamily="34" charset="-120"/>
              </a:rPr>
              <a:t>Summarise reports, </a:t>
            </a:r>
            <a:r>
              <a:rPr lang="en-US" sz="1150">
                <a:solidFill>
                  <a:srgbClr val="1B1B1F"/>
                </a:solidFill>
                <a:latin typeface="Segoe UI" pitchFamily="34" charset="0"/>
                <a:ea typeface="Segoe UI" pitchFamily="34" charset="-122"/>
                <a:cs typeface="Segoe UI" pitchFamily="34" charset="-120"/>
              </a:rPr>
              <a:t>explain anomalies</a:t>
            </a:r>
            <a:r>
              <a:rPr lang="en-US" sz="1150" dirty="0">
                <a:solidFill>
                  <a:srgbClr val="1B1B1F"/>
                </a:solidFill>
                <a:latin typeface="Segoe UI" pitchFamily="34" charset="0"/>
                <a:ea typeface="Segoe UI" pitchFamily="34" charset="-122"/>
                <a:cs typeface="Segoe UI" pitchFamily="34" charset="-120"/>
              </a:rPr>
              <a:t> and changes</a:t>
            </a:r>
            <a:endParaRPr lang="en-US" sz="1150" dirty="0"/>
          </a:p>
        </p:txBody>
      </p:sp>
      <p:sp>
        <p:nvSpPr>
          <p:cNvPr id="36" name="Shape 28"/>
          <p:cNvSpPr/>
          <p:nvPr/>
        </p:nvSpPr>
        <p:spPr>
          <a:xfrm>
            <a:off x="6373368" y="4590288"/>
            <a:ext cx="128016" cy="128016"/>
          </a:xfrm>
          <a:prstGeom prst="ellipse">
            <a:avLst/>
          </a:prstGeom>
          <a:solidFill>
            <a:srgbClr val="00B7C3"/>
          </a:solidFill>
          <a:ln w="12700">
            <a:solidFill>
              <a:srgbClr val="00B7C3"/>
            </a:solidFill>
            <a:prstDash val="solid"/>
          </a:ln>
        </p:spPr>
        <p:txBody>
          <a:bodyPr/>
          <a:lstStyle/>
          <a:p>
            <a:endParaRPr lang="en-US"/>
          </a:p>
        </p:txBody>
      </p:sp>
      <p:sp>
        <p:nvSpPr>
          <p:cNvPr id="37" name="Text 29"/>
          <p:cNvSpPr/>
          <p:nvPr/>
        </p:nvSpPr>
        <p:spPr>
          <a:xfrm>
            <a:off x="6647688" y="4517136"/>
            <a:ext cx="4206240" cy="256032"/>
          </a:xfrm>
          <a:prstGeom prst="rect">
            <a:avLst/>
          </a:prstGeom>
          <a:noFill/>
          <a:ln/>
        </p:spPr>
        <p:txBody>
          <a:bodyPr wrap="square" lIns="0" tIns="0" rIns="0" bIns="0" rtlCol="0" anchor="ctr"/>
          <a:lstStyle/>
          <a:p>
            <a:pPr marL="0" indent="0">
              <a:buNone/>
            </a:pPr>
            <a:r>
              <a:rPr lang="en-US" sz="1150" dirty="0">
                <a:solidFill>
                  <a:srgbClr val="1B1B1F"/>
                </a:solidFill>
                <a:latin typeface="Segoe UI" pitchFamily="34" charset="0"/>
                <a:ea typeface="Segoe UI" pitchFamily="34" charset="-122"/>
                <a:cs typeface="Segoe UI" pitchFamily="34" charset="-120"/>
              </a:rPr>
              <a:t>Explore governed metrics</a:t>
            </a:r>
            <a:r>
              <a:rPr lang="en-US" sz="1150">
                <a:solidFill>
                  <a:srgbClr val="1B1B1F"/>
                </a:solidFill>
                <a:latin typeface="Segoe UI" pitchFamily="34" charset="0"/>
                <a:ea typeface="Segoe UI" pitchFamily="34" charset="-122"/>
                <a:cs typeface="Segoe UI" pitchFamily="34" charset="-120"/>
              </a:rPr>
              <a:t> and act on insights</a:t>
            </a:r>
            <a:endParaRPr lang="en-US" sz="1150" dirty="0"/>
          </a:p>
        </p:txBody>
      </p:sp>
      <p:sp>
        <p:nvSpPr>
          <p:cNvPr id="40" name="Shape 32"/>
          <p:cNvSpPr/>
          <p:nvPr/>
        </p:nvSpPr>
        <p:spPr>
          <a:xfrm>
            <a:off x="6355080" y="4754880"/>
            <a:ext cx="4892040" cy="329184"/>
          </a:xfrm>
          <a:prstGeom prst="roundRect">
            <a:avLst>
              <a:gd name="adj" fmla="val 12000"/>
            </a:avLst>
          </a:prstGeom>
          <a:solidFill>
            <a:srgbClr val="E7F0FA"/>
          </a:solidFill>
          <a:ln w="12700">
            <a:solidFill>
              <a:srgbClr val="E7F0FA"/>
            </a:solidFill>
            <a:prstDash val="solid"/>
          </a:ln>
        </p:spPr>
        <p:txBody>
          <a:bodyPr/>
          <a:lstStyle/>
          <a:p>
            <a:endParaRPr lang="en-US"/>
          </a:p>
        </p:txBody>
      </p:sp>
      <p:sp>
        <p:nvSpPr>
          <p:cNvPr id="41" name="Text 33"/>
          <p:cNvSpPr/>
          <p:nvPr/>
        </p:nvSpPr>
        <p:spPr>
          <a:xfrm>
            <a:off x="6501384" y="4754880"/>
            <a:ext cx="4617720" cy="329184"/>
          </a:xfrm>
          <a:prstGeom prst="rect">
            <a:avLst/>
          </a:prstGeom>
          <a:noFill/>
          <a:ln/>
        </p:spPr>
        <p:txBody>
          <a:bodyPr wrap="square" lIns="0" tIns="0" rIns="0" bIns="0" rtlCol="0" anchor="ctr"/>
          <a:lstStyle/>
          <a:p>
            <a:pPr marL="0" indent="0">
              <a:buNone/>
            </a:pPr>
            <a:r>
              <a:rPr lang="en-US" sz="1050" b="1" dirty="0">
                <a:solidFill>
                  <a:srgbClr val="243A5E"/>
                </a:solidFill>
                <a:latin typeface="Segoe UI" pitchFamily="34" charset="0"/>
                <a:ea typeface="Segoe UI" pitchFamily="34" charset="-122"/>
                <a:cs typeface="Segoe UI" pitchFamily="34" charset="-120"/>
              </a:rPr>
              <a:t>Faster insights, broader access to data, and better-informed decisions</a:t>
            </a:r>
            <a:endParaRPr lang="en-US" sz="1050" dirty="0"/>
          </a:p>
        </p:txBody>
      </p:sp>
      <p:sp>
        <p:nvSpPr>
          <p:cNvPr id="42" name="Shape 34"/>
          <p:cNvSpPr/>
          <p:nvPr/>
        </p:nvSpPr>
        <p:spPr>
          <a:xfrm>
            <a:off x="685800" y="5248656"/>
            <a:ext cx="10817352" cy="749808"/>
          </a:xfrm>
          <a:prstGeom prst="roundRect">
            <a:avLst>
              <a:gd name="adj" fmla="val 7317"/>
            </a:avLst>
          </a:prstGeom>
          <a:solidFill>
            <a:srgbClr val="0F2A47"/>
          </a:solidFill>
          <a:ln w="12700">
            <a:solidFill>
              <a:srgbClr val="0F2A47"/>
            </a:solidFill>
            <a:prstDash val="solid"/>
          </a:ln>
        </p:spPr>
        <p:txBody>
          <a:bodyPr/>
          <a:lstStyle/>
          <a:p>
            <a:endParaRPr lang="en-US"/>
          </a:p>
        </p:txBody>
      </p:sp>
      <p:pic>
        <p:nvPicPr>
          <p:cNvPr id="43" name="Image 6" descr="C:\Users\amolmanocha\OneDrive - Microsoft\Documents\Microsoft Scout\deck-assets\shield_w.png"/>
          <p:cNvPicPr>
            <a:picLocks noChangeAspect="1"/>
          </p:cNvPicPr>
          <p:nvPr/>
        </p:nvPicPr>
        <p:blipFill>
          <a:blip r:embed="rId9"/>
          <a:stretch>
            <a:fillRect/>
          </a:stretch>
        </p:blipFill>
        <p:spPr>
          <a:xfrm>
            <a:off x="1024128" y="5468112"/>
            <a:ext cx="310896" cy="310896"/>
          </a:xfrm>
          <a:prstGeom prst="rect">
            <a:avLst/>
          </a:prstGeom>
        </p:spPr>
      </p:pic>
      <p:sp>
        <p:nvSpPr>
          <p:cNvPr id="44" name="Text 35"/>
          <p:cNvSpPr/>
          <p:nvPr/>
        </p:nvSpPr>
        <p:spPr>
          <a:xfrm>
            <a:off x="1481328" y="5248656"/>
            <a:ext cx="9692640" cy="749808"/>
          </a:xfrm>
          <a:prstGeom prst="rect">
            <a:avLst/>
          </a:prstGeom>
          <a:noFill/>
          <a:ln/>
        </p:spPr>
        <p:txBody>
          <a:bodyPr wrap="square" lIns="0" tIns="0" rIns="0" bIns="0" rtlCol="0" anchor="ctr"/>
          <a:lstStyle/>
          <a:p>
            <a:pPr marL="0" indent="0">
              <a:buNone/>
            </a:pPr>
            <a:r>
              <a:rPr lang="en-US" sz="1300" b="1" dirty="0">
                <a:solidFill>
                  <a:srgbClr val="FFFFFF"/>
                </a:solidFill>
                <a:latin typeface="Segoe UI" pitchFamily="34" charset="0"/>
                <a:ea typeface="Segoe UI" pitchFamily="34" charset="-122"/>
                <a:cs typeface="Segoe UI" pitchFamily="34" charset="-120"/>
              </a:rPr>
              <a:t>One governed data and business context layer supports both experiences.</a:t>
            </a:r>
            <a:endParaRPr lang="en-US" sz="1300" dirty="0"/>
          </a:p>
        </p:txBody>
      </p:sp>
      <p:sp>
        <p:nvSpPr>
          <p:cNvPr id="45" name="Text 36"/>
          <p:cNvSpPr/>
          <p:nvPr/>
        </p:nvSpPr>
        <p:spPr>
          <a:xfrm>
            <a:off x="685800" y="6437376"/>
            <a:ext cx="6400800" cy="237744"/>
          </a:xfrm>
          <a:prstGeom prst="rect">
            <a:avLst/>
          </a:prstGeom>
          <a:noFill/>
          <a:ln/>
        </p:spPr>
        <p:txBody>
          <a:bodyPr wrap="square" lIns="0" tIns="0" rIns="0" bIns="0" rtlCol="0" anchor="ctr"/>
          <a:lstStyle/>
          <a:p>
            <a:pPr marL="0" indent="0">
              <a:buNone/>
            </a:pPr>
            <a:r>
              <a:rPr lang="en-US" sz="850" dirty="0">
                <a:solidFill>
                  <a:srgbClr val="9AA8B6"/>
                </a:solidFill>
                <a:latin typeface="Segoe UI" pitchFamily="34" charset="0"/>
                <a:ea typeface="Segoe UI" pitchFamily="34" charset="-122"/>
                <a:cs typeface="Segoe UI" pitchFamily="34" charset="-120"/>
              </a:rPr>
              <a:t>Microsoft  |  Conversational AI in Microsoft Fabric</a:t>
            </a:r>
            <a:endParaRPr lang="en-US" sz="850" dirty="0"/>
          </a:p>
        </p:txBody>
      </p:sp>
      <p:sp>
        <p:nvSpPr>
          <p:cNvPr id="46" name="Text 37"/>
          <p:cNvSpPr/>
          <p:nvPr/>
        </p:nvSpPr>
        <p:spPr>
          <a:xfrm>
            <a:off x="11064240" y="6437376"/>
            <a:ext cx="438912" cy="237744"/>
          </a:xfrm>
          <a:prstGeom prst="rect">
            <a:avLst/>
          </a:prstGeom>
          <a:noFill/>
          <a:ln/>
        </p:spPr>
        <p:txBody>
          <a:bodyPr wrap="square" lIns="0" tIns="0" rIns="0" bIns="0" rtlCol="0" anchor="ctr"/>
          <a:lstStyle/>
          <a:p>
            <a:pPr marL="0" indent="0" algn="r">
              <a:buNone/>
            </a:pPr>
            <a:r>
              <a:rPr lang="en-US" sz="850" dirty="0">
                <a:solidFill>
                  <a:srgbClr val="9AA8B6"/>
                </a:solidFill>
                <a:latin typeface="Segoe UI" pitchFamily="34" charset="0"/>
                <a:ea typeface="Segoe UI" pitchFamily="34" charset="-122"/>
                <a:cs typeface="Segoe UI" pitchFamily="34" charset="-120"/>
              </a:rPr>
              <a:t>4</a:t>
            </a:r>
            <a:endParaRPr lang="en-US" sz="850" dirty="0"/>
          </a:p>
        </p:txBody>
      </p:sp>
      <p:pic>
        <p:nvPicPr>
          <p:cNvPr id="50" name="Image 3" descr="C:\Users\amolmanocha\OneDrive - Microsoft\Documents\Microsoft Scout\deck-assets\power_bi_48_color.png">
            <a:extLst>
              <a:ext uri="{FF2B5EF4-FFF2-40B4-BE49-F238E27FC236}">
                <a16:creationId xmlns:a16="http://schemas.microsoft.com/office/drawing/2014/main" id="{CC439514-52D9-472F-BEBA-80800FFE039D}"/>
              </a:ext>
            </a:extLst>
          </p:cNvPr>
          <p:cNvPicPr>
            <a:picLocks noChangeAspect="1"/>
          </p:cNvPicPr>
          <p:nvPr/>
        </p:nvPicPr>
        <p:blipFill>
          <a:blip r:embed="rId10"/>
          <a:stretch>
            <a:fillRect/>
          </a:stretch>
        </p:blipFill>
        <p:spPr>
          <a:xfrm>
            <a:off x="9966960" y="1591056"/>
            <a:ext cx="292608" cy="292608"/>
          </a:xfrm>
          <a:prstGeom prst="rect">
            <a:avLst/>
          </a:prstGeom>
        </p:spPr>
      </p:pic>
      <p:pic>
        <p:nvPicPr>
          <p:cNvPr id="47" name="Graphic 46" descr="Diagram showing how enterprise developers, self-service users, and business users can use Copilot experiences in Fabric workloads.">
            <a:extLst>
              <a:ext uri="{FF2B5EF4-FFF2-40B4-BE49-F238E27FC236}">
                <a16:creationId xmlns:a16="http://schemas.microsoft.com/office/drawing/2014/main" id="{07EC3F6E-958D-F833-F025-28B0E74F9C0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85800" y="1572768"/>
            <a:ext cx="5029200" cy="33558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685800" y="384048"/>
            <a:ext cx="100584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20" normalizeH="0" baseline="0" noProof="0" dirty="0">
                <a:ln>
                  <a:noFill/>
                </a:ln>
                <a:solidFill>
                  <a:srgbClr val="0078D4"/>
                </a:solidFill>
                <a:effectLst/>
                <a:uLnTx/>
                <a:uFillTx/>
                <a:latin typeface="Segoe UI" pitchFamily="34" charset="0"/>
                <a:ea typeface="Segoe UI" pitchFamily="34" charset="-122"/>
                <a:cs typeface="Segoe UI" pitchFamily="34" charset="-120"/>
              </a:rPr>
              <a:t>CHOOSING AN EXPERIENCE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85800" y="658368"/>
            <a:ext cx="9601200"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1B1B1F"/>
                </a:solidFill>
                <a:effectLst/>
                <a:uLnTx/>
                <a:uFillTx/>
                <a:latin typeface="Segoe UI" pitchFamily="34" charset="0"/>
                <a:ea typeface="Segoe UI" pitchFamily="34" charset="-122"/>
                <a:cs typeface="Segoe UI" pitchFamily="34" charset="-120"/>
              </a:rPr>
              <a:t>Choose the Experience Based on the User's Need</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85800" y="1298448"/>
            <a:ext cx="960120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5B6875"/>
                </a:solidFill>
                <a:effectLst/>
                <a:uLnTx/>
                <a:uFillTx/>
                <a:latin typeface="Segoe UI" pitchFamily="34" charset="0"/>
                <a:ea typeface="Segoe UI" pitchFamily="34" charset="-122"/>
                <a:cs typeface="Segoe UI" pitchFamily="34" charset="-120"/>
              </a:rPr>
              <a:t>A continuum, not a competition. One user journey can move across all four stages.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62356" y="1755648"/>
            <a:ext cx="2103120" cy="420624"/>
          </a:xfrm>
          <a:prstGeom prst="roundRect">
            <a:avLst>
              <a:gd name="adj" fmla="val 108696"/>
            </a:avLst>
          </a:prstGeom>
          <a:solidFill>
            <a:srgbClr val="E3EDF7"/>
          </a:solidFill>
          <a:ln w="12700">
            <a:solidFill>
              <a:srgbClr val="E3EDF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62356" y="1755648"/>
            <a:ext cx="210312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20" normalizeH="0" baseline="0" noProof="0" dirty="0">
                <a:ln>
                  <a:noFill/>
                </a:ln>
                <a:solidFill>
                  <a:srgbClr val="0078D4"/>
                </a:solidFill>
                <a:effectLst/>
                <a:uLnTx/>
                <a:uFillTx/>
                <a:latin typeface="Segoe UI" pitchFamily="34" charset="0"/>
                <a:ea typeface="Segoe UI" pitchFamily="34" charset="-122"/>
                <a:cs typeface="Segoe UI" pitchFamily="34" charset="-120"/>
              </a:rPr>
              <a:t>IN-CONTEXT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2683764" y="1755648"/>
            <a:ext cx="10972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9FB6CC"/>
                </a:solidFill>
                <a:effectLst/>
                <a:uLnTx/>
                <a:uFillTx/>
                <a:latin typeface="Segoe UI" pitchFamily="34" charset="0"/>
                <a:ea typeface="Segoe UI" pitchFamily="34" charset="-122"/>
                <a:cs typeface="Segoe UI" pitchFamily="34" charset="-120"/>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2802636" y="1755648"/>
            <a:ext cx="2103120" cy="420624"/>
          </a:xfrm>
          <a:prstGeom prst="roundRect">
            <a:avLst>
              <a:gd name="adj" fmla="val 108696"/>
            </a:avLst>
          </a:prstGeom>
          <a:solidFill>
            <a:srgbClr val="E3EDF7"/>
          </a:solidFill>
          <a:ln w="12700">
            <a:solidFill>
              <a:srgbClr val="E3EDF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2802636" y="1755648"/>
            <a:ext cx="210312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20" normalizeH="0" baseline="0" noProof="0" dirty="0">
                <a:ln>
                  <a:noFill/>
                </a:ln>
                <a:solidFill>
                  <a:srgbClr val="243A5E"/>
                </a:solidFill>
                <a:effectLst/>
                <a:uLnTx/>
                <a:uFillTx/>
                <a:latin typeface="Segoe UI" pitchFamily="34" charset="0"/>
                <a:ea typeface="Segoe UI" pitchFamily="34" charset="-122"/>
                <a:cs typeface="Segoe UI" pitchFamily="34" charset="-120"/>
              </a:rPr>
              <a:t>BROAD DISCOVERY</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924044" y="1755648"/>
            <a:ext cx="10972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9FB6CC"/>
                </a:solidFill>
                <a:effectLst/>
                <a:uLnTx/>
                <a:uFillTx/>
                <a:latin typeface="Segoe UI" pitchFamily="34" charset="0"/>
                <a:ea typeface="Segoe UI" pitchFamily="34" charset="-122"/>
                <a:cs typeface="Segoe UI" pitchFamily="34" charset="-120"/>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5042916" y="1755648"/>
            <a:ext cx="4343400" cy="420624"/>
          </a:xfrm>
          <a:prstGeom prst="roundRect">
            <a:avLst>
              <a:gd name="adj" fmla="val 108696"/>
            </a:avLst>
          </a:prstGeom>
          <a:solidFill>
            <a:srgbClr val="E3EDF7"/>
          </a:solidFill>
          <a:ln w="12700">
            <a:solidFill>
              <a:srgbClr val="E3EDF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5042916" y="1755648"/>
            <a:ext cx="434340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20" normalizeH="0" baseline="0" noProof="0" dirty="0">
                <a:ln>
                  <a:noFill/>
                </a:ln>
                <a:solidFill>
                  <a:srgbClr val="243A5E"/>
                </a:solidFill>
                <a:effectLst/>
                <a:uLnTx/>
                <a:uFillTx/>
                <a:latin typeface="Segoe UI" pitchFamily="34" charset="0"/>
                <a:ea typeface="Segoe UI" pitchFamily="34" charset="-122"/>
                <a:cs typeface="Segoe UI" pitchFamily="34" charset="-120"/>
              </a:rPr>
              <a:t>CURATED DOMAIN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9404604" y="1755648"/>
            <a:ext cx="10972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9FB6CC"/>
                </a:solidFill>
                <a:effectLst/>
                <a:uLnTx/>
                <a:uFillTx/>
                <a:latin typeface="Segoe UI" pitchFamily="34" charset="0"/>
                <a:ea typeface="Segoe UI" pitchFamily="34" charset="-122"/>
                <a:cs typeface="Segoe UI" pitchFamily="34" charset="-120"/>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9523476" y="1755648"/>
            <a:ext cx="2103120" cy="420624"/>
          </a:xfrm>
          <a:prstGeom prst="roundRect">
            <a:avLst>
              <a:gd name="adj" fmla="val 108696"/>
            </a:avLst>
          </a:prstGeom>
          <a:solidFill>
            <a:srgbClr val="E3EDF7"/>
          </a:solidFill>
          <a:ln w="12700">
            <a:solidFill>
              <a:srgbClr val="E3EDF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9523476" y="1755648"/>
            <a:ext cx="2103120"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20" normalizeH="0" baseline="0" noProof="0" dirty="0">
                <a:ln>
                  <a:noFill/>
                </a:ln>
                <a:solidFill>
                  <a:srgbClr val="00B7C3"/>
                </a:solidFill>
                <a:effectLst/>
                <a:uLnTx/>
                <a:uFillTx/>
                <a:latin typeface="Segoe UI" pitchFamily="34" charset="0"/>
                <a:ea typeface="Segoe UI" pitchFamily="34" charset="-122"/>
                <a:cs typeface="Segoe UI" pitchFamily="34" charset="-120"/>
              </a:rPr>
              <a:t>FLOW OF WORK</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62356" y="2286000"/>
            <a:ext cx="2103120" cy="3218688"/>
          </a:xfrm>
          <a:prstGeom prst="roundRect">
            <a:avLst>
              <a:gd name="adj" fmla="val 2609"/>
            </a:avLst>
          </a:prstGeom>
          <a:solidFill>
            <a:srgbClr val="FFFFFF"/>
          </a:solidFill>
          <a:ln w="9525">
            <a:solidFill>
              <a:srgbClr val="D8E2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7" name="Image 0" descr="C:\Users\amolmanocha\OneDrive - Microsoft\Documents\Microsoft Scout\deck-assets\power_bi_48_color.png"/>
          <p:cNvPicPr>
            <a:picLocks noChangeAspect="1"/>
          </p:cNvPicPr>
          <p:nvPr/>
        </p:nvPicPr>
        <p:blipFill>
          <a:blip r:embed="rId3"/>
          <a:stretch>
            <a:fillRect/>
          </a:stretch>
        </p:blipFill>
        <p:spPr>
          <a:xfrm>
            <a:off x="1440180" y="2487168"/>
            <a:ext cx="347472" cy="347472"/>
          </a:xfrm>
          <a:prstGeom prst="rect">
            <a:avLst/>
          </a:prstGeom>
        </p:spPr>
      </p:pic>
      <p:sp>
        <p:nvSpPr>
          <p:cNvPr id="18" name="Text 15"/>
          <p:cNvSpPr/>
          <p:nvPr/>
        </p:nvSpPr>
        <p:spPr>
          <a:xfrm>
            <a:off x="653796" y="2926080"/>
            <a:ext cx="1920240" cy="566928"/>
          </a:xfrm>
          <a:prstGeom prst="rect">
            <a:avLst/>
          </a:prstGeom>
          <a:noFill/>
          <a:ln/>
        </p:spPr>
        <p:txBody>
          <a:bodyPr wrap="square" lIns="0" tIns="0" rIns="0" bIns="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1B1F"/>
                </a:solidFill>
                <a:effectLst/>
                <a:uLnTx/>
                <a:uFillTx/>
                <a:latin typeface="Segoe UI" pitchFamily="34" charset="0"/>
                <a:ea typeface="Segoe UI" pitchFamily="34" charset="-122"/>
                <a:cs typeface="Segoe UI" pitchFamily="34" charset="-120"/>
              </a:rPr>
              <a:t>Copilot in 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1B1F"/>
                </a:solidFill>
                <a:effectLst/>
                <a:uLnTx/>
                <a:uFillTx/>
                <a:latin typeface="Segoe UI" pitchFamily="34" charset="0"/>
                <a:ea typeface="Segoe UI" pitchFamily="34" charset="-122"/>
                <a:cs typeface="Segoe UI" pitchFamily="34" charset="-120"/>
              </a:rPr>
              <a:t>Power BI report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6"/>
          <p:cNvSpPr/>
          <p:nvPr/>
        </p:nvSpPr>
        <p:spPr>
          <a:xfrm>
            <a:off x="1019556" y="3566159"/>
            <a:ext cx="1188720" cy="10973"/>
          </a:xfrm>
          <a:prstGeom prst="rect">
            <a:avLst/>
          </a:prstGeom>
          <a:solidFill>
            <a:srgbClr val="D8E2EE"/>
          </a:solidFill>
          <a:ln w="12700">
            <a:solidFill>
              <a:srgbClr val="D8E2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7"/>
          <p:cNvSpPr/>
          <p:nvPr/>
        </p:nvSpPr>
        <p:spPr>
          <a:xfrm>
            <a:off x="653796" y="3675887"/>
            <a:ext cx="19202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1" i="0" u="none" strike="noStrike" kern="0" cap="none" spc="90" normalizeH="0" baseline="0" noProof="0" dirty="0">
                <a:ln>
                  <a:noFill/>
                </a:ln>
                <a:solidFill>
                  <a:srgbClr val="0078D4"/>
                </a:solidFill>
                <a:effectLst/>
                <a:uLnTx/>
                <a:uFillTx/>
                <a:latin typeface="Segoe UI" pitchFamily="34" charset="0"/>
                <a:ea typeface="Segoe UI" pitchFamily="34" charset="-122"/>
                <a:cs typeface="Segoe UI" pitchFamily="34" charset="-120"/>
              </a:rPr>
              <a:t>USER NEED</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p:nvPr/>
        </p:nvSpPr>
        <p:spPr>
          <a:xfrm>
            <a:off x="635508" y="3877055"/>
            <a:ext cx="1956816" cy="512064"/>
          </a:xfrm>
          <a:prstGeom prst="rect">
            <a:avLst/>
          </a:prstGeom>
          <a:noFill/>
          <a:ln/>
        </p:spPr>
        <p:txBody>
          <a:bodyPr wrap="square" lIns="0" tIns="0" rIns="0" bIns="0" rtlCol="0" anchor="ctr"/>
          <a:lstStyle/>
          <a:p>
            <a:pPr marL="0" marR="0" lvl="0" indent="0" algn="ctr" defTabSz="914400" rtl="0" eaLnBrk="1" fontAlgn="auto" latinLnBrk="0" hangingPunct="1">
              <a:lnSpc>
                <a:spcPct val="9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B1F"/>
                </a:solidFill>
                <a:effectLst/>
                <a:uLnTx/>
                <a:uFillTx/>
                <a:latin typeface="Segoe UI" pitchFamily="34" charset="0"/>
                <a:ea typeface="Segoe UI" pitchFamily="34" charset="-122"/>
                <a:cs typeface="Segoe UI" pitchFamily="34" charset="-120"/>
              </a:rPr>
              <a:t>Explain what I am</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B1F"/>
                </a:solidFill>
                <a:effectLst/>
                <a:uLnTx/>
                <a:uFillTx/>
                <a:latin typeface="Segoe UI" pitchFamily="34" charset="0"/>
                <a:ea typeface="Segoe UI" pitchFamily="34" charset="-122"/>
                <a:cs typeface="Segoe UI" pitchFamily="34" charset="-120"/>
              </a:rPr>
              <a:t>looking at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9"/>
          <p:cNvSpPr/>
          <p:nvPr/>
        </p:nvSpPr>
        <p:spPr>
          <a:xfrm>
            <a:off x="653796" y="4425696"/>
            <a:ext cx="19202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1" i="0" u="none" strike="noStrike" kern="0" cap="none" spc="90" normalizeH="0" baseline="0" noProof="0" dirty="0">
                <a:ln>
                  <a:noFill/>
                </a:ln>
                <a:solidFill>
                  <a:srgbClr val="00B7C3"/>
                </a:solidFill>
                <a:effectLst/>
                <a:uLnTx/>
                <a:uFillTx/>
                <a:latin typeface="Segoe UI" pitchFamily="34" charset="0"/>
                <a:ea typeface="Segoe UI" pitchFamily="34" charset="-122"/>
                <a:cs typeface="Segoe UI" pitchFamily="34" charset="-120"/>
              </a:rPr>
              <a:t>CONTEXT USED</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0"/>
          <p:cNvSpPr/>
          <p:nvPr/>
        </p:nvSpPr>
        <p:spPr>
          <a:xfrm>
            <a:off x="635508" y="4626864"/>
            <a:ext cx="1956816" cy="512064"/>
          </a:xfrm>
          <a:prstGeom prst="rect">
            <a:avLst/>
          </a:prstGeom>
          <a:noFill/>
          <a:ln/>
        </p:spPr>
        <p:txBody>
          <a:bodyPr wrap="square" lIns="0" tIns="0" rIns="0" bIns="0" rtlCol="0" anchor="ctr"/>
          <a:lstStyle/>
          <a:p>
            <a:pPr marL="0" marR="0" lvl="0" indent="0" algn="ctr" defTabSz="914400" rtl="0" eaLnBrk="1" fontAlgn="auto" latinLnBrk="0" hangingPunct="1">
              <a:lnSpc>
                <a:spcPct val="9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875"/>
                </a:solidFill>
                <a:effectLst/>
                <a:uLnTx/>
                <a:uFillTx/>
                <a:latin typeface="Segoe UI" pitchFamily="34" charset="0"/>
                <a:ea typeface="Segoe UI" pitchFamily="34" charset="-122"/>
                <a:cs typeface="Segoe UI" pitchFamily="34" charset="-120"/>
              </a:rPr>
              <a:t>This report and its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875"/>
                </a:solidFill>
                <a:effectLst/>
                <a:uLnTx/>
                <a:uFillTx/>
                <a:latin typeface="Segoe UI" pitchFamily="34" charset="0"/>
                <a:ea typeface="Segoe UI" pitchFamily="34" charset="-122"/>
                <a:cs typeface="Segoe UI" pitchFamily="34" charset="-120"/>
              </a:rPr>
              <a:t>semantic model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1"/>
          <p:cNvSpPr/>
          <p:nvPr/>
        </p:nvSpPr>
        <p:spPr>
          <a:xfrm>
            <a:off x="2802636" y="2286000"/>
            <a:ext cx="2103120" cy="3218688"/>
          </a:xfrm>
          <a:prstGeom prst="roundRect">
            <a:avLst>
              <a:gd name="adj" fmla="val 2609"/>
            </a:avLst>
          </a:prstGeom>
          <a:solidFill>
            <a:srgbClr val="FFFFFF"/>
          </a:solidFill>
          <a:ln w="9525">
            <a:solidFill>
              <a:srgbClr val="D8E2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1" descr="C:\Users\amolmanocha\OneDrive - Microsoft\Documents\Microsoft Scout\deck-assets\copilot_48_color.png"/>
          <p:cNvPicPr>
            <a:picLocks noChangeAspect="1"/>
          </p:cNvPicPr>
          <p:nvPr/>
        </p:nvPicPr>
        <p:blipFill>
          <a:blip r:embed="rId4"/>
          <a:stretch>
            <a:fillRect/>
          </a:stretch>
        </p:blipFill>
        <p:spPr>
          <a:xfrm>
            <a:off x="3680460" y="2487168"/>
            <a:ext cx="347472" cy="347472"/>
          </a:xfrm>
          <a:prstGeom prst="rect">
            <a:avLst/>
          </a:prstGeom>
        </p:spPr>
      </p:pic>
      <p:sp>
        <p:nvSpPr>
          <p:cNvPr id="26" name="Text 22"/>
          <p:cNvSpPr/>
          <p:nvPr/>
        </p:nvSpPr>
        <p:spPr>
          <a:xfrm>
            <a:off x="2894076" y="2926080"/>
            <a:ext cx="1920240" cy="566928"/>
          </a:xfrm>
          <a:prstGeom prst="rect">
            <a:avLst/>
          </a:prstGeom>
          <a:noFill/>
          <a:ln/>
        </p:spPr>
        <p:txBody>
          <a:bodyPr wrap="square" lIns="0" tIns="0" rIns="0" bIns="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1B1F"/>
                </a:solidFill>
                <a:effectLst/>
                <a:uLnTx/>
                <a:uFillTx/>
                <a:latin typeface="Segoe UI" pitchFamily="34" charset="0"/>
                <a:ea typeface="Segoe UI" pitchFamily="34" charset="-122"/>
                <a:cs typeface="Segoe UI" pitchFamily="34" charset="-120"/>
              </a:rPr>
              <a:t>Copilot in the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1B1F"/>
                </a:solidFill>
                <a:effectLst/>
                <a:uLnTx/>
                <a:uFillTx/>
                <a:latin typeface="Segoe UI" pitchFamily="34" charset="0"/>
                <a:ea typeface="Segoe UI" pitchFamily="34" charset="-122"/>
                <a:cs typeface="Segoe UI" pitchFamily="34" charset="-120"/>
              </a:rPr>
              <a:t>Power BI service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3"/>
          <p:cNvSpPr/>
          <p:nvPr/>
        </p:nvSpPr>
        <p:spPr>
          <a:xfrm>
            <a:off x="3259836" y="3566159"/>
            <a:ext cx="1188720" cy="10973"/>
          </a:xfrm>
          <a:prstGeom prst="rect">
            <a:avLst/>
          </a:prstGeom>
          <a:solidFill>
            <a:srgbClr val="D8E2EE"/>
          </a:solidFill>
          <a:ln w="12700">
            <a:solidFill>
              <a:srgbClr val="D8E2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4"/>
          <p:cNvSpPr/>
          <p:nvPr/>
        </p:nvSpPr>
        <p:spPr>
          <a:xfrm>
            <a:off x="2894076" y="3675887"/>
            <a:ext cx="19202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1" i="0" u="none" strike="noStrike" kern="0" cap="none" spc="90" normalizeH="0" baseline="0" noProof="0" dirty="0">
                <a:ln>
                  <a:noFill/>
                </a:ln>
                <a:solidFill>
                  <a:srgbClr val="0078D4"/>
                </a:solidFill>
                <a:effectLst/>
                <a:uLnTx/>
                <a:uFillTx/>
                <a:latin typeface="Segoe UI" pitchFamily="34" charset="0"/>
                <a:ea typeface="Segoe UI" pitchFamily="34" charset="-122"/>
                <a:cs typeface="Segoe UI" pitchFamily="34" charset="-120"/>
              </a:rPr>
              <a:t>USER NEED</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5"/>
          <p:cNvSpPr/>
          <p:nvPr/>
        </p:nvSpPr>
        <p:spPr>
          <a:xfrm>
            <a:off x="2875788" y="3877055"/>
            <a:ext cx="1956816" cy="512064"/>
          </a:xfrm>
          <a:prstGeom prst="rect">
            <a:avLst/>
          </a:prstGeom>
          <a:noFill/>
          <a:ln/>
        </p:spPr>
        <p:txBody>
          <a:bodyPr wrap="square" lIns="0" tIns="0" rIns="0" bIns="0" rtlCol="0" anchor="ctr"/>
          <a:lstStyle/>
          <a:p>
            <a:pPr marL="0" marR="0" lvl="0" indent="0" algn="ctr" defTabSz="914400" rtl="0" eaLnBrk="1" fontAlgn="auto" latinLnBrk="0" hangingPunct="1">
              <a:lnSpc>
                <a:spcPct val="9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B1F"/>
                </a:solidFill>
                <a:effectLst/>
                <a:uLnTx/>
                <a:uFillTx/>
                <a:latin typeface="Segoe UI" pitchFamily="34" charset="0"/>
                <a:ea typeface="Segoe UI" pitchFamily="34" charset="-122"/>
                <a:cs typeface="Segoe UI" pitchFamily="34" charset="-120"/>
              </a:rPr>
              <a:t>Find and explore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B1F"/>
                </a:solidFill>
                <a:effectLst/>
                <a:uLnTx/>
                <a:uFillTx/>
                <a:latin typeface="Segoe UI" pitchFamily="34" charset="0"/>
                <a:ea typeface="Segoe UI" pitchFamily="34" charset="-122"/>
                <a:cs typeface="Segoe UI" pitchFamily="34" charset="-120"/>
              </a:rPr>
              <a:t>across all my content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6"/>
          <p:cNvSpPr/>
          <p:nvPr/>
        </p:nvSpPr>
        <p:spPr>
          <a:xfrm>
            <a:off x="2894076" y="4425696"/>
            <a:ext cx="19202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1" i="0" u="none" strike="noStrike" kern="0" cap="none" spc="90" normalizeH="0" baseline="0" noProof="0" dirty="0">
                <a:ln>
                  <a:noFill/>
                </a:ln>
                <a:solidFill>
                  <a:srgbClr val="00B7C3"/>
                </a:solidFill>
                <a:effectLst/>
                <a:uLnTx/>
                <a:uFillTx/>
                <a:latin typeface="Segoe UI" pitchFamily="34" charset="0"/>
                <a:ea typeface="Segoe UI" pitchFamily="34" charset="-122"/>
                <a:cs typeface="Segoe UI" pitchFamily="34" charset="-120"/>
              </a:rPr>
              <a:t>CONTEXT USED</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7"/>
          <p:cNvSpPr/>
          <p:nvPr/>
        </p:nvSpPr>
        <p:spPr>
          <a:xfrm>
            <a:off x="2875788" y="4626864"/>
            <a:ext cx="1956816" cy="512064"/>
          </a:xfrm>
          <a:prstGeom prst="rect">
            <a:avLst/>
          </a:prstGeom>
          <a:noFill/>
          <a:ln/>
        </p:spPr>
        <p:txBody>
          <a:bodyPr wrap="square" lIns="0" tIns="0" rIns="0" bIns="0" rtlCol="0" anchor="ctr"/>
          <a:lstStyle/>
          <a:p>
            <a:pPr marL="0" marR="0" lvl="0" indent="0" algn="ctr" defTabSz="914400" rtl="0" eaLnBrk="1" fontAlgn="auto" latinLnBrk="0" hangingPunct="1">
              <a:lnSpc>
                <a:spcPct val="9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875"/>
                </a:solidFill>
                <a:effectLst/>
                <a:uLnTx/>
                <a:uFillTx/>
                <a:latin typeface="Segoe UI" pitchFamily="34" charset="0"/>
                <a:ea typeface="Segoe UI" pitchFamily="34" charset="-122"/>
                <a:cs typeface="Segoe UI" pitchFamily="34" charset="-120"/>
              </a:rPr>
              <a:t>Semantic models I am</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875"/>
                </a:solidFill>
                <a:effectLst/>
                <a:uLnTx/>
                <a:uFillTx/>
                <a:latin typeface="Segoe UI" pitchFamily="34" charset="0"/>
                <a:ea typeface="Segoe UI" pitchFamily="34" charset="-122"/>
                <a:cs typeface="Segoe UI" pitchFamily="34" charset="-120"/>
              </a:rPr>
              <a:t>permitted to see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28"/>
          <p:cNvSpPr/>
          <p:nvPr/>
        </p:nvSpPr>
        <p:spPr>
          <a:xfrm>
            <a:off x="5042916" y="2286000"/>
            <a:ext cx="2103120" cy="3218688"/>
          </a:xfrm>
          <a:prstGeom prst="roundRect">
            <a:avLst>
              <a:gd name="adj" fmla="val 2609"/>
            </a:avLst>
          </a:prstGeom>
          <a:solidFill>
            <a:srgbClr val="FFFFFF"/>
          </a:solidFill>
          <a:ln w="9525">
            <a:solidFill>
              <a:srgbClr val="D8E2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3" name="Image 2" descr="C:\Users\amolmanocha\OneDrive - Microsoft\Documents\Microsoft Scout\deck-assets\data_agent_64_item.png"/>
          <p:cNvPicPr>
            <a:picLocks noChangeAspect="1"/>
          </p:cNvPicPr>
          <p:nvPr/>
        </p:nvPicPr>
        <p:blipFill>
          <a:blip r:embed="rId5"/>
          <a:stretch>
            <a:fillRect/>
          </a:stretch>
        </p:blipFill>
        <p:spPr>
          <a:xfrm>
            <a:off x="5920740" y="2487168"/>
            <a:ext cx="347472" cy="347472"/>
          </a:xfrm>
          <a:prstGeom prst="rect">
            <a:avLst/>
          </a:prstGeom>
        </p:spPr>
      </p:pic>
      <p:sp>
        <p:nvSpPr>
          <p:cNvPr id="34" name="Text 29"/>
          <p:cNvSpPr/>
          <p:nvPr/>
        </p:nvSpPr>
        <p:spPr>
          <a:xfrm>
            <a:off x="5134356" y="2926080"/>
            <a:ext cx="1920240" cy="566928"/>
          </a:xfrm>
          <a:prstGeom prst="rect">
            <a:avLst/>
          </a:prstGeom>
          <a:noFill/>
          <a:ln/>
        </p:spPr>
        <p:txBody>
          <a:bodyPr wrap="square" lIns="0" tIns="0" rIns="0" bIns="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1B1F"/>
                </a:solidFill>
                <a:effectLst/>
                <a:uLnTx/>
                <a:uFillTx/>
                <a:latin typeface="Segoe UI" pitchFamily="34" charset="0"/>
                <a:ea typeface="Segoe UI" pitchFamily="34" charset="-122"/>
                <a:cs typeface="Segoe UI" pitchFamily="34" charset="-120"/>
              </a:rPr>
              <a:t>Fabric</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1B1F"/>
                </a:solidFill>
                <a:effectLst/>
                <a:uLnTx/>
                <a:uFillTx/>
                <a:latin typeface="Segoe UI" pitchFamily="34" charset="0"/>
                <a:ea typeface="Segoe UI" pitchFamily="34" charset="-122"/>
                <a:cs typeface="Segoe UI" pitchFamily="34" charset="-120"/>
              </a:rPr>
              <a:t>data agents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0"/>
          <p:cNvSpPr/>
          <p:nvPr/>
        </p:nvSpPr>
        <p:spPr>
          <a:xfrm>
            <a:off x="5500116" y="3566159"/>
            <a:ext cx="1188720" cy="10973"/>
          </a:xfrm>
          <a:prstGeom prst="rect">
            <a:avLst/>
          </a:prstGeom>
          <a:solidFill>
            <a:srgbClr val="D8E2EE"/>
          </a:solidFill>
          <a:ln w="12700">
            <a:solidFill>
              <a:srgbClr val="D8E2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1"/>
          <p:cNvSpPr/>
          <p:nvPr/>
        </p:nvSpPr>
        <p:spPr>
          <a:xfrm>
            <a:off x="5134356" y="3675887"/>
            <a:ext cx="19202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1" i="0" u="none" strike="noStrike" kern="0" cap="none" spc="90" normalizeH="0" baseline="0" noProof="0" dirty="0">
                <a:ln>
                  <a:noFill/>
                </a:ln>
                <a:solidFill>
                  <a:srgbClr val="0078D4"/>
                </a:solidFill>
                <a:effectLst/>
                <a:uLnTx/>
                <a:uFillTx/>
                <a:latin typeface="Segoe UI" pitchFamily="34" charset="0"/>
                <a:ea typeface="Segoe UI" pitchFamily="34" charset="-122"/>
                <a:cs typeface="Segoe UI" pitchFamily="34" charset="-120"/>
              </a:rPr>
              <a:t>USER NEED</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2"/>
          <p:cNvSpPr/>
          <p:nvPr/>
        </p:nvSpPr>
        <p:spPr>
          <a:xfrm>
            <a:off x="5116068" y="3877055"/>
            <a:ext cx="1956816" cy="512064"/>
          </a:xfrm>
          <a:prstGeom prst="rect">
            <a:avLst/>
          </a:prstGeom>
          <a:noFill/>
          <a:ln/>
        </p:spPr>
        <p:txBody>
          <a:bodyPr wrap="square" lIns="0" tIns="0" rIns="0" bIns="0" rtlCol="0" anchor="ctr"/>
          <a:lstStyle/>
          <a:p>
            <a:pPr marL="0" marR="0" lvl="0" indent="0" algn="ctr" defTabSz="914400" rtl="0" eaLnBrk="1" fontAlgn="auto" latinLnBrk="0" hangingPunct="1">
              <a:lnSpc>
                <a:spcPct val="9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B1F"/>
                </a:solidFill>
                <a:effectLst/>
                <a:uLnTx/>
                <a:uFillTx/>
                <a:latin typeface="Segoe UI" pitchFamily="34" charset="0"/>
                <a:ea typeface="Segoe UI" pitchFamily="34" charset="-122"/>
                <a:cs typeface="Segoe UI" pitchFamily="34" charset="-120"/>
              </a:rPr>
              <a:t>Answer domain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B1F"/>
                </a:solidFill>
                <a:effectLst/>
                <a:uLnTx/>
                <a:uFillTx/>
                <a:latin typeface="Segoe UI" pitchFamily="34" charset="0"/>
                <a:ea typeface="Segoe UI" pitchFamily="34" charset="-122"/>
                <a:cs typeface="Segoe UI" pitchFamily="34" charset="-120"/>
              </a:rPr>
              <a:t>questions reliably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3"/>
          <p:cNvSpPr/>
          <p:nvPr/>
        </p:nvSpPr>
        <p:spPr>
          <a:xfrm>
            <a:off x="5134356" y="4425696"/>
            <a:ext cx="19202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1" i="0" u="none" strike="noStrike" kern="0" cap="none" spc="90" normalizeH="0" baseline="0" noProof="0" dirty="0">
                <a:ln>
                  <a:noFill/>
                </a:ln>
                <a:solidFill>
                  <a:srgbClr val="00B7C3"/>
                </a:solidFill>
                <a:effectLst/>
                <a:uLnTx/>
                <a:uFillTx/>
                <a:latin typeface="Segoe UI" pitchFamily="34" charset="0"/>
                <a:ea typeface="Segoe UI" pitchFamily="34" charset="-122"/>
                <a:cs typeface="Segoe UI" pitchFamily="34" charset="-120"/>
              </a:rPr>
              <a:t>CONTEXT USED</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4"/>
          <p:cNvSpPr/>
          <p:nvPr/>
        </p:nvSpPr>
        <p:spPr>
          <a:xfrm>
            <a:off x="5116068" y="4626864"/>
            <a:ext cx="1956816" cy="512064"/>
          </a:xfrm>
          <a:prstGeom prst="rect">
            <a:avLst/>
          </a:prstGeom>
          <a:noFill/>
          <a:ln/>
        </p:spPr>
        <p:txBody>
          <a:bodyPr wrap="square" lIns="0" tIns="0" rIns="0" bIns="0" rtlCol="0" anchor="ctr"/>
          <a:lstStyle/>
          <a:p>
            <a:pPr marL="0" marR="0" lvl="0" indent="0" algn="ctr" defTabSz="914400" rtl="0" eaLnBrk="1" fontAlgn="auto" latinLnBrk="0" hangingPunct="1">
              <a:lnSpc>
                <a:spcPct val="9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875"/>
                </a:solidFill>
                <a:effectLst/>
                <a:uLnTx/>
                <a:uFillTx/>
                <a:latin typeface="Segoe UI" pitchFamily="34" charset="0"/>
                <a:ea typeface="Segoe UI" pitchFamily="34" charset="-122"/>
                <a:cs typeface="Segoe UI" pitchFamily="34" charset="-120"/>
              </a:rPr>
              <a:t>Selected sources and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875"/>
                </a:solidFill>
                <a:effectLst/>
                <a:uLnTx/>
                <a:uFillTx/>
                <a:latin typeface="Segoe UI" pitchFamily="34" charset="0"/>
                <a:ea typeface="Segoe UI" pitchFamily="34" charset="-122"/>
                <a:cs typeface="Segoe UI" pitchFamily="34" charset="-120"/>
              </a:rPr>
              <a:t>curated instructions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5"/>
          <p:cNvSpPr/>
          <p:nvPr/>
        </p:nvSpPr>
        <p:spPr>
          <a:xfrm>
            <a:off x="7283196" y="2286000"/>
            <a:ext cx="2103120" cy="3218688"/>
          </a:xfrm>
          <a:prstGeom prst="roundRect">
            <a:avLst>
              <a:gd name="adj" fmla="val 2609"/>
            </a:avLst>
          </a:prstGeom>
          <a:solidFill>
            <a:srgbClr val="FFFFFF"/>
          </a:solidFill>
          <a:ln w="9525">
            <a:solidFill>
              <a:srgbClr val="D8E2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6"/>
          <p:cNvSpPr/>
          <p:nvPr/>
        </p:nvSpPr>
        <p:spPr>
          <a:xfrm>
            <a:off x="8133588" y="2450591"/>
            <a:ext cx="402336" cy="402336"/>
          </a:xfrm>
          <a:prstGeom prst="ellipse">
            <a:avLst/>
          </a:prstGeom>
          <a:solidFill>
            <a:srgbClr val="EEF4FB"/>
          </a:solidFill>
          <a:ln w="9525">
            <a:solidFill>
              <a:srgbClr val="C4D6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7"/>
          <p:cNvSpPr/>
          <p:nvPr/>
        </p:nvSpPr>
        <p:spPr>
          <a:xfrm>
            <a:off x="8133588" y="2450591"/>
            <a:ext cx="402336" cy="40233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38"/>
          <p:cNvSpPr/>
          <p:nvPr/>
        </p:nvSpPr>
        <p:spPr>
          <a:xfrm>
            <a:off x="7374636" y="2926080"/>
            <a:ext cx="1920240" cy="566928"/>
          </a:xfrm>
          <a:prstGeom prst="rect">
            <a:avLst/>
          </a:prstGeom>
          <a:noFill/>
          <a:ln/>
        </p:spPr>
        <p:txBody>
          <a:bodyPr wrap="square" lIns="0" tIns="0" rIns="0" bIns="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1B1F"/>
                </a:solidFill>
                <a:effectLst/>
                <a:uLnTx/>
                <a:uFillTx/>
                <a:latin typeface="Segoe UI" pitchFamily="34" charset="0"/>
                <a:ea typeface="Segoe UI" pitchFamily="34" charset="-122"/>
                <a:cs typeface="Segoe UI" pitchFamily="34" charset="-120"/>
              </a:rPr>
              <a:t>Fabric IQ</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39"/>
          <p:cNvSpPr/>
          <p:nvPr/>
        </p:nvSpPr>
        <p:spPr>
          <a:xfrm>
            <a:off x="7740396" y="3566159"/>
            <a:ext cx="1188720" cy="10973"/>
          </a:xfrm>
          <a:prstGeom prst="rect">
            <a:avLst/>
          </a:prstGeom>
          <a:solidFill>
            <a:srgbClr val="D8E2EE"/>
          </a:solidFill>
          <a:ln w="12700">
            <a:solidFill>
              <a:srgbClr val="D8E2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Text 40"/>
          <p:cNvSpPr/>
          <p:nvPr/>
        </p:nvSpPr>
        <p:spPr>
          <a:xfrm>
            <a:off x="7374636" y="3675887"/>
            <a:ext cx="19202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1" i="0" u="none" strike="noStrike" kern="0" cap="none" spc="90" normalizeH="0" baseline="0" noProof="0" dirty="0">
                <a:ln>
                  <a:noFill/>
                </a:ln>
                <a:solidFill>
                  <a:srgbClr val="0078D4"/>
                </a:solidFill>
                <a:effectLst/>
                <a:uLnTx/>
                <a:uFillTx/>
                <a:latin typeface="Segoe UI" pitchFamily="34" charset="0"/>
                <a:ea typeface="Segoe UI" pitchFamily="34" charset="-122"/>
                <a:cs typeface="Segoe UI" pitchFamily="34" charset="-120"/>
              </a:rPr>
              <a:t>USER NEED</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Text 41"/>
          <p:cNvSpPr/>
          <p:nvPr/>
        </p:nvSpPr>
        <p:spPr>
          <a:xfrm>
            <a:off x="7356348" y="3877055"/>
            <a:ext cx="1956816" cy="512064"/>
          </a:xfrm>
          <a:prstGeom prst="rect">
            <a:avLst/>
          </a:prstGeom>
          <a:noFill/>
          <a:ln/>
        </p:spPr>
        <p:txBody>
          <a:bodyPr wrap="square" lIns="0" tIns="0" rIns="0" bIns="0" rtlCol="0" anchor="ctr"/>
          <a:lstStyle/>
          <a:p>
            <a:pPr marL="0" marR="0" lvl="0" indent="0" algn="ctr" defTabSz="914400" rtl="0" eaLnBrk="1" fontAlgn="auto" latinLnBrk="0" hangingPunct="1">
              <a:lnSpc>
                <a:spcPct val="9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B1F"/>
                </a:solidFill>
                <a:effectLst/>
                <a:uLnTx/>
                <a:uFillTx/>
                <a:latin typeface="Segoe UI" pitchFamily="34" charset="0"/>
                <a:ea typeface="Segoe UI" pitchFamily="34" charset="-122"/>
                <a:cs typeface="Segoe UI" pitchFamily="34" charset="-120"/>
              </a:rPr>
              <a:t>Use one shared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B1F"/>
                </a:solidFill>
                <a:effectLst/>
                <a:uLnTx/>
                <a:uFillTx/>
                <a:latin typeface="Segoe UI" pitchFamily="34" charset="0"/>
                <a:ea typeface="Segoe UI" pitchFamily="34" charset="-122"/>
                <a:cs typeface="Segoe UI" pitchFamily="34" charset="-120"/>
              </a:rPr>
              <a:t>business meaning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42"/>
          <p:cNvSpPr/>
          <p:nvPr/>
        </p:nvSpPr>
        <p:spPr>
          <a:xfrm>
            <a:off x="7374636" y="4425696"/>
            <a:ext cx="19202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1" i="0" u="none" strike="noStrike" kern="0" cap="none" spc="90" normalizeH="0" baseline="0" noProof="0" dirty="0">
                <a:ln>
                  <a:noFill/>
                </a:ln>
                <a:solidFill>
                  <a:srgbClr val="00B7C3"/>
                </a:solidFill>
                <a:effectLst/>
                <a:uLnTx/>
                <a:uFillTx/>
                <a:latin typeface="Segoe UI" pitchFamily="34" charset="0"/>
                <a:ea typeface="Segoe UI" pitchFamily="34" charset="-122"/>
                <a:cs typeface="Segoe UI" pitchFamily="34" charset="-120"/>
              </a:rPr>
              <a:t>CONTEXT USED</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43"/>
          <p:cNvSpPr/>
          <p:nvPr/>
        </p:nvSpPr>
        <p:spPr>
          <a:xfrm>
            <a:off x="7356348" y="4626864"/>
            <a:ext cx="1956816" cy="512064"/>
          </a:xfrm>
          <a:prstGeom prst="rect">
            <a:avLst/>
          </a:prstGeom>
          <a:noFill/>
          <a:ln/>
        </p:spPr>
        <p:txBody>
          <a:bodyPr wrap="square" lIns="0" tIns="0" rIns="0" bIns="0" rtlCol="0" anchor="ctr"/>
          <a:lstStyle/>
          <a:p>
            <a:pPr marL="0" marR="0" lvl="0" indent="0" algn="ctr" defTabSz="914400" rtl="0" eaLnBrk="1" fontAlgn="auto" latinLnBrk="0" hangingPunct="1">
              <a:lnSpc>
                <a:spcPct val="9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875"/>
                </a:solidFill>
                <a:effectLst/>
                <a:uLnTx/>
                <a:uFillTx/>
                <a:latin typeface="Segoe UI" pitchFamily="34" charset="0"/>
                <a:ea typeface="Segoe UI" pitchFamily="34" charset="-122"/>
                <a:cs typeface="Segoe UI" pitchFamily="34" charset="-120"/>
              </a:rPr>
              <a:t>Ontologies over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875"/>
                </a:solidFill>
                <a:effectLst/>
                <a:uLnTx/>
                <a:uFillTx/>
                <a:latin typeface="Segoe UI" pitchFamily="34" charset="0"/>
                <a:ea typeface="Segoe UI" pitchFamily="34" charset="-122"/>
                <a:cs typeface="Segoe UI" pitchFamily="34" charset="-120"/>
              </a:rPr>
              <a:t>governed Fabric data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hape 44"/>
          <p:cNvSpPr/>
          <p:nvPr/>
        </p:nvSpPr>
        <p:spPr>
          <a:xfrm>
            <a:off x="8051292" y="5157216"/>
            <a:ext cx="566928" cy="237744"/>
          </a:xfrm>
          <a:prstGeom prst="roundRect">
            <a:avLst>
              <a:gd name="adj" fmla="val 192308"/>
            </a:avLst>
          </a:prstGeom>
          <a:solidFill>
            <a:srgbClr val="FCE9C8"/>
          </a:solidFill>
          <a:ln w="12700">
            <a:solidFill>
              <a:srgbClr val="FCE9C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Text 45"/>
          <p:cNvSpPr/>
          <p:nvPr/>
        </p:nvSpPr>
        <p:spPr>
          <a:xfrm>
            <a:off x="8051292" y="5157216"/>
            <a:ext cx="566928"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1" i="0" u="none" strike="noStrike" kern="0" cap="none" spc="80" normalizeH="0" baseline="0" noProof="0" dirty="0">
                <a:ln>
                  <a:noFill/>
                </a:ln>
                <a:solidFill>
                  <a:srgbClr val="7A4F00"/>
                </a:solidFill>
                <a:effectLst/>
                <a:uLnTx/>
                <a:uFillTx/>
                <a:latin typeface="Segoe UI" pitchFamily="34" charset="0"/>
                <a:ea typeface="Segoe UI" pitchFamily="34" charset="-122"/>
                <a:cs typeface="Segoe UI" pitchFamily="34" charset="-120"/>
              </a:rPr>
              <a:t>PREVIEW</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Shape 46"/>
          <p:cNvSpPr/>
          <p:nvPr/>
        </p:nvSpPr>
        <p:spPr>
          <a:xfrm>
            <a:off x="9523476" y="2286000"/>
            <a:ext cx="2103120" cy="3218688"/>
          </a:xfrm>
          <a:prstGeom prst="roundRect">
            <a:avLst>
              <a:gd name="adj" fmla="val 2609"/>
            </a:avLst>
          </a:prstGeom>
          <a:solidFill>
            <a:srgbClr val="FFFFFF"/>
          </a:solidFill>
          <a:ln w="9525">
            <a:solidFill>
              <a:srgbClr val="D8E2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2" name="Image 3" descr="C:\Users\amolmanocha\OneDrive - Microsoft\Documents\Microsoft Scout\deck-assets\copilot_48_color.png"/>
          <p:cNvPicPr>
            <a:picLocks noChangeAspect="1"/>
          </p:cNvPicPr>
          <p:nvPr/>
        </p:nvPicPr>
        <p:blipFill>
          <a:blip r:embed="rId4"/>
          <a:stretch>
            <a:fillRect/>
          </a:stretch>
        </p:blipFill>
        <p:spPr>
          <a:xfrm>
            <a:off x="10401300" y="2487168"/>
            <a:ext cx="347472" cy="347472"/>
          </a:xfrm>
          <a:prstGeom prst="rect">
            <a:avLst/>
          </a:prstGeom>
        </p:spPr>
      </p:pic>
      <p:sp>
        <p:nvSpPr>
          <p:cNvPr id="53" name="Text 47"/>
          <p:cNvSpPr/>
          <p:nvPr/>
        </p:nvSpPr>
        <p:spPr>
          <a:xfrm>
            <a:off x="9614916" y="2926080"/>
            <a:ext cx="1920240" cy="566928"/>
          </a:xfrm>
          <a:prstGeom prst="rect">
            <a:avLst/>
          </a:prstGeom>
          <a:noFill/>
          <a:ln/>
        </p:spPr>
        <p:txBody>
          <a:bodyPr wrap="square" lIns="0" tIns="0" rIns="0" bIns="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1B1F"/>
                </a:solidFill>
                <a:effectLst/>
                <a:uLnTx/>
                <a:uFillTx/>
                <a:latin typeface="Segoe UI" pitchFamily="34" charset="0"/>
                <a:ea typeface="Segoe UI" pitchFamily="34" charset="-122"/>
                <a:cs typeface="Segoe UI" pitchFamily="34" charset="-120"/>
              </a:rPr>
              <a:t>Microsoft 365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1B1F"/>
                </a:solidFill>
                <a:effectLst/>
                <a:uLnTx/>
                <a:uFillTx/>
                <a:latin typeface="Segoe UI" pitchFamily="34" charset="0"/>
                <a:ea typeface="Segoe UI" pitchFamily="34" charset="-122"/>
                <a:cs typeface="Segoe UI" pitchFamily="34" charset="-120"/>
              </a:rPr>
              <a:t>Copilot + Cowork</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Shape 48"/>
          <p:cNvSpPr/>
          <p:nvPr/>
        </p:nvSpPr>
        <p:spPr>
          <a:xfrm>
            <a:off x="9980676" y="3566159"/>
            <a:ext cx="1188720" cy="10973"/>
          </a:xfrm>
          <a:prstGeom prst="rect">
            <a:avLst/>
          </a:prstGeom>
          <a:solidFill>
            <a:srgbClr val="D8E2EE"/>
          </a:solidFill>
          <a:ln w="12700">
            <a:solidFill>
              <a:srgbClr val="D8E2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49"/>
          <p:cNvSpPr/>
          <p:nvPr/>
        </p:nvSpPr>
        <p:spPr>
          <a:xfrm>
            <a:off x="9614916" y="3675887"/>
            <a:ext cx="19202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1" i="0" u="none" strike="noStrike" kern="0" cap="none" spc="90" normalizeH="0" baseline="0" noProof="0" dirty="0">
                <a:ln>
                  <a:noFill/>
                </a:ln>
                <a:solidFill>
                  <a:srgbClr val="0078D4"/>
                </a:solidFill>
                <a:effectLst/>
                <a:uLnTx/>
                <a:uFillTx/>
                <a:latin typeface="Segoe UI" pitchFamily="34" charset="0"/>
                <a:ea typeface="Segoe UI" pitchFamily="34" charset="-122"/>
                <a:cs typeface="Segoe UI" pitchFamily="34" charset="-120"/>
              </a:rPr>
              <a:t>USER NEED</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50"/>
          <p:cNvSpPr/>
          <p:nvPr/>
        </p:nvSpPr>
        <p:spPr>
          <a:xfrm>
            <a:off x="9596628" y="3877055"/>
            <a:ext cx="1956816" cy="512064"/>
          </a:xfrm>
          <a:prstGeom prst="rect">
            <a:avLst/>
          </a:prstGeom>
          <a:noFill/>
          <a:ln/>
        </p:spPr>
        <p:txBody>
          <a:bodyPr wrap="square" lIns="0" tIns="0" rIns="0" bIns="0" rtlCol="0" anchor="ctr"/>
          <a:lstStyle/>
          <a:p>
            <a:pPr marL="0" marR="0" lvl="0" indent="0" algn="ctr" defTabSz="914400" rtl="0" eaLnBrk="1" fontAlgn="auto" latinLnBrk="0" hangingPunct="1">
              <a:lnSpc>
                <a:spcPct val="9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B1F"/>
                </a:solidFill>
                <a:effectLst/>
                <a:uLnTx/>
                <a:uFillTx/>
                <a:latin typeface="Segoe UI" pitchFamily="34" charset="0"/>
                <a:ea typeface="Segoe UI" pitchFamily="34" charset="-122"/>
                <a:cs typeface="Segoe UI" pitchFamily="34" charset="-120"/>
              </a:rPr>
              <a:t>Act without leaving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B1B1F"/>
                </a:solidFill>
                <a:effectLst/>
                <a:uLnTx/>
                <a:uFillTx/>
                <a:latin typeface="Segoe UI" pitchFamily="34" charset="0"/>
                <a:ea typeface="Segoe UI" pitchFamily="34" charset="-122"/>
                <a:cs typeface="Segoe UI" pitchFamily="34" charset="-120"/>
              </a:rPr>
              <a:t>my workflow</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Text 51"/>
          <p:cNvSpPr/>
          <p:nvPr/>
        </p:nvSpPr>
        <p:spPr>
          <a:xfrm>
            <a:off x="9614916" y="4425696"/>
            <a:ext cx="19202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1" i="0" u="none" strike="noStrike" kern="0" cap="none" spc="90" normalizeH="0" baseline="0" noProof="0" dirty="0">
                <a:ln>
                  <a:noFill/>
                </a:ln>
                <a:solidFill>
                  <a:srgbClr val="00B7C3"/>
                </a:solidFill>
                <a:effectLst/>
                <a:uLnTx/>
                <a:uFillTx/>
                <a:latin typeface="Segoe UI" pitchFamily="34" charset="0"/>
                <a:ea typeface="Segoe UI" pitchFamily="34" charset="-122"/>
                <a:cs typeface="Segoe UI" pitchFamily="34" charset="-120"/>
              </a:rPr>
              <a:t>CONTEXT USED</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Text 52"/>
          <p:cNvSpPr/>
          <p:nvPr/>
        </p:nvSpPr>
        <p:spPr>
          <a:xfrm>
            <a:off x="9596628" y="4626864"/>
            <a:ext cx="1956816" cy="512064"/>
          </a:xfrm>
          <a:prstGeom prst="rect">
            <a:avLst/>
          </a:prstGeom>
          <a:noFill/>
          <a:ln/>
        </p:spPr>
        <p:txBody>
          <a:bodyPr wrap="square" lIns="0" tIns="0" rIns="0" bIns="0" rtlCol="0" anchor="ctr"/>
          <a:lstStyle/>
          <a:p>
            <a:pPr marL="0" marR="0" lvl="0" indent="0" algn="ctr" defTabSz="914400" rtl="0" eaLnBrk="1" fontAlgn="auto" latinLnBrk="0" hangingPunct="1">
              <a:lnSpc>
                <a:spcPct val="9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875"/>
                </a:solidFill>
                <a:effectLst/>
                <a:uLnTx/>
                <a:uFillTx/>
                <a:latin typeface="Segoe UI" pitchFamily="34" charset="0"/>
                <a:ea typeface="Segoe UI" pitchFamily="34" charset="-122"/>
                <a:cs typeface="Segoe UI" pitchFamily="34" charset="-120"/>
              </a:rPr>
              <a:t>Fabric insight in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8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B6875"/>
                </a:solidFill>
                <a:effectLst/>
                <a:uLnTx/>
                <a:uFillTx/>
                <a:latin typeface="Segoe UI" pitchFamily="34" charset="0"/>
                <a:ea typeface="Segoe UI" pitchFamily="34" charset="-122"/>
                <a:cs typeface="Segoe UI" pitchFamily="34" charset="-120"/>
              </a:rPr>
              <a:t>daily work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Text 55"/>
          <p:cNvSpPr/>
          <p:nvPr/>
        </p:nvSpPr>
        <p:spPr>
          <a:xfrm>
            <a:off x="685800" y="6437376"/>
            <a:ext cx="64008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9AA8B6"/>
                </a:solidFill>
                <a:effectLst/>
                <a:uLnTx/>
                <a:uFillTx/>
                <a:latin typeface="Segoe UI" pitchFamily="34" charset="0"/>
                <a:ea typeface="Segoe UI" pitchFamily="34" charset="-122"/>
                <a:cs typeface="Segoe UI" pitchFamily="34" charset="-120"/>
              </a:rPr>
              <a:t>Microsoft  |  Conversational AI in Microsoft Fabric</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Text 56"/>
          <p:cNvSpPr/>
          <p:nvPr/>
        </p:nvSpPr>
        <p:spPr>
          <a:xfrm>
            <a:off x="11064240" y="6437376"/>
            <a:ext cx="438912" cy="23774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9AA8B6"/>
                </a:solidFill>
                <a:effectLst/>
                <a:uLnTx/>
                <a:uFillTx/>
                <a:latin typeface="Segoe UI" pitchFamily="34" charset="0"/>
                <a:ea typeface="Segoe UI" pitchFamily="34" charset="-122"/>
                <a:cs typeface="Segoe UI" pitchFamily="34" charset="-120"/>
              </a:rPr>
              <a:t>5</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0" name="Picture 59" descr="Microsoft Fabric logo">
            <a:extLst>
              <a:ext uri="{FF2B5EF4-FFF2-40B4-BE49-F238E27FC236}">
                <a16:creationId xmlns:a16="http://schemas.microsoft.com/office/drawing/2014/main" id="{DEFAA993-DF2E-6FA4-DAAB-C54E57FD4995}"/>
              </a:ext>
            </a:extLst>
          </p:cNvPr>
          <p:cNvPicPr>
            <a:picLocks noChangeAspect="1"/>
          </p:cNvPicPr>
          <p:nvPr/>
        </p:nvPicPr>
        <p:blipFill>
          <a:blip r:embed="rId6"/>
          <a:stretch>
            <a:fillRect/>
          </a:stretch>
        </p:blipFill>
        <p:spPr>
          <a:xfrm>
            <a:off x="8213632" y="2532887"/>
            <a:ext cx="292608" cy="292608"/>
          </a:xfrm>
          <a:prstGeom prst="rect">
            <a:avLst/>
          </a:prstGeom>
        </p:spPr>
      </p:pic>
      <p:sp>
        <p:nvSpPr>
          <p:cNvPr id="64" name="Shape 38">
            <a:extLst>
              <a:ext uri="{FF2B5EF4-FFF2-40B4-BE49-F238E27FC236}">
                <a16:creationId xmlns:a16="http://schemas.microsoft.com/office/drawing/2014/main" id="{49733E71-2503-C811-E22C-75D52A44073A}"/>
              </a:ext>
            </a:extLst>
          </p:cNvPr>
          <p:cNvSpPr/>
          <p:nvPr/>
        </p:nvSpPr>
        <p:spPr>
          <a:xfrm>
            <a:off x="562355" y="5623560"/>
            <a:ext cx="11064240" cy="731520"/>
          </a:xfrm>
          <a:prstGeom prst="roundRect">
            <a:avLst>
              <a:gd name="adj" fmla="val 4839"/>
            </a:avLst>
          </a:prstGeom>
          <a:solidFill>
            <a:srgbClr val="0F2A47"/>
          </a:solidFill>
          <a:ln w="12700">
            <a:solidFill>
              <a:srgbClr val="0F2A47"/>
            </a:solidFill>
            <a:prstDash val="solid"/>
          </a:ln>
        </p:spPr>
        <p:txBody>
          <a:bodyPr/>
          <a:lstStyle/>
          <a:p>
            <a:endParaRPr lang="en-US"/>
          </a:p>
        </p:txBody>
      </p:sp>
      <p:sp>
        <p:nvSpPr>
          <p:cNvPr id="66" name="Text 39">
            <a:extLst>
              <a:ext uri="{FF2B5EF4-FFF2-40B4-BE49-F238E27FC236}">
                <a16:creationId xmlns:a16="http://schemas.microsoft.com/office/drawing/2014/main" id="{07C20146-4A8B-CE6E-6B16-B67FFF15726B}"/>
              </a:ext>
            </a:extLst>
          </p:cNvPr>
          <p:cNvSpPr/>
          <p:nvPr/>
        </p:nvSpPr>
        <p:spPr>
          <a:xfrm>
            <a:off x="859535" y="5705856"/>
            <a:ext cx="4937760" cy="292608"/>
          </a:xfrm>
          <a:prstGeom prst="rect">
            <a:avLst/>
          </a:prstGeom>
          <a:noFill/>
          <a:ln/>
        </p:spPr>
        <p:txBody>
          <a:bodyPr wrap="square" lIns="0" tIns="0" rIns="0" bIns="0" rtlCol="0" anchor="ctr"/>
          <a:lstStyle/>
          <a:p>
            <a:pPr marL="0" indent="0">
              <a:buNone/>
            </a:pPr>
            <a:r>
              <a:rPr lang="en-US" sz="1350" b="1" dirty="0">
                <a:solidFill>
                  <a:srgbClr val="FFFFFF"/>
                </a:solidFill>
                <a:latin typeface="Segoe UI" pitchFamily="34" charset="0"/>
                <a:ea typeface="Segoe UI" pitchFamily="34" charset="-122"/>
                <a:cs typeface="Segoe UI" pitchFamily="34" charset="-120"/>
              </a:rPr>
              <a:t>One governed data and semantic foundation</a:t>
            </a:r>
            <a:endParaRPr lang="en-US" sz="1350" dirty="0"/>
          </a:p>
        </p:txBody>
      </p:sp>
      <p:sp>
        <p:nvSpPr>
          <p:cNvPr id="68" name="Text 40">
            <a:extLst>
              <a:ext uri="{FF2B5EF4-FFF2-40B4-BE49-F238E27FC236}">
                <a16:creationId xmlns:a16="http://schemas.microsoft.com/office/drawing/2014/main" id="{DEAD588D-583A-8840-AF47-6A714B8691B3}"/>
              </a:ext>
            </a:extLst>
          </p:cNvPr>
          <p:cNvSpPr/>
          <p:nvPr/>
        </p:nvSpPr>
        <p:spPr>
          <a:xfrm>
            <a:off x="859535" y="5998464"/>
            <a:ext cx="5120640" cy="274320"/>
          </a:xfrm>
          <a:prstGeom prst="rect">
            <a:avLst/>
          </a:prstGeom>
          <a:noFill/>
          <a:ln/>
        </p:spPr>
        <p:txBody>
          <a:bodyPr wrap="square" lIns="0" tIns="0" rIns="0" bIns="0" rtlCol="0" anchor="ctr"/>
          <a:lstStyle/>
          <a:p>
            <a:pPr marL="0" indent="0">
              <a:buNone/>
            </a:pPr>
            <a:r>
              <a:rPr lang="en-US" sz="1000" dirty="0">
                <a:solidFill>
                  <a:srgbClr val="C2D6E8"/>
                </a:solidFill>
                <a:latin typeface="Segoe UI" pitchFamily="34" charset="0"/>
                <a:ea typeface="Segoe UI" pitchFamily="34" charset="-122"/>
                <a:cs typeface="Segoe UI" pitchFamily="34" charset="-120"/>
              </a:rPr>
              <a:t>Every entry point answers from the same models, definitions and permissions.</a:t>
            </a:r>
            <a:endParaRPr lang="en-US" sz="1000" dirty="0"/>
          </a:p>
        </p:txBody>
      </p:sp>
      <p:pic>
        <p:nvPicPr>
          <p:cNvPr id="70" name="Image 5" descr="C:\Users\amolmanocha\OneDrive - Microsoft\Documents\Microsoft Scout\deck-assets\one_lake_48_color.png">
            <a:extLst>
              <a:ext uri="{FF2B5EF4-FFF2-40B4-BE49-F238E27FC236}">
                <a16:creationId xmlns:a16="http://schemas.microsoft.com/office/drawing/2014/main" id="{B0AA5D5A-5AF7-57E5-B0E2-83B49299C2FC}"/>
              </a:ext>
            </a:extLst>
          </p:cNvPr>
          <p:cNvPicPr>
            <a:picLocks noChangeAspect="1"/>
          </p:cNvPicPr>
          <p:nvPr/>
        </p:nvPicPr>
        <p:blipFill>
          <a:blip r:embed="rId7"/>
          <a:stretch>
            <a:fillRect/>
          </a:stretch>
        </p:blipFill>
        <p:spPr>
          <a:xfrm>
            <a:off x="6565391" y="5705856"/>
            <a:ext cx="292608" cy="292608"/>
          </a:xfrm>
          <a:prstGeom prst="rect">
            <a:avLst/>
          </a:prstGeom>
        </p:spPr>
      </p:pic>
      <p:sp>
        <p:nvSpPr>
          <p:cNvPr id="72" name="Text 41">
            <a:extLst>
              <a:ext uri="{FF2B5EF4-FFF2-40B4-BE49-F238E27FC236}">
                <a16:creationId xmlns:a16="http://schemas.microsoft.com/office/drawing/2014/main" id="{BB0C3082-4454-F810-9690-FFD3B8712900}"/>
              </a:ext>
            </a:extLst>
          </p:cNvPr>
          <p:cNvSpPr/>
          <p:nvPr/>
        </p:nvSpPr>
        <p:spPr>
          <a:xfrm>
            <a:off x="6108191" y="6035040"/>
            <a:ext cx="1207008" cy="274320"/>
          </a:xfrm>
          <a:prstGeom prst="rect">
            <a:avLst/>
          </a:prstGeom>
          <a:noFill/>
          <a:ln/>
        </p:spPr>
        <p:txBody>
          <a:bodyPr wrap="square" lIns="0" tIns="0" rIns="0" bIns="0" rtlCol="0" anchor="ctr"/>
          <a:lstStyle/>
          <a:p>
            <a:pPr marL="0" indent="0" algn="ctr">
              <a:buNone/>
            </a:pPr>
            <a:r>
              <a:rPr lang="en-US" sz="900" dirty="0">
                <a:solidFill>
                  <a:srgbClr val="DCE9F5"/>
                </a:solidFill>
                <a:latin typeface="Segoe UI" pitchFamily="34" charset="0"/>
                <a:ea typeface="Segoe UI" pitchFamily="34" charset="-122"/>
                <a:cs typeface="Segoe UI" pitchFamily="34" charset="-120"/>
              </a:rPr>
              <a:t>OneLake</a:t>
            </a:r>
            <a:endParaRPr lang="en-US" sz="900" dirty="0"/>
          </a:p>
        </p:txBody>
      </p:sp>
      <p:pic>
        <p:nvPicPr>
          <p:cNvPr id="74" name="Image 6" descr="C:\Users\amolmanocha\OneDrive - Microsoft\Documents\Microsoft Scout\deck-assets\semantic_model_64_item.png">
            <a:extLst>
              <a:ext uri="{FF2B5EF4-FFF2-40B4-BE49-F238E27FC236}">
                <a16:creationId xmlns:a16="http://schemas.microsoft.com/office/drawing/2014/main" id="{DE4FDB7C-EEA5-B014-F65E-89F7D921B7A9}"/>
              </a:ext>
            </a:extLst>
          </p:cNvPr>
          <p:cNvPicPr>
            <a:picLocks noChangeAspect="1"/>
          </p:cNvPicPr>
          <p:nvPr/>
        </p:nvPicPr>
        <p:blipFill>
          <a:blip r:embed="rId8"/>
          <a:stretch>
            <a:fillRect/>
          </a:stretch>
        </p:blipFill>
        <p:spPr>
          <a:xfrm>
            <a:off x="7973567" y="5705856"/>
            <a:ext cx="292608" cy="292608"/>
          </a:xfrm>
          <a:prstGeom prst="rect">
            <a:avLst/>
          </a:prstGeom>
        </p:spPr>
      </p:pic>
      <p:sp>
        <p:nvSpPr>
          <p:cNvPr id="76" name="Text 42">
            <a:extLst>
              <a:ext uri="{FF2B5EF4-FFF2-40B4-BE49-F238E27FC236}">
                <a16:creationId xmlns:a16="http://schemas.microsoft.com/office/drawing/2014/main" id="{D4E7C619-BE8D-B642-2591-2AF2752D7D74}"/>
              </a:ext>
            </a:extLst>
          </p:cNvPr>
          <p:cNvSpPr/>
          <p:nvPr/>
        </p:nvSpPr>
        <p:spPr>
          <a:xfrm>
            <a:off x="7516367" y="6035040"/>
            <a:ext cx="1207008" cy="274320"/>
          </a:xfrm>
          <a:prstGeom prst="rect">
            <a:avLst/>
          </a:prstGeom>
          <a:noFill/>
          <a:ln/>
        </p:spPr>
        <p:txBody>
          <a:bodyPr wrap="square" lIns="0" tIns="0" rIns="0" bIns="0" rtlCol="0" anchor="ctr"/>
          <a:lstStyle/>
          <a:p>
            <a:pPr marL="0" indent="0" algn="ctr">
              <a:buNone/>
            </a:pPr>
            <a:r>
              <a:rPr lang="en-US" sz="900" dirty="0">
                <a:solidFill>
                  <a:srgbClr val="DCE9F5"/>
                </a:solidFill>
                <a:latin typeface="Segoe UI" pitchFamily="34" charset="0"/>
                <a:ea typeface="Segoe UI" pitchFamily="34" charset="-122"/>
                <a:cs typeface="Segoe UI" pitchFamily="34" charset="-120"/>
              </a:rPr>
              <a:t>Semantic models</a:t>
            </a:r>
            <a:endParaRPr lang="en-US" sz="900" dirty="0"/>
          </a:p>
        </p:txBody>
      </p:sp>
      <p:pic>
        <p:nvPicPr>
          <p:cNvPr id="78" name="Image 7" descr="C:\Users\amolmanocha\OneDrive - Microsoft\Documents\Microsoft Scout\deck-assets\shield_w.png">
            <a:extLst>
              <a:ext uri="{FF2B5EF4-FFF2-40B4-BE49-F238E27FC236}">
                <a16:creationId xmlns:a16="http://schemas.microsoft.com/office/drawing/2014/main" id="{17FD12B4-F60F-CB74-9AC3-9B8B54E9C7EA}"/>
              </a:ext>
            </a:extLst>
          </p:cNvPr>
          <p:cNvPicPr>
            <a:picLocks noChangeAspect="1"/>
          </p:cNvPicPr>
          <p:nvPr/>
        </p:nvPicPr>
        <p:blipFill>
          <a:blip r:embed="rId9"/>
          <a:stretch>
            <a:fillRect/>
          </a:stretch>
        </p:blipFill>
        <p:spPr>
          <a:xfrm>
            <a:off x="9381743" y="5705856"/>
            <a:ext cx="292608" cy="292608"/>
          </a:xfrm>
          <a:prstGeom prst="rect">
            <a:avLst/>
          </a:prstGeom>
        </p:spPr>
      </p:pic>
      <p:sp>
        <p:nvSpPr>
          <p:cNvPr id="80" name="Text 43">
            <a:extLst>
              <a:ext uri="{FF2B5EF4-FFF2-40B4-BE49-F238E27FC236}">
                <a16:creationId xmlns:a16="http://schemas.microsoft.com/office/drawing/2014/main" id="{5859BD81-0C0A-FC46-2E8B-0DE2A47AE452}"/>
              </a:ext>
            </a:extLst>
          </p:cNvPr>
          <p:cNvSpPr/>
          <p:nvPr/>
        </p:nvSpPr>
        <p:spPr>
          <a:xfrm>
            <a:off x="8924543" y="6035040"/>
            <a:ext cx="1207008" cy="274320"/>
          </a:xfrm>
          <a:prstGeom prst="rect">
            <a:avLst/>
          </a:prstGeom>
          <a:noFill/>
          <a:ln/>
        </p:spPr>
        <p:txBody>
          <a:bodyPr wrap="square" lIns="0" tIns="0" rIns="0" bIns="0" rtlCol="0" anchor="ctr"/>
          <a:lstStyle/>
          <a:p>
            <a:pPr marL="0" indent="0" algn="ctr">
              <a:buNone/>
            </a:pPr>
            <a:r>
              <a:rPr lang="en-US" sz="900" dirty="0">
                <a:solidFill>
                  <a:srgbClr val="DCE9F5"/>
                </a:solidFill>
                <a:latin typeface="Segoe UI" pitchFamily="34" charset="0"/>
                <a:ea typeface="Segoe UI" pitchFamily="34" charset="-122"/>
                <a:cs typeface="Segoe UI" pitchFamily="34" charset="-120"/>
              </a:rPr>
              <a:t>Governance</a:t>
            </a:r>
            <a:endParaRPr lang="en-US" sz="900" dirty="0"/>
          </a:p>
        </p:txBody>
      </p:sp>
      <p:pic>
        <p:nvPicPr>
          <p:cNvPr id="82" name="Image 8" descr="C:\Users\amolmanocha\OneDrive - Microsoft\Documents\Microsoft Scout\deck-assets\lock_closed_w.png">
            <a:extLst>
              <a:ext uri="{FF2B5EF4-FFF2-40B4-BE49-F238E27FC236}">
                <a16:creationId xmlns:a16="http://schemas.microsoft.com/office/drawing/2014/main" id="{DEDE3A75-60B2-2861-C4EC-86629C94B6C2}"/>
              </a:ext>
            </a:extLst>
          </p:cNvPr>
          <p:cNvPicPr>
            <a:picLocks noChangeAspect="1"/>
          </p:cNvPicPr>
          <p:nvPr/>
        </p:nvPicPr>
        <p:blipFill>
          <a:blip r:embed="rId10"/>
          <a:stretch>
            <a:fillRect/>
          </a:stretch>
        </p:blipFill>
        <p:spPr>
          <a:xfrm>
            <a:off x="10789919" y="5705856"/>
            <a:ext cx="292608" cy="292608"/>
          </a:xfrm>
          <a:prstGeom prst="rect">
            <a:avLst/>
          </a:prstGeom>
        </p:spPr>
      </p:pic>
      <p:sp>
        <p:nvSpPr>
          <p:cNvPr id="84" name="Text 44">
            <a:extLst>
              <a:ext uri="{FF2B5EF4-FFF2-40B4-BE49-F238E27FC236}">
                <a16:creationId xmlns:a16="http://schemas.microsoft.com/office/drawing/2014/main" id="{3ACFBBBE-7D12-98EA-3240-7A2B56B64C2F}"/>
              </a:ext>
            </a:extLst>
          </p:cNvPr>
          <p:cNvSpPr/>
          <p:nvPr/>
        </p:nvSpPr>
        <p:spPr>
          <a:xfrm>
            <a:off x="10332719" y="6035040"/>
            <a:ext cx="1207008" cy="274320"/>
          </a:xfrm>
          <a:prstGeom prst="rect">
            <a:avLst/>
          </a:prstGeom>
          <a:noFill/>
          <a:ln/>
        </p:spPr>
        <p:txBody>
          <a:bodyPr wrap="square" lIns="0" tIns="0" rIns="0" bIns="0" rtlCol="0" anchor="ctr"/>
          <a:lstStyle/>
          <a:p>
            <a:pPr marL="0" indent="0" algn="ctr">
              <a:buNone/>
            </a:pPr>
            <a:r>
              <a:rPr lang="en-US" sz="900" dirty="0">
                <a:solidFill>
                  <a:srgbClr val="DCE9F5"/>
                </a:solidFill>
                <a:latin typeface="Segoe UI" pitchFamily="34" charset="0"/>
                <a:ea typeface="Segoe UI" pitchFamily="34" charset="-122"/>
                <a:cs typeface="Segoe UI" pitchFamily="34" charset="-120"/>
              </a:rPr>
              <a:t>Permissions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48640" y="320040"/>
            <a:ext cx="3017520" cy="292608"/>
          </a:xfrm>
          <a:prstGeom prst="roundRect">
            <a:avLst>
              <a:gd name="adj" fmla="val 50000"/>
            </a:avLst>
          </a:prstGeom>
          <a:solidFill>
            <a:srgbClr val="F3EF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20040"/>
            <a:ext cx="2798064" cy="292608"/>
          </a:xfrm>
          <a:prstGeom prst="rect">
            <a:avLst/>
          </a:prstGeom>
          <a:noFill/>
        </p:spPr>
        <p:txBody>
          <a:bodyPr wrap="square" lIns="0" tIns="0" rIns="0" bIns="0" anchor="ctr">
            <a:spAutoFit/>
          </a:bodyPr>
          <a:lstStyle/>
          <a:p>
            <a:r>
              <a:rPr sz="1000" b="1" i="0">
                <a:solidFill>
                  <a:srgbClr val="7655D6"/>
                </a:solidFill>
                <a:latin typeface="Segoe UI"/>
              </a:rPr>
              <a:t>AGENT PROMPT | 1 OF 3</a:t>
            </a:r>
          </a:p>
        </p:txBody>
      </p:sp>
      <p:sp>
        <p:nvSpPr>
          <p:cNvPr id="4" name="TextBox 3"/>
          <p:cNvSpPr txBox="1"/>
          <p:nvPr/>
        </p:nvSpPr>
        <p:spPr>
          <a:xfrm>
            <a:off x="8668512" y="320040"/>
            <a:ext cx="2971800" cy="292608"/>
          </a:xfrm>
          <a:prstGeom prst="rect">
            <a:avLst/>
          </a:prstGeom>
          <a:noFill/>
        </p:spPr>
        <p:txBody>
          <a:bodyPr wrap="square" lIns="0" tIns="0" rIns="0" bIns="0" anchor="ctr">
            <a:spAutoFit/>
          </a:bodyPr>
          <a:lstStyle/>
          <a:p>
            <a:pPr algn="r"/>
            <a:r>
              <a:rPr sz="1000" b="0" i="0">
                <a:solidFill>
                  <a:srgbClr val="56657B"/>
                </a:solidFill>
                <a:latin typeface="Segoe UI"/>
              </a:rPr>
              <a:t>Full copy-ready prompt in slide 6 notes</a:t>
            </a:r>
          </a:p>
        </p:txBody>
      </p:sp>
      <p:sp>
        <p:nvSpPr>
          <p:cNvPr id="5" name="TextBox 4"/>
          <p:cNvSpPr txBox="1"/>
          <p:nvPr/>
        </p:nvSpPr>
        <p:spPr>
          <a:xfrm>
            <a:off x="548640" y="713232"/>
            <a:ext cx="11064240" cy="430887"/>
          </a:xfrm>
          <a:prstGeom prst="rect">
            <a:avLst/>
          </a:prstGeom>
          <a:noFill/>
        </p:spPr>
        <p:txBody>
          <a:bodyPr wrap="square" lIns="0" tIns="0" rIns="0" bIns="0">
            <a:spAutoFit/>
          </a:bodyPr>
          <a:lstStyle/>
          <a:p>
            <a:r>
              <a:rPr lang="en-US" sz="2800" b="1" i="0">
                <a:solidFill>
                  <a:srgbClr val="17233C"/>
                </a:solidFill>
                <a:latin typeface="Segoe UI"/>
              </a:rPr>
              <a:t>From </a:t>
            </a:r>
            <a:r>
              <a:rPr sz="2800" b="1" i="0">
                <a:solidFill>
                  <a:srgbClr val="17233C"/>
                </a:solidFill>
                <a:latin typeface="Segoe UI"/>
              </a:rPr>
              <a:t>prompt</a:t>
            </a:r>
            <a:r>
              <a:rPr lang="en-US" sz="2800" b="1" i="0">
                <a:solidFill>
                  <a:srgbClr val="17233C"/>
                </a:solidFill>
                <a:latin typeface="Segoe UI"/>
              </a:rPr>
              <a:t> to scorecard</a:t>
            </a:r>
            <a:r>
              <a:rPr sz="2800" b="1" i="0">
                <a:solidFill>
                  <a:srgbClr val="17233C"/>
                </a:solidFill>
                <a:latin typeface="Segoe UI"/>
              </a:rPr>
              <a:t>: setup</a:t>
            </a:r>
            <a:r>
              <a:rPr lang="en-US" sz="2800" b="1" i="0">
                <a:solidFill>
                  <a:srgbClr val="17233C"/>
                </a:solidFill>
                <a:latin typeface="Segoe UI"/>
              </a:rPr>
              <a:t>, guardrails</a:t>
            </a:r>
            <a:r>
              <a:rPr sz="2800" b="1" i="0">
                <a:solidFill>
                  <a:srgbClr val="17233C"/>
                </a:solidFill>
                <a:latin typeface="Segoe UI"/>
              </a:rPr>
              <a:t> and </a:t>
            </a:r>
            <a:r>
              <a:rPr lang="en-US" sz="2800" b="1" i="0">
                <a:solidFill>
                  <a:srgbClr val="17233C"/>
                </a:solidFill>
                <a:latin typeface="Segoe UI"/>
              </a:rPr>
              <a:t>output</a:t>
            </a:r>
            <a:endParaRPr sz="2800" b="1" i="0">
              <a:solidFill>
                <a:srgbClr val="17233C"/>
              </a:solidFill>
              <a:latin typeface="Segoe UI"/>
            </a:endParaRPr>
          </a:p>
        </p:txBody>
      </p:sp>
      <p:sp>
        <p:nvSpPr>
          <p:cNvPr id="6" name="TextBox 5"/>
          <p:cNvSpPr txBox="1"/>
          <p:nvPr/>
        </p:nvSpPr>
        <p:spPr>
          <a:xfrm>
            <a:off x="566928" y="1188720"/>
            <a:ext cx="10972800" cy="200055"/>
          </a:xfrm>
          <a:prstGeom prst="rect">
            <a:avLst/>
          </a:prstGeom>
          <a:noFill/>
        </p:spPr>
        <p:txBody>
          <a:bodyPr wrap="square" lIns="0" tIns="0" rIns="0" bIns="0">
            <a:spAutoFit/>
          </a:bodyPr>
          <a:lstStyle/>
          <a:p>
            <a:r>
              <a:rPr sz="1300" b="0" i="0">
                <a:solidFill>
                  <a:srgbClr val="56657B"/>
                </a:solidFill>
                <a:latin typeface="Segoe UI"/>
              </a:rPr>
              <a:t>Verbatim prompt used to assess a Power BI semantic model's AI and agentic readiness</a:t>
            </a:r>
            <a:r>
              <a:rPr lang="en-US" sz="1300" b="0" i="0">
                <a:solidFill>
                  <a:srgbClr val="56657B"/>
                </a:solidFill>
                <a:latin typeface="Segoe UI"/>
              </a:rPr>
              <a:t>, and the executive scorecard it produces</a:t>
            </a:r>
            <a:r>
              <a:rPr sz="1300" b="0" i="0">
                <a:solidFill>
                  <a:srgbClr val="56657B"/>
                </a:solidFill>
                <a:latin typeface="Segoe UI"/>
              </a:rPr>
              <a:t>.</a:t>
            </a:r>
          </a:p>
        </p:txBody>
      </p:sp>
      <p:sp>
        <p:nvSpPr>
          <p:cNvPr id="7" name="TextBox 6"/>
          <p:cNvSpPr txBox="1"/>
          <p:nvPr/>
        </p:nvSpPr>
        <p:spPr>
          <a:xfrm>
            <a:off x="548640" y="6483096"/>
            <a:ext cx="4572000" cy="182880"/>
          </a:xfrm>
          <a:prstGeom prst="rect">
            <a:avLst/>
          </a:prstGeom>
          <a:noFill/>
        </p:spPr>
        <p:txBody>
          <a:bodyPr wrap="square" lIns="0" tIns="0" rIns="0" bIns="0">
            <a:spAutoFit/>
          </a:bodyPr>
          <a:lstStyle/>
          <a:p>
            <a:r>
              <a:rPr sz="900" b="1" i="0">
                <a:solidFill>
                  <a:srgbClr val="56657B"/>
                </a:solidFill>
                <a:latin typeface="Segoe UI"/>
              </a:rPr>
              <a:t>TALK TO YOUR INSURANCE DATA</a:t>
            </a:r>
          </a:p>
        </p:txBody>
      </p:sp>
      <p:sp>
        <p:nvSpPr>
          <p:cNvPr id="8" name="Rounded Rectangle 7"/>
          <p:cNvSpPr/>
          <p:nvPr/>
        </p:nvSpPr>
        <p:spPr>
          <a:xfrm>
            <a:off x="548640" y="1600200"/>
            <a:ext cx="3154680" cy="4709160"/>
          </a:xfrm>
          <a:prstGeom prst="roundRect">
            <a:avLst>
              <a:gd name="adj" fmla="val 5000"/>
            </a:avLst>
          </a:prstGeom>
          <a:solidFill>
            <a:srgbClr val="ED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31520" y="1783080"/>
            <a:ext cx="329184" cy="32918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FFFFFF"/>
                </a:solidFill>
                <a:latin typeface="Segoe UI"/>
              </a:rPr>
              <a:t>1</a:t>
            </a:r>
          </a:p>
        </p:txBody>
      </p:sp>
      <p:sp>
        <p:nvSpPr>
          <p:cNvPr id="10" name="TextBox 9"/>
          <p:cNvSpPr txBox="1"/>
          <p:nvPr/>
        </p:nvSpPr>
        <p:spPr>
          <a:xfrm>
            <a:off x="1170432" y="1783080"/>
            <a:ext cx="2350008" cy="329184"/>
          </a:xfrm>
          <a:prstGeom prst="rect">
            <a:avLst/>
          </a:prstGeom>
          <a:noFill/>
        </p:spPr>
        <p:txBody>
          <a:bodyPr wrap="square" lIns="0" tIns="0" rIns="0" bIns="0" anchor="ctr">
            <a:spAutoFit/>
          </a:bodyPr>
          <a:lstStyle/>
          <a:p>
            <a:r>
              <a:rPr sz="1500" b="1" i="0">
                <a:solidFill>
                  <a:srgbClr val="17233C"/>
                </a:solidFill>
                <a:latin typeface="Segoe UI"/>
              </a:rPr>
              <a:t>Target and references</a:t>
            </a:r>
          </a:p>
        </p:txBody>
      </p:sp>
      <p:sp>
        <p:nvSpPr>
          <p:cNvPr id="11" name="TextBox 10"/>
          <p:cNvSpPr txBox="1"/>
          <p:nvPr/>
        </p:nvSpPr>
        <p:spPr>
          <a:xfrm>
            <a:off x="731520" y="2221992"/>
            <a:ext cx="2788920" cy="3977640"/>
          </a:xfrm>
          <a:prstGeom prst="rect">
            <a:avLst/>
          </a:prstGeom>
          <a:noFill/>
        </p:spPr>
        <p:txBody>
          <a:bodyPr wrap="square" lIns="0" tIns="0" rIns="0" bIns="0">
            <a:spAutoFit/>
          </a:bodyPr>
          <a:lstStyle/>
          <a:p>
            <a:pPr>
              <a:lnSpc>
                <a:spcPct val="100000"/>
              </a:lnSpc>
              <a:spcBef>
                <a:spcPts val="400"/>
              </a:spcBef>
            </a:pPr>
            <a:r>
              <a:rPr sz="1050" b="0" i="0">
                <a:solidFill>
                  <a:srgbClr val="2B374D"/>
                </a:solidFill>
                <a:latin typeface="Segoe UI"/>
              </a:rPr>
              <a:t>Assess the AI and agentic readiness of the Power BI semantic model i want this to be:</a:t>
            </a:r>
          </a:p>
          <a:p>
            <a:pPr marL="146304" indent="-137160">
              <a:lnSpc>
                <a:spcPct val="100000"/>
              </a:lnSpc>
              <a:spcBef>
                <a:spcPts val="200"/>
              </a:spcBef>
              <a:buFont typeface="Arial"/>
              <a:buChar char="•"/>
            </a:pPr>
            <a:r>
              <a:rPr sz="1050" b="0" i="0">
                <a:solidFill>
                  <a:srgbClr val="2B374D"/>
                </a:solidFill>
                <a:latin typeface="Segoe UI"/>
              </a:rPr>
              <a:t>Workspace: "Enter workspace"</a:t>
            </a:r>
          </a:p>
          <a:p>
            <a:pPr marL="146304" indent="-137160">
              <a:lnSpc>
                <a:spcPct val="100000"/>
              </a:lnSpc>
              <a:spcBef>
                <a:spcPts val="200"/>
              </a:spcBef>
              <a:buFont typeface="Arial"/>
              <a:buChar char="•"/>
            </a:pPr>
            <a:r>
              <a:rPr sz="1050" b="0" i="0">
                <a:solidFill>
                  <a:srgbClr val="2B374D"/>
                </a:solidFill>
                <a:latin typeface="Segoe UI"/>
              </a:rPr>
              <a:t>Semantic model: "Enter Semantic model"</a:t>
            </a:r>
          </a:p>
          <a:p>
            <a:pPr>
              <a:lnSpc>
                <a:spcPct val="100000"/>
              </a:lnSpc>
              <a:spcBef>
                <a:spcPts val="700"/>
              </a:spcBef>
            </a:pPr>
            <a:r>
              <a:rPr sz="1200" b="1" i="0">
                <a:solidFill>
                  <a:srgbClr val="2563EB"/>
                </a:solidFill>
                <a:latin typeface="Segoe UI"/>
              </a:rPr>
              <a:t>Before starting:</a:t>
            </a:r>
          </a:p>
          <a:p>
            <a:pPr marL="146304" indent="-137160">
              <a:lnSpc>
                <a:spcPct val="100000"/>
              </a:lnSpc>
              <a:spcBef>
                <a:spcPts val="400"/>
              </a:spcBef>
              <a:buFont typeface="Arial"/>
              <a:buChar char="•"/>
            </a:pPr>
            <a:r>
              <a:rPr sz="1050" b="0" i="0">
                <a:solidFill>
                  <a:srgbClr val="2B374D"/>
                </a:solidFill>
                <a:latin typeface="Segoe UI"/>
              </a:rPr>
              <a:t>1. Review the latest guidance in the public Microsoft repository: https://github.com/microsoft/skills-for-fabric</a:t>
            </a:r>
          </a:p>
          <a:p>
            <a:pPr marL="146304" indent="-137160">
              <a:lnSpc>
                <a:spcPct val="100000"/>
              </a:lnSpc>
              <a:spcBef>
                <a:spcPts val="400"/>
              </a:spcBef>
              <a:buFont typeface="Arial"/>
              <a:buChar char="•"/>
            </a:pPr>
            <a:r>
              <a:rPr sz="1050" b="0" i="0">
                <a:solidFill>
                  <a:srgbClr val="2B374D"/>
                </a:solidFill>
                <a:latin typeface="Segoe UI"/>
              </a:rPr>
              <a:t>2. Check whether the current Microsoft skills-for-fabric package is available in this VS Code environment. Use the latest applicable guidance from:</a:t>
            </a:r>
          </a:p>
          <a:p>
            <a:pPr marL="310896" indent="-137160">
              <a:lnSpc>
                <a:spcPct val="100000"/>
              </a:lnSpc>
              <a:spcBef>
                <a:spcPts val="100"/>
              </a:spcBef>
              <a:buFont typeface="Arial"/>
              <a:buChar char="–"/>
            </a:pPr>
            <a:r>
              <a:rPr sz="1050" b="0" i="0">
                <a:solidFill>
                  <a:srgbClr val="2B374D"/>
                </a:solidFill>
                <a:latin typeface="Segoe UI"/>
              </a:rPr>
              <a:t>semantic-model-authoring</a:t>
            </a:r>
          </a:p>
          <a:p>
            <a:pPr marL="310896" indent="-137160">
              <a:lnSpc>
                <a:spcPct val="100000"/>
              </a:lnSpc>
              <a:spcBef>
                <a:spcPts val="100"/>
              </a:spcBef>
              <a:buFont typeface="Arial"/>
              <a:buChar char="–"/>
            </a:pPr>
            <a:r>
              <a:rPr sz="1050" b="0" i="0">
                <a:solidFill>
                  <a:srgbClr val="2B374D"/>
                </a:solidFill>
                <a:latin typeface="Segoe UI"/>
              </a:rPr>
              <a:t>semantic-model-ai-readiness</a:t>
            </a:r>
          </a:p>
          <a:p>
            <a:pPr marL="310896" indent="-137160">
              <a:lnSpc>
                <a:spcPct val="100000"/>
              </a:lnSpc>
              <a:spcBef>
                <a:spcPts val="100"/>
              </a:spcBef>
              <a:buFont typeface="Arial"/>
              <a:buChar char="–"/>
            </a:pPr>
            <a:r>
              <a:rPr sz="1050" b="0" i="0">
                <a:solidFill>
                  <a:srgbClr val="2B374D"/>
                </a:solidFill>
                <a:latin typeface="Segoe UI"/>
              </a:rPr>
              <a:t>semantic-model-consumption</a:t>
            </a:r>
          </a:p>
          <a:p>
            <a:pPr marL="310896" indent="-137160">
              <a:lnSpc>
                <a:spcPct val="100000"/>
              </a:lnSpc>
              <a:spcBef>
                <a:spcPts val="100"/>
              </a:spcBef>
              <a:buFont typeface="Arial"/>
              <a:buChar char="–"/>
            </a:pPr>
            <a:r>
              <a:rPr sz="1050" b="0" i="0">
                <a:solidFill>
                  <a:srgbClr val="2B374D"/>
                </a:solidFill>
                <a:latin typeface="Segoe UI"/>
              </a:rPr>
              <a:t>FabricIQ</a:t>
            </a:r>
          </a:p>
          <a:p>
            <a:pPr marL="310896" indent="-137160">
              <a:lnSpc>
                <a:spcPct val="100000"/>
              </a:lnSpc>
              <a:spcBef>
                <a:spcPts val="100"/>
              </a:spcBef>
              <a:buFont typeface="Arial"/>
              <a:buChar char="–"/>
            </a:pPr>
            <a:r>
              <a:rPr sz="1050" b="0" i="0">
                <a:solidFill>
                  <a:srgbClr val="2B374D"/>
                </a:solidFill>
                <a:latin typeface="Segoe UI"/>
              </a:rPr>
              <a:t>Fabric IQ ontology guidance, where relevant</a:t>
            </a:r>
          </a:p>
        </p:txBody>
      </p:sp>
      <p:sp>
        <p:nvSpPr>
          <p:cNvPr id="12" name="Rounded Rectangle 11"/>
          <p:cNvSpPr/>
          <p:nvPr/>
        </p:nvSpPr>
        <p:spPr>
          <a:xfrm>
            <a:off x="3977639" y="1600200"/>
            <a:ext cx="3154680" cy="4709160"/>
          </a:xfrm>
          <a:prstGeom prst="roundRect">
            <a:avLst>
              <a:gd name="adj" fmla="val 5000"/>
            </a:avLst>
          </a:prstGeom>
          <a:solidFill>
            <a:srgbClr val="F3EF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160520" y="1783080"/>
            <a:ext cx="329184" cy="329184"/>
          </a:xfrm>
          <a:prstGeom prst="ellipse">
            <a:avLst/>
          </a:prstGeom>
          <a:solidFill>
            <a:srgbClr val="7655D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FFFFFF"/>
                </a:solidFill>
                <a:latin typeface="Segoe UI"/>
              </a:rPr>
              <a:t>2</a:t>
            </a:r>
          </a:p>
        </p:txBody>
      </p:sp>
      <p:sp>
        <p:nvSpPr>
          <p:cNvPr id="14" name="TextBox 13"/>
          <p:cNvSpPr txBox="1"/>
          <p:nvPr/>
        </p:nvSpPr>
        <p:spPr>
          <a:xfrm>
            <a:off x="4599431" y="1783080"/>
            <a:ext cx="2350008" cy="329184"/>
          </a:xfrm>
          <a:prstGeom prst="rect">
            <a:avLst/>
          </a:prstGeom>
          <a:noFill/>
        </p:spPr>
        <p:txBody>
          <a:bodyPr wrap="square" lIns="0" tIns="0" rIns="0" bIns="0" anchor="ctr">
            <a:spAutoFit/>
          </a:bodyPr>
          <a:lstStyle/>
          <a:p>
            <a:r>
              <a:rPr sz="1500" b="1" i="0">
                <a:solidFill>
                  <a:srgbClr val="17233C"/>
                </a:solidFill>
                <a:latin typeface="Segoe UI"/>
              </a:rPr>
              <a:t>Access and safety</a:t>
            </a:r>
          </a:p>
        </p:txBody>
      </p:sp>
      <p:sp>
        <p:nvSpPr>
          <p:cNvPr id="15" name="TextBox 14"/>
          <p:cNvSpPr txBox="1"/>
          <p:nvPr/>
        </p:nvSpPr>
        <p:spPr>
          <a:xfrm>
            <a:off x="4160520" y="2221992"/>
            <a:ext cx="2788920" cy="3611245"/>
          </a:xfrm>
          <a:prstGeom prst="rect">
            <a:avLst/>
          </a:prstGeom>
          <a:noFill/>
        </p:spPr>
        <p:txBody>
          <a:bodyPr wrap="square" lIns="0" tIns="0" rIns="0" bIns="0">
            <a:spAutoFit/>
          </a:bodyPr>
          <a:lstStyle/>
          <a:p>
            <a:pPr marL="146304" indent="-137160">
              <a:lnSpc>
                <a:spcPct val="100000"/>
              </a:lnSpc>
              <a:spcBef>
                <a:spcPts val="400"/>
              </a:spcBef>
              <a:buFont typeface="Arial"/>
              <a:buChar char="•"/>
            </a:pPr>
            <a:r>
              <a:rPr sz="1050" b="0" i="0">
                <a:solidFill>
                  <a:srgbClr val="2B374D"/>
                </a:solidFill>
                <a:latin typeface="Segoe UI"/>
              </a:rPr>
              <a:t>3. If the required skills or MCP servers are not installed or configured, do not substitute assumptions or silently continue with a reduced assessment. Explain what is missing and guide me through installing or configuring it.</a:t>
            </a:r>
          </a:p>
          <a:p>
            <a:pPr marL="146304" indent="-137160">
              <a:lnSpc>
                <a:spcPct val="100000"/>
              </a:lnSpc>
              <a:spcBef>
                <a:spcPts val="400"/>
              </a:spcBef>
              <a:buFont typeface="Arial"/>
              <a:buChar char="•"/>
            </a:pPr>
            <a:r>
              <a:rPr sz="1050" b="0" i="0">
                <a:solidFill>
                  <a:srgbClr val="2B374D"/>
                </a:solidFill>
                <a:latin typeface="Segoe UI"/>
              </a:rPr>
              <a:t>4. If Microsoft Fabric, FabricIQ, or Power BI authentication is required, open or initiate the supported sign-in flow and pause so I can authenticate.</a:t>
            </a:r>
          </a:p>
          <a:p>
            <a:pPr>
              <a:lnSpc>
                <a:spcPct val="100000"/>
              </a:lnSpc>
              <a:spcBef>
                <a:spcPts val="700"/>
              </a:spcBef>
            </a:pPr>
            <a:r>
              <a:rPr sz="1200" b="1" i="0">
                <a:solidFill>
                  <a:srgbClr val="7655D6"/>
                </a:solidFill>
                <a:latin typeface="Segoe UI"/>
              </a:rPr>
              <a:t>Read-only</a:t>
            </a:r>
          </a:p>
          <a:p>
            <a:pPr>
              <a:lnSpc>
                <a:spcPct val="100000"/>
              </a:lnSpc>
              <a:spcBef>
                <a:spcPts val="400"/>
              </a:spcBef>
            </a:pPr>
            <a:r>
              <a:rPr sz="1050" b="0" i="0">
                <a:solidFill>
                  <a:srgbClr val="2B374D"/>
                </a:solidFill>
                <a:latin typeface="Segoe UI"/>
              </a:rPr>
              <a:t>Perform a read-only assessment. Do not modify the semantic model, report, workspace, permissions, AI configuration, or other Fabric resources unless I explicitly authorize changes afterward.</a:t>
            </a:r>
          </a:p>
          <a:p>
            <a:pPr>
              <a:lnSpc>
                <a:spcPct val="100000"/>
              </a:lnSpc>
              <a:spcBef>
                <a:spcPts val="700"/>
              </a:spcBef>
            </a:pPr>
            <a:r>
              <a:rPr lang="en-US" sz="1200" b="1" i="0">
                <a:solidFill>
                  <a:srgbClr val="7655D6"/>
                </a:solidFill>
                <a:latin typeface="Segoe UI"/>
              </a:rPr>
              <a:t>Weighting</a:t>
            </a:r>
          </a:p>
          <a:p>
            <a:pPr>
              <a:lnSpc>
                <a:spcPct val="100000"/>
              </a:lnSpc>
              <a:spcBef>
                <a:spcPts val="400"/>
              </a:spcBef>
            </a:pPr>
            <a:r>
              <a:rPr lang="en-US" sz="1050" b="0" i="0">
                <a:solidFill>
                  <a:srgbClr val="2B374D"/>
                </a:solidFill>
                <a:latin typeface="Segoe UI"/>
              </a:rPr>
              <a:t>Inspect the live semantic model and assess these six dimensions using the following weights (shown under the scorecard):</a:t>
            </a:r>
          </a:p>
        </p:txBody>
      </p:sp>
      <p:sp>
        <p:nvSpPr>
          <p:cNvPr id="16" name="Rounded Rectangle 15"/>
          <p:cNvSpPr/>
          <p:nvPr/>
        </p:nvSpPr>
        <p:spPr>
          <a:xfrm>
            <a:off x="7406640" y="1600200"/>
            <a:ext cx="4206240" cy="4709160"/>
          </a:xfrm>
          <a:prstGeom prst="roundRect">
            <a:avLst>
              <a:gd name="adj" fmla="val 5000"/>
            </a:avLst>
          </a:prstGeom>
          <a:solidFill>
            <a:srgbClr val="ED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589519" y="1783080"/>
            <a:ext cx="329184" cy="329184"/>
          </a:xfrm>
          <a:prstGeom prst="ellipse">
            <a:avLst/>
          </a:prstGeom>
          <a:solidFill>
            <a:srgbClr val="13847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FFFFFF"/>
                </a:solidFill>
                <a:latin typeface="Segoe UI"/>
              </a:rPr>
              <a:t>3</a:t>
            </a:r>
          </a:p>
        </p:txBody>
      </p:sp>
      <p:sp>
        <p:nvSpPr>
          <p:cNvPr id="18" name="TextBox 17"/>
          <p:cNvSpPr txBox="1"/>
          <p:nvPr/>
        </p:nvSpPr>
        <p:spPr>
          <a:xfrm>
            <a:off x="8028431" y="1832256"/>
            <a:ext cx="3401568" cy="230832"/>
          </a:xfrm>
          <a:prstGeom prst="rect">
            <a:avLst/>
          </a:prstGeom>
          <a:noFill/>
        </p:spPr>
        <p:txBody>
          <a:bodyPr wrap="square" lIns="0" tIns="0" rIns="0" bIns="0" anchor="ctr">
            <a:spAutoFit/>
          </a:bodyPr>
          <a:lstStyle/>
          <a:p>
            <a:r>
              <a:rPr lang="en-US" sz="1500" b="1" i="0">
                <a:solidFill>
                  <a:srgbClr val="17233C"/>
                </a:solidFill>
                <a:latin typeface="Segoe UI"/>
              </a:rPr>
              <a:t>The scorecard it produces</a:t>
            </a:r>
            <a:endParaRPr sz="1500" b="1" i="0">
              <a:solidFill>
                <a:srgbClr val="17233C"/>
              </a:solidFill>
              <a:latin typeface="Segoe UI"/>
            </a:endParaRPr>
          </a:p>
        </p:txBody>
      </p:sp>
      <p:sp>
        <p:nvSpPr>
          <p:cNvPr id="47" name="Rounded Rectangle 46"/>
          <p:cNvSpPr/>
          <p:nvPr/>
        </p:nvSpPr>
        <p:spPr>
          <a:xfrm>
            <a:off x="7754111" y="2176272"/>
            <a:ext cx="3511296" cy="2771203"/>
          </a:xfrm>
          <a:prstGeom prst="roundRect">
            <a:avLst>
              <a:gd name="adj" fmla="val 3000"/>
            </a:avLst>
          </a:prstGeom>
          <a:solidFill>
            <a:srgbClr val="FFFFFF"/>
          </a:solidFill>
          <a:ln w="9525">
            <a:solidFill>
              <a:srgbClr val="D3E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 name="Picture 45" descr="The image is an executive scorecard for auto insurance claims, showing readiness gaps, weak conversational controls, and incomplete measures, with a total reported claim amount and various assessment scores.&#10;&#10;AI-generated content may be incorrect.">
            <a:extLst>
              <a:ext uri="{FF2B5EF4-FFF2-40B4-BE49-F238E27FC236}">
                <a16:creationId xmlns:a16="http://schemas.microsoft.com/office/drawing/2014/main" id="{CE629416-3F8E-DE8E-B82C-76D67C4C8E7F}"/>
              </a:ext>
            </a:extLst>
          </p:cNvPr>
          <p:cNvPicPr>
            <a:picLocks noChangeAspect="1"/>
          </p:cNvPicPr>
          <p:nvPr/>
        </p:nvPicPr>
        <p:blipFill>
          <a:blip r:embed="rId3"/>
          <a:stretch>
            <a:fillRect/>
          </a:stretch>
        </p:blipFill>
        <p:spPr>
          <a:xfrm>
            <a:off x="7818119" y="2240280"/>
            <a:ext cx="3383280" cy="2643187"/>
          </a:xfrm>
          <a:prstGeom prst="rect">
            <a:avLst/>
          </a:prstGeom>
        </p:spPr>
      </p:pic>
      <p:sp>
        <p:nvSpPr>
          <p:cNvPr id="48" name="TextBox 47"/>
          <p:cNvSpPr txBox="1"/>
          <p:nvPr/>
        </p:nvSpPr>
        <p:spPr>
          <a:xfrm>
            <a:off x="7589519" y="5066347"/>
            <a:ext cx="2377440" cy="196596"/>
          </a:xfrm>
          <a:prstGeom prst="rect">
            <a:avLst/>
          </a:prstGeom>
          <a:noFill/>
        </p:spPr>
        <p:txBody>
          <a:bodyPr wrap="square" lIns="0" tIns="0" rIns="0" bIns="0" anchor="ctr">
            <a:spAutoFit/>
          </a:bodyPr>
          <a:lstStyle/>
          <a:p>
            <a:r>
              <a:rPr sz="950" b="0">
                <a:solidFill>
                  <a:srgbClr val="2B374D"/>
                </a:solidFill>
                <a:latin typeface="Segoe UI"/>
              </a:rPr>
              <a:t>Model architecture</a:t>
            </a:r>
          </a:p>
        </p:txBody>
      </p:sp>
      <p:sp>
        <p:nvSpPr>
          <p:cNvPr id="49" name="Rounded Rectangle 48"/>
          <p:cNvSpPr/>
          <p:nvPr/>
        </p:nvSpPr>
        <p:spPr>
          <a:xfrm>
            <a:off x="10012680" y="5128069"/>
            <a:ext cx="914400" cy="73152"/>
          </a:xfrm>
          <a:prstGeom prst="roundRect">
            <a:avLst>
              <a:gd name="adj" fmla="val 50000"/>
            </a:avLst>
          </a:prstGeom>
          <a:solidFill>
            <a:srgbClr val="D3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10012680" y="5128069"/>
            <a:ext cx="914400" cy="73152"/>
          </a:xfrm>
          <a:prstGeom prst="roundRect">
            <a:avLst>
              <a:gd name="adj" fmla="val 50000"/>
            </a:avLst>
          </a:prstGeom>
          <a:solidFill>
            <a:srgbClr val="138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972800" y="5066347"/>
            <a:ext cx="457200" cy="196596"/>
          </a:xfrm>
          <a:prstGeom prst="rect">
            <a:avLst/>
          </a:prstGeom>
          <a:noFill/>
        </p:spPr>
        <p:txBody>
          <a:bodyPr wrap="square" lIns="0" tIns="0" rIns="0" bIns="0" anchor="ctr">
            <a:spAutoFit/>
          </a:bodyPr>
          <a:lstStyle/>
          <a:p>
            <a:pPr algn="r"/>
            <a:r>
              <a:rPr sz="950" b="1">
                <a:solidFill>
                  <a:srgbClr val="138477"/>
                </a:solidFill>
                <a:latin typeface="Segoe UI"/>
              </a:rPr>
              <a:t>25%</a:t>
            </a:r>
          </a:p>
        </p:txBody>
      </p:sp>
      <p:sp>
        <p:nvSpPr>
          <p:cNvPr id="52" name="TextBox 51"/>
          <p:cNvSpPr txBox="1"/>
          <p:nvPr/>
        </p:nvSpPr>
        <p:spPr>
          <a:xfrm>
            <a:off x="7589519" y="5262943"/>
            <a:ext cx="2377440" cy="196596"/>
          </a:xfrm>
          <a:prstGeom prst="rect">
            <a:avLst/>
          </a:prstGeom>
          <a:noFill/>
        </p:spPr>
        <p:txBody>
          <a:bodyPr wrap="square" lIns="0" tIns="0" rIns="0" bIns="0" anchor="ctr">
            <a:spAutoFit/>
          </a:bodyPr>
          <a:lstStyle/>
          <a:p>
            <a:r>
              <a:rPr sz="950" b="0">
                <a:solidFill>
                  <a:srgbClr val="2B374D"/>
                </a:solidFill>
                <a:latin typeface="Segoe UI"/>
              </a:rPr>
              <a:t>Business-friendly naming</a:t>
            </a:r>
          </a:p>
        </p:txBody>
      </p:sp>
      <p:sp>
        <p:nvSpPr>
          <p:cNvPr id="53" name="Rounded Rectangle 52"/>
          <p:cNvSpPr/>
          <p:nvPr/>
        </p:nvSpPr>
        <p:spPr>
          <a:xfrm>
            <a:off x="10012680" y="5324665"/>
            <a:ext cx="914400" cy="73152"/>
          </a:xfrm>
          <a:prstGeom prst="roundRect">
            <a:avLst>
              <a:gd name="adj" fmla="val 50000"/>
            </a:avLst>
          </a:prstGeom>
          <a:solidFill>
            <a:srgbClr val="D3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10012680" y="5324665"/>
            <a:ext cx="548640" cy="73152"/>
          </a:xfrm>
          <a:prstGeom prst="roundRect">
            <a:avLst>
              <a:gd name="adj" fmla="val 50000"/>
            </a:avLst>
          </a:prstGeom>
          <a:solidFill>
            <a:srgbClr val="138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972800" y="5262943"/>
            <a:ext cx="457200" cy="196596"/>
          </a:xfrm>
          <a:prstGeom prst="rect">
            <a:avLst/>
          </a:prstGeom>
          <a:noFill/>
        </p:spPr>
        <p:txBody>
          <a:bodyPr wrap="square" lIns="0" tIns="0" rIns="0" bIns="0" anchor="ctr">
            <a:spAutoFit/>
          </a:bodyPr>
          <a:lstStyle/>
          <a:p>
            <a:pPr algn="r"/>
            <a:r>
              <a:rPr sz="950" b="1">
                <a:solidFill>
                  <a:srgbClr val="138477"/>
                </a:solidFill>
                <a:latin typeface="Segoe UI"/>
              </a:rPr>
              <a:t>15%</a:t>
            </a:r>
          </a:p>
        </p:txBody>
      </p:sp>
      <p:sp>
        <p:nvSpPr>
          <p:cNvPr id="56" name="TextBox 55"/>
          <p:cNvSpPr txBox="1"/>
          <p:nvPr/>
        </p:nvSpPr>
        <p:spPr>
          <a:xfrm>
            <a:off x="7589519" y="5459539"/>
            <a:ext cx="2377440" cy="196596"/>
          </a:xfrm>
          <a:prstGeom prst="rect">
            <a:avLst/>
          </a:prstGeom>
          <a:noFill/>
        </p:spPr>
        <p:txBody>
          <a:bodyPr wrap="square" lIns="0" tIns="0" rIns="0" bIns="0" anchor="ctr">
            <a:spAutoFit/>
          </a:bodyPr>
          <a:lstStyle/>
          <a:p>
            <a:r>
              <a:rPr sz="950" b="0">
                <a:solidFill>
                  <a:srgbClr val="2B374D"/>
                </a:solidFill>
                <a:latin typeface="Segoe UI"/>
              </a:rPr>
              <a:t>Descriptions and semantic metadata</a:t>
            </a:r>
          </a:p>
        </p:txBody>
      </p:sp>
      <p:sp>
        <p:nvSpPr>
          <p:cNvPr id="57" name="Rounded Rectangle 56"/>
          <p:cNvSpPr/>
          <p:nvPr/>
        </p:nvSpPr>
        <p:spPr>
          <a:xfrm>
            <a:off x="10012680" y="5521261"/>
            <a:ext cx="914400" cy="73152"/>
          </a:xfrm>
          <a:prstGeom prst="roundRect">
            <a:avLst>
              <a:gd name="adj" fmla="val 50000"/>
            </a:avLst>
          </a:prstGeom>
          <a:solidFill>
            <a:srgbClr val="D3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ounded Rectangle 57"/>
          <p:cNvSpPr/>
          <p:nvPr/>
        </p:nvSpPr>
        <p:spPr>
          <a:xfrm>
            <a:off x="10012680" y="5521261"/>
            <a:ext cx="548640" cy="73152"/>
          </a:xfrm>
          <a:prstGeom prst="roundRect">
            <a:avLst>
              <a:gd name="adj" fmla="val 50000"/>
            </a:avLst>
          </a:prstGeom>
          <a:solidFill>
            <a:srgbClr val="138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972800" y="5459539"/>
            <a:ext cx="457200" cy="196596"/>
          </a:xfrm>
          <a:prstGeom prst="rect">
            <a:avLst/>
          </a:prstGeom>
          <a:noFill/>
        </p:spPr>
        <p:txBody>
          <a:bodyPr wrap="square" lIns="0" tIns="0" rIns="0" bIns="0" anchor="ctr">
            <a:spAutoFit/>
          </a:bodyPr>
          <a:lstStyle/>
          <a:p>
            <a:pPr algn="r"/>
            <a:r>
              <a:rPr sz="950" b="1">
                <a:solidFill>
                  <a:srgbClr val="138477"/>
                </a:solidFill>
                <a:latin typeface="Segoe UI"/>
              </a:rPr>
              <a:t>15%</a:t>
            </a:r>
          </a:p>
        </p:txBody>
      </p:sp>
      <p:sp>
        <p:nvSpPr>
          <p:cNvPr id="60" name="TextBox 59"/>
          <p:cNvSpPr txBox="1"/>
          <p:nvPr/>
        </p:nvSpPr>
        <p:spPr>
          <a:xfrm>
            <a:off x="7589519" y="5656135"/>
            <a:ext cx="2377440" cy="196596"/>
          </a:xfrm>
          <a:prstGeom prst="rect">
            <a:avLst/>
          </a:prstGeom>
          <a:noFill/>
        </p:spPr>
        <p:txBody>
          <a:bodyPr wrap="square" lIns="0" tIns="0" rIns="0" bIns="0" anchor="ctr">
            <a:spAutoFit/>
          </a:bodyPr>
          <a:lstStyle/>
          <a:p>
            <a:r>
              <a:rPr sz="950" b="0">
                <a:solidFill>
                  <a:srgbClr val="2B374D"/>
                </a:solidFill>
                <a:latin typeface="Segoe UI"/>
              </a:rPr>
              <a:t>AI instructions</a:t>
            </a:r>
          </a:p>
        </p:txBody>
      </p:sp>
      <p:sp>
        <p:nvSpPr>
          <p:cNvPr id="61" name="Rounded Rectangle 60"/>
          <p:cNvSpPr/>
          <p:nvPr/>
        </p:nvSpPr>
        <p:spPr>
          <a:xfrm>
            <a:off x="10012680" y="5717857"/>
            <a:ext cx="914400" cy="73152"/>
          </a:xfrm>
          <a:prstGeom prst="roundRect">
            <a:avLst>
              <a:gd name="adj" fmla="val 50000"/>
            </a:avLst>
          </a:prstGeom>
          <a:solidFill>
            <a:srgbClr val="D3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10012680" y="5717857"/>
            <a:ext cx="731520" cy="73152"/>
          </a:xfrm>
          <a:prstGeom prst="roundRect">
            <a:avLst>
              <a:gd name="adj" fmla="val 50000"/>
            </a:avLst>
          </a:prstGeom>
          <a:solidFill>
            <a:srgbClr val="138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972800" y="5656135"/>
            <a:ext cx="457200" cy="196596"/>
          </a:xfrm>
          <a:prstGeom prst="rect">
            <a:avLst/>
          </a:prstGeom>
          <a:noFill/>
        </p:spPr>
        <p:txBody>
          <a:bodyPr wrap="square" lIns="0" tIns="0" rIns="0" bIns="0" anchor="ctr">
            <a:spAutoFit/>
          </a:bodyPr>
          <a:lstStyle/>
          <a:p>
            <a:pPr algn="r"/>
            <a:r>
              <a:rPr sz="950" b="1">
                <a:solidFill>
                  <a:srgbClr val="138477"/>
                </a:solidFill>
                <a:latin typeface="Segoe UI"/>
              </a:rPr>
              <a:t>20%</a:t>
            </a:r>
          </a:p>
        </p:txBody>
      </p:sp>
      <p:sp>
        <p:nvSpPr>
          <p:cNvPr id="64" name="TextBox 63"/>
          <p:cNvSpPr txBox="1"/>
          <p:nvPr/>
        </p:nvSpPr>
        <p:spPr>
          <a:xfrm>
            <a:off x="7589519" y="5852731"/>
            <a:ext cx="2377440" cy="196596"/>
          </a:xfrm>
          <a:prstGeom prst="rect">
            <a:avLst/>
          </a:prstGeom>
          <a:noFill/>
        </p:spPr>
        <p:txBody>
          <a:bodyPr wrap="square" lIns="0" tIns="0" rIns="0" bIns="0" anchor="ctr">
            <a:spAutoFit/>
          </a:bodyPr>
          <a:lstStyle/>
          <a:p>
            <a:r>
              <a:rPr sz="950" b="0">
                <a:solidFill>
                  <a:srgbClr val="2B374D"/>
                </a:solidFill>
                <a:latin typeface="Segoe UI"/>
              </a:rPr>
              <a:t>AI data schema</a:t>
            </a:r>
          </a:p>
        </p:txBody>
      </p:sp>
      <p:sp>
        <p:nvSpPr>
          <p:cNvPr id="65" name="Rounded Rectangle 64"/>
          <p:cNvSpPr/>
          <p:nvPr/>
        </p:nvSpPr>
        <p:spPr>
          <a:xfrm>
            <a:off x="10012680" y="5914453"/>
            <a:ext cx="914400" cy="73152"/>
          </a:xfrm>
          <a:prstGeom prst="roundRect">
            <a:avLst>
              <a:gd name="adj" fmla="val 50000"/>
            </a:avLst>
          </a:prstGeom>
          <a:solidFill>
            <a:srgbClr val="D3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p:cNvSpPr/>
          <p:nvPr/>
        </p:nvSpPr>
        <p:spPr>
          <a:xfrm>
            <a:off x="10012680" y="5914453"/>
            <a:ext cx="548640" cy="73152"/>
          </a:xfrm>
          <a:prstGeom prst="roundRect">
            <a:avLst>
              <a:gd name="adj" fmla="val 50000"/>
            </a:avLst>
          </a:prstGeom>
          <a:solidFill>
            <a:srgbClr val="138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972800" y="5852731"/>
            <a:ext cx="457200" cy="196596"/>
          </a:xfrm>
          <a:prstGeom prst="rect">
            <a:avLst/>
          </a:prstGeom>
          <a:noFill/>
        </p:spPr>
        <p:txBody>
          <a:bodyPr wrap="square" lIns="0" tIns="0" rIns="0" bIns="0" anchor="ctr">
            <a:spAutoFit/>
          </a:bodyPr>
          <a:lstStyle/>
          <a:p>
            <a:pPr algn="r"/>
            <a:r>
              <a:rPr sz="950" b="1">
                <a:solidFill>
                  <a:srgbClr val="138477"/>
                </a:solidFill>
                <a:latin typeface="Segoe UI"/>
              </a:rPr>
              <a:t>15%</a:t>
            </a:r>
          </a:p>
        </p:txBody>
      </p:sp>
      <p:sp>
        <p:nvSpPr>
          <p:cNvPr id="68" name="TextBox 67"/>
          <p:cNvSpPr txBox="1"/>
          <p:nvPr/>
        </p:nvSpPr>
        <p:spPr>
          <a:xfrm>
            <a:off x="7589519" y="6049327"/>
            <a:ext cx="2377440" cy="196596"/>
          </a:xfrm>
          <a:prstGeom prst="rect">
            <a:avLst/>
          </a:prstGeom>
          <a:noFill/>
        </p:spPr>
        <p:txBody>
          <a:bodyPr wrap="square" lIns="0" tIns="0" rIns="0" bIns="0" anchor="ctr">
            <a:spAutoFit/>
          </a:bodyPr>
          <a:lstStyle/>
          <a:p>
            <a:r>
              <a:rPr sz="950" b="0">
                <a:solidFill>
                  <a:srgbClr val="2B374D"/>
                </a:solidFill>
                <a:latin typeface="Segoe UI"/>
              </a:rPr>
              <a:t>Verified Answers</a:t>
            </a:r>
          </a:p>
        </p:txBody>
      </p:sp>
      <p:sp>
        <p:nvSpPr>
          <p:cNvPr id="69" name="Rounded Rectangle 68"/>
          <p:cNvSpPr/>
          <p:nvPr/>
        </p:nvSpPr>
        <p:spPr>
          <a:xfrm>
            <a:off x="10012680" y="6111049"/>
            <a:ext cx="914400" cy="73152"/>
          </a:xfrm>
          <a:prstGeom prst="roundRect">
            <a:avLst>
              <a:gd name="adj" fmla="val 50000"/>
            </a:avLst>
          </a:prstGeom>
          <a:solidFill>
            <a:srgbClr val="D3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ounded Rectangle 69"/>
          <p:cNvSpPr/>
          <p:nvPr/>
        </p:nvSpPr>
        <p:spPr>
          <a:xfrm>
            <a:off x="10012680" y="6111049"/>
            <a:ext cx="365760" cy="73152"/>
          </a:xfrm>
          <a:prstGeom prst="roundRect">
            <a:avLst>
              <a:gd name="adj" fmla="val 50000"/>
            </a:avLst>
          </a:prstGeom>
          <a:solidFill>
            <a:srgbClr val="138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10972800" y="6049327"/>
            <a:ext cx="457200" cy="196596"/>
          </a:xfrm>
          <a:prstGeom prst="rect">
            <a:avLst/>
          </a:prstGeom>
          <a:noFill/>
        </p:spPr>
        <p:txBody>
          <a:bodyPr wrap="square" lIns="0" tIns="0" rIns="0" bIns="0" anchor="ctr">
            <a:spAutoFit/>
          </a:bodyPr>
          <a:lstStyle/>
          <a:p>
            <a:pPr algn="r"/>
            <a:r>
              <a:rPr sz="950" b="1">
                <a:solidFill>
                  <a:srgbClr val="138477"/>
                </a:solidFill>
                <a:latin typeface="Segoe UI"/>
              </a:rPr>
              <a:t>10%</a:t>
            </a:r>
          </a:p>
        </p:txBody>
      </p:sp>
    </p:spTree>
    <p:extLst>
      <p:ext uri="{BB962C8B-B14F-4D97-AF65-F5344CB8AC3E}">
        <p14:creationId xmlns:p14="http://schemas.microsoft.com/office/powerpoint/2010/main" val="2228574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48640" y="320040"/>
            <a:ext cx="3017520" cy="292608"/>
          </a:xfrm>
          <a:prstGeom prst="roundRect">
            <a:avLst>
              <a:gd name="adj" fmla="val 50000"/>
            </a:avLst>
          </a:prstGeom>
          <a:solidFill>
            <a:srgbClr val="F3EF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20040"/>
            <a:ext cx="2798064" cy="292608"/>
          </a:xfrm>
          <a:prstGeom prst="rect">
            <a:avLst/>
          </a:prstGeom>
          <a:noFill/>
        </p:spPr>
        <p:txBody>
          <a:bodyPr wrap="square" lIns="0" tIns="0" rIns="0" bIns="0" anchor="ctr">
            <a:spAutoFit/>
          </a:bodyPr>
          <a:lstStyle/>
          <a:p>
            <a:r>
              <a:rPr sz="1000" b="1" i="0">
                <a:solidFill>
                  <a:srgbClr val="7655D6"/>
                </a:solidFill>
                <a:latin typeface="Segoe UI"/>
              </a:rPr>
              <a:t>AGENT PROMPT | 2 OF 3</a:t>
            </a:r>
          </a:p>
        </p:txBody>
      </p:sp>
      <p:sp>
        <p:nvSpPr>
          <p:cNvPr id="4" name="TextBox 3"/>
          <p:cNvSpPr txBox="1"/>
          <p:nvPr/>
        </p:nvSpPr>
        <p:spPr>
          <a:xfrm>
            <a:off x="8668512" y="320040"/>
            <a:ext cx="2971800" cy="292608"/>
          </a:xfrm>
          <a:prstGeom prst="rect">
            <a:avLst/>
          </a:prstGeom>
          <a:noFill/>
        </p:spPr>
        <p:txBody>
          <a:bodyPr wrap="square" lIns="0" tIns="0" rIns="0" bIns="0" anchor="ctr">
            <a:spAutoFit/>
          </a:bodyPr>
          <a:lstStyle/>
          <a:p>
            <a:pPr algn="r"/>
            <a:r>
              <a:rPr sz="1000" b="0" i="0">
                <a:solidFill>
                  <a:srgbClr val="56657B"/>
                </a:solidFill>
                <a:latin typeface="Segoe UI"/>
              </a:rPr>
              <a:t>Full copy-ready prompt in slide 6 notes</a:t>
            </a:r>
          </a:p>
        </p:txBody>
      </p:sp>
      <p:sp>
        <p:nvSpPr>
          <p:cNvPr id="5" name="TextBox 4"/>
          <p:cNvSpPr txBox="1"/>
          <p:nvPr/>
        </p:nvSpPr>
        <p:spPr>
          <a:xfrm>
            <a:off x="548640" y="749808"/>
            <a:ext cx="11064240" cy="548640"/>
          </a:xfrm>
          <a:prstGeom prst="rect">
            <a:avLst/>
          </a:prstGeom>
          <a:noFill/>
        </p:spPr>
        <p:txBody>
          <a:bodyPr wrap="square" lIns="0" tIns="0" rIns="0" bIns="0">
            <a:spAutoFit/>
          </a:bodyPr>
          <a:lstStyle/>
          <a:p>
            <a:r>
              <a:rPr sz="2800" b="1" i="0">
                <a:solidFill>
                  <a:srgbClr val="17233C"/>
                </a:solidFill>
                <a:latin typeface="Segoe UI"/>
              </a:rPr>
              <a:t>What the assessment should include</a:t>
            </a:r>
          </a:p>
        </p:txBody>
      </p:sp>
      <p:sp>
        <p:nvSpPr>
          <p:cNvPr id="6" name="TextBox 5"/>
          <p:cNvSpPr txBox="1"/>
          <p:nvPr/>
        </p:nvSpPr>
        <p:spPr>
          <a:xfrm>
            <a:off x="566928" y="1298448"/>
            <a:ext cx="10972800" cy="320040"/>
          </a:xfrm>
          <a:prstGeom prst="rect">
            <a:avLst/>
          </a:prstGeom>
          <a:noFill/>
        </p:spPr>
        <p:txBody>
          <a:bodyPr wrap="square" lIns="0" tIns="0" rIns="0" bIns="0">
            <a:spAutoFit/>
          </a:bodyPr>
          <a:lstStyle/>
          <a:p>
            <a:r>
              <a:rPr sz="1300" b="0" i="0">
                <a:solidFill>
                  <a:srgbClr val="56657B"/>
                </a:solidFill>
                <a:latin typeface="Segoe UI"/>
              </a:rPr>
              <a:t>Six areas of inspection, from model foundation through testing recommendations.</a:t>
            </a:r>
          </a:p>
        </p:txBody>
      </p:sp>
      <p:sp>
        <p:nvSpPr>
          <p:cNvPr id="7" name="TextBox 6"/>
          <p:cNvSpPr txBox="1"/>
          <p:nvPr/>
        </p:nvSpPr>
        <p:spPr>
          <a:xfrm>
            <a:off x="548640" y="6483096"/>
            <a:ext cx="4572000" cy="182880"/>
          </a:xfrm>
          <a:prstGeom prst="rect">
            <a:avLst/>
          </a:prstGeom>
          <a:noFill/>
        </p:spPr>
        <p:txBody>
          <a:bodyPr wrap="square" lIns="0" tIns="0" rIns="0" bIns="0">
            <a:spAutoFit/>
          </a:bodyPr>
          <a:lstStyle/>
          <a:p>
            <a:r>
              <a:rPr sz="900" b="1" i="0">
                <a:solidFill>
                  <a:srgbClr val="56657B"/>
                </a:solidFill>
                <a:latin typeface="Segoe UI"/>
              </a:rPr>
              <a:t>TALK TO YOUR INSURANCE DATA</a:t>
            </a:r>
          </a:p>
        </p:txBody>
      </p:sp>
      <p:sp>
        <p:nvSpPr>
          <p:cNvPr id="8" name="Rounded Rectangle 7"/>
          <p:cNvSpPr/>
          <p:nvPr/>
        </p:nvSpPr>
        <p:spPr>
          <a:xfrm>
            <a:off x="548640" y="1645920"/>
            <a:ext cx="3200400" cy="4754880"/>
          </a:xfrm>
          <a:prstGeom prst="roundRect">
            <a:avLst>
              <a:gd name="adj" fmla="val 5000"/>
            </a:avLst>
          </a:prstGeom>
          <a:solidFill>
            <a:srgbClr val="ED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31520" y="1828800"/>
            <a:ext cx="329184" cy="32918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FFFFFF"/>
                </a:solidFill>
                <a:latin typeface="Segoe UI"/>
              </a:rPr>
              <a:t>1</a:t>
            </a:r>
          </a:p>
        </p:txBody>
      </p:sp>
      <p:sp>
        <p:nvSpPr>
          <p:cNvPr id="10" name="TextBox 9"/>
          <p:cNvSpPr txBox="1"/>
          <p:nvPr/>
        </p:nvSpPr>
        <p:spPr>
          <a:xfrm>
            <a:off x="1170432" y="1828800"/>
            <a:ext cx="2395728" cy="329184"/>
          </a:xfrm>
          <a:prstGeom prst="rect">
            <a:avLst/>
          </a:prstGeom>
          <a:noFill/>
        </p:spPr>
        <p:txBody>
          <a:bodyPr wrap="square" lIns="0" tIns="0" rIns="0" bIns="0" anchor="ctr">
            <a:spAutoFit/>
          </a:bodyPr>
          <a:lstStyle/>
          <a:p>
            <a:r>
              <a:rPr sz="1500" b="1" i="0">
                <a:solidFill>
                  <a:srgbClr val="17233C"/>
                </a:solidFill>
                <a:latin typeface="Segoe UI"/>
              </a:rPr>
              <a:t>Foundation and semantics</a:t>
            </a:r>
          </a:p>
        </p:txBody>
      </p:sp>
      <p:sp>
        <p:nvSpPr>
          <p:cNvPr id="11" name="TextBox 10"/>
          <p:cNvSpPr txBox="1"/>
          <p:nvPr/>
        </p:nvSpPr>
        <p:spPr>
          <a:xfrm>
            <a:off x="731520" y="2267712"/>
            <a:ext cx="2834640" cy="4023360"/>
          </a:xfrm>
          <a:prstGeom prst="rect">
            <a:avLst/>
          </a:prstGeom>
          <a:noFill/>
        </p:spPr>
        <p:txBody>
          <a:bodyPr wrap="square" lIns="0" tIns="0" rIns="0" bIns="0">
            <a:spAutoFit/>
          </a:bodyPr>
          <a:lstStyle/>
          <a:p>
            <a:pPr>
              <a:lnSpc>
                <a:spcPct val="100000"/>
              </a:lnSpc>
              <a:spcBef>
                <a:spcPts val="700"/>
              </a:spcBef>
            </a:pPr>
            <a:r>
              <a:rPr sz="1100" b="1" i="0">
                <a:solidFill>
                  <a:srgbClr val="2563EB"/>
                </a:solidFill>
                <a:latin typeface="Segoe UI"/>
              </a:rPr>
              <a:t>1. Model foundation</a:t>
            </a:r>
          </a:p>
          <a:p>
            <a:pPr marL="146304" indent="-137160">
              <a:lnSpc>
                <a:spcPct val="100000"/>
              </a:lnSpc>
              <a:spcBef>
                <a:spcPts val="200"/>
              </a:spcBef>
              <a:buFont typeface="Arial"/>
              <a:buChar char="•"/>
            </a:pPr>
            <a:r>
              <a:rPr sz="950" b="0" i="0">
                <a:solidFill>
                  <a:srgbClr val="2B374D"/>
                </a:solidFill>
                <a:latin typeface="Segoe UI"/>
              </a:rPr>
              <a:t>Tables, visible and hidden columns, explicit measures, and relationships</a:t>
            </a:r>
          </a:p>
          <a:p>
            <a:pPr marL="146304" indent="-137160">
              <a:lnSpc>
                <a:spcPct val="100000"/>
              </a:lnSpc>
              <a:spcBef>
                <a:spcPts val="200"/>
              </a:spcBef>
              <a:buFont typeface="Arial"/>
              <a:buChar char="•"/>
            </a:pPr>
            <a:r>
              <a:rPr sz="950" b="0" i="0">
                <a:solidFill>
                  <a:srgbClr val="2B374D"/>
                </a:solidFill>
                <a:latin typeface="Segoe UI"/>
              </a:rPr>
              <a:t>Fact and dimension grains</a:t>
            </a:r>
          </a:p>
          <a:p>
            <a:pPr marL="146304" indent="-137160">
              <a:lnSpc>
                <a:spcPct val="100000"/>
              </a:lnSpc>
              <a:spcBef>
                <a:spcPts val="200"/>
              </a:spcBef>
              <a:buFont typeface="Arial"/>
              <a:buChar char="•"/>
            </a:pPr>
            <a:r>
              <a:rPr sz="950" b="0" i="0">
                <a:solidFill>
                  <a:srgbClr val="2B374D"/>
                </a:solidFill>
                <a:latin typeface="Segoe UI"/>
              </a:rPr>
              <a:t>Relationship cardinality and filter direction</a:t>
            </a:r>
          </a:p>
          <a:p>
            <a:pPr marL="146304" indent="-137160">
              <a:lnSpc>
                <a:spcPct val="100000"/>
              </a:lnSpc>
              <a:spcBef>
                <a:spcPts val="200"/>
              </a:spcBef>
              <a:buFont typeface="Arial"/>
              <a:buChar char="•"/>
            </a:pPr>
            <a:r>
              <a:rPr sz="950" b="0" i="0">
                <a:solidFill>
                  <a:srgbClr val="2B374D"/>
                </a:solidFill>
                <a:latin typeface="Segoe UI"/>
              </a:rPr>
              <a:t>Date dimensions, date roles, hierarchies, and time behavior</a:t>
            </a:r>
          </a:p>
          <a:p>
            <a:pPr marL="146304" indent="-137160">
              <a:lnSpc>
                <a:spcPct val="100000"/>
              </a:lnSpc>
              <a:spcBef>
                <a:spcPts val="200"/>
              </a:spcBef>
              <a:buFont typeface="Arial"/>
              <a:buChar char="•"/>
            </a:pPr>
            <a:r>
              <a:rPr sz="950" b="0" i="0">
                <a:solidFill>
                  <a:srgbClr val="2B374D"/>
                </a:solidFill>
                <a:latin typeface="Segoe UI"/>
              </a:rPr>
              <a:t>Data types, formatting, summarization, hidden technical fields, and default labels</a:t>
            </a:r>
          </a:p>
          <a:p>
            <a:pPr marL="146304" indent="-137160">
              <a:lnSpc>
                <a:spcPct val="100000"/>
              </a:lnSpc>
              <a:spcBef>
                <a:spcPts val="200"/>
              </a:spcBef>
              <a:buFont typeface="Arial"/>
              <a:buChar char="•"/>
            </a:pPr>
            <a:r>
              <a:rPr sz="950" b="0" i="0">
                <a:solidFill>
                  <a:srgbClr val="2B374D"/>
                </a:solidFill>
                <a:latin typeface="Segoe UI"/>
              </a:rPr>
              <a:t>Implicit versus explicit measures</a:t>
            </a:r>
          </a:p>
          <a:p>
            <a:pPr marL="146304" indent="-137160">
              <a:lnSpc>
                <a:spcPct val="100000"/>
              </a:lnSpc>
              <a:spcBef>
                <a:spcPts val="200"/>
              </a:spcBef>
              <a:buFont typeface="Arial"/>
              <a:buChar char="•"/>
            </a:pPr>
            <a:r>
              <a:rPr sz="950" b="0" i="0">
                <a:solidFill>
                  <a:srgbClr val="2B374D"/>
                </a:solidFill>
                <a:latin typeface="Segoe UI"/>
              </a:rPr>
              <a:t>Duplicate, overlapping, helper, or potentially misleading objects</a:t>
            </a:r>
          </a:p>
          <a:p>
            <a:pPr>
              <a:lnSpc>
                <a:spcPct val="100000"/>
              </a:lnSpc>
              <a:spcBef>
                <a:spcPts val="700"/>
              </a:spcBef>
            </a:pPr>
            <a:r>
              <a:rPr sz="1100" b="1" i="0">
                <a:solidFill>
                  <a:srgbClr val="2563EB"/>
                </a:solidFill>
                <a:latin typeface="Segoe UI"/>
              </a:rPr>
              <a:t>2. Business semantics</a:t>
            </a:r>
          </a:p>
          <a:p>
            <a:pPr marL="146304" indent="-137160">
              <a:lnSpc>
                <a:spcPct val="100000"/>
              </a:lnSpc>
              <a:spcBef>
                <a:spcPts val="200"/>
              </a:spcBef>
              <a:buFont typeface="Arial"/>
              <a:buChar char="•"/>
            </a:pPr>
            <a:r>
              <a:rPr sz="950" b="0" i="0">
                <a:solidFill>
                  <a:srgbClr val="2B374D"/>
                </a:solidFill>
                <a:latin typeface="Segoe UI"/>
              </a:rPr>
              <a:t>Business-friendly names</a:t>
            </a:r>
          </a:p>
          <a:p>
            <a:pPr marL="146304" indent="-137160">
              <a:lnSpc>
                <a:spcPct val="100000"/>
              </a:lnSpc>
              <a:spcBef>
                <a:spcPts val="200"/>
              </a:spcBef>
              <a:buFont typeface="Arial"/>
              <a:buChar char="•"/>
            </a:pPr>
            <a:r>
              <a:rPr sz="950" b="0" i="0">
                <a:solidFill>
                  <a:srgbClr val="2B374D"/>
                </a:solidFill>
                <a:latin typeface="Segoe UI"/>
              </a:rPr>
              <a:t>Ambiguous terminology, abbreviations, synonyms, and conflicting definitions</a:t>
            </a:r>
          </a:p>
          <a:p>
            <a:pPr marL="146304" indent="-137160">
              <a:lnSpc>
                <a:spcPct val="100000"/>
              </a:lnSpc>
              <a:spcBef>
                <a:spcPts val="200"/>
              </a:spcBef>
              <a:buFont typeface="Arial"/>
              <a:buChar char="•"/>
            </a:pPr>
            <a:r>
              <a:rPr sz="950" b="0" i="0">
                <a:solidFill>
                  <a:srgbClr val="2B374D"/>
                </a:solidFill>
                <a:latin typeface="Segoe UI"/>
              </a:rPr>
              <a:t>Description coverage and quality for visible tables, columns, and measures</a:t>
            </a:r>
          </a:p>
          <a:p>
            <a:pPr marL="146304" indent="-137160">
              <a:lnSpc>
                <a:spcPct val="100000"/>
              </a:lnSpc>
              <a:spcBef>
                <a:spcPts val="200"/>
              </a:spcBef>
              <a:buFont typeface="Arial"/>
              <a:buChar char="•"/>
            </a:pPr>
            <a:r>
              <a:rPr sz="950" b="0" i="0">
                <a:solidFill>
                  <a:srgbClr val="2B374D"/>
                </a:solidFill>
                <a:latin typeface="Segoe UI"/>
              </a:rPr>
              <a:t>Grain, units, filters, time basis, exclusions, and denominator definitions</a:t>
            </a:r>
          </a:p>
          <a:p>
            <a:pPr marL="146304" indent="-137160">
              <a:lnSpc>
                <a:spcPct val="100000"/>
              </a:lnSpc>
              <a:spcBef>
                <a:spcPts val="200"/>
              </a:spcBef>
              <a:buFont typeface="Arial"/>
              <a:buChar char="•"/>
            </a:pPr>
            <a:r>
              <a:rPr sz="950" b="0" i="0">
                <a:solidFill>
                  <a:srgbClr val="2B374D"/>
                </a:solidFill>
                <a:latin typeface="Segoe UI"/>
              </a:rPr>
              <a:t>Misalignment between names, descriptions, synonyms, instructions, and actual DAX</a:t>
            </a:r>
          </a:p>
        </p:txBody>
      </p:sp>
      <p:sp>
        <p:nvSpPr>
          <p:cNvPr id="12" name="Rounded Rectangle 11"/>
          <p:cNvSpPr/>
          <p:nvPr/>
        </p:nvSpPr>
        <p:spPr>
          <a:xfrm>
            <a:off x="4023360" y="1645920"/>
            <a:ext cx="4114800" cy="4754880"/>
          </a:xfrm>
          <a:prstGeom prst="roundRect">
            <a:avLst>
              <a:gd name="adj" fmla="val 5000"/>
            </a:avLst>
          </a:prstGeom>
          <a:solidFill>
            <a:srgbClr val="F3EF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206240" y="1828800"/>
            <a:ext cx="329184" cy="329184"/>
          </a:xfrm>
          <a:prstGeom prst="ellipse">
            <a:avLst/>
          </a:prstGeom>
          <a:solidFill>
            <a:srgbClr val="7655D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FFFFFF"/>
                </a:solidFill>
                <a:latin typeface="Segoe UI"/>
              </a:rPr>
              <a:t>2</a:t>
            </a:r>
          </a:p>
        </p:txBody>
      </p:sp>
      <p:sp>
        <p:nvSpPr>
          <p:cNvPr id="14" name="TextBox 13"/>
          <p:cNvSpPr txBox="1"/>
          <p:nvPr/>
        </p:nvSpPr>
        <p:spPr>
          <a:xfrm>
            <a:off x="4645152" y="1828800"/>
            <a:ext cx="3310128" cy="329184"/>
          </a:xfrm>
          <a:prstGeom prst="rect">
            <a:avLst/>
          </a:prstGeom>
          <a:noFill/>
        </p:spPr>
        <p:txBody>
          <a:bodyPr wrap="square" lIns="0" tIns="0" rIns="0" bIns="0" anchor="ctr">
            <a:spAutoFit/>
          </a:bodyPr>
          <a:lstStyle/>
          <a:p>
            <a:r>
              <a:rPr sz="1500" b="1" i="0">
                <a:solidFill>
                  <a:srgbClr val="17233C"/>
                </a:solidFill>
                <a:latin typeface="Segoe UI"/>
              </a:rPr>
              <a:t>AI and agentic readiness</a:t>
            </a:r>
          </a:p>
        </p:txBody>
      </p:sp>
      <p:sp>
        <p:nvSpPr>
          <p:cNvPr id="15" name="TextBox 14"/>
          <p:cNvSpPr txBox="1"/>
          <p:nvPr/>
        </p:nvSpPr>
        <p:spPr>
          <a:xfrm>
            <a:off x="4206240" y="2267712"/>
            <a:ext cx="3749040" cy="3757439"/>
          </a:xfrm>
          <a:prstGeom prst="rect">
            <a:avLst/>
          </a:prstGeom>
          <a:noFill/>
        </p:spPr>
        <p:txBody>
          <a:bodyPr wrap="square" lIns="0" tIns="0" rIns="0" bIns="0">
            <a:spAutoFit/>
          </a:bodyPr>
          <a:lstStyle/>
          <a:p>
            <a:pPr>
              <a:lnSpc>
                <a:spcPct val="100000"/>
              </a:lnSpc>
              <a:spcBef>
                <a:spcPts val="700"/>
              </a:spcBef>
            </a:pPr>
            <a:r>
              <a:rPr sz="1100" b="1" i="0">
                <a:solidFill>
                  <a:srgbClr val="7655D6"/>
                </a:solidFill>
                <a:latin typeface="Segoe UI"/>
              </a:rPr>
              <a:t>3. AI preparation</a:t>
            </a:r>
          </a:p>
          <a:p>
            <a:pPr marL="146304" indent="-137160">
              <a:lnSpc>
                <a:spcPct val="100000"/>
              </a:lnSpc>
              <a:spcBef>
                <a:spcPts val="200"/>
              </a:spcBef>
              <a:buFont typeface="Arial"/>
              <a:buChar char="•"/>
            </a:pPr>
            <a:r>
              <a:rPr lang="en-US" sz="900" b="0" i="0">
                <a:solidFill>
                  <a:srgbClr val="2B374D"/>
                </a:solidFill>
                <a:latin typeface="Segoe UI"/>
              </a:rPr>
              <a:t>Existing AI instructions and whether they provide metric routing, date defaults, clarification rules, answer boundaries, polarity, and visualization preferences</a:t>
            </a:r>
          </a:p>
          <a:p>
            <a:pPr marL="146304" indent="-137160">
              <a:lnSpc>
                <a:spcPct val="100000"/>
              </a:lnSpc>
              <a:spcBef>
                <a:spcPts val="200"/>
              </a:spcBef>
              <a:buFont typeface="Arial"/>
              <a:buChar char="•"/>
            </a:pPr>
            <a:r>
              <a:rPr lang="en-US" sz="900" b="0" i="0">
                <a:solidFill>
                  <a:srgbClr val="2B374D"/>
                </a:solidFill>
                <a:latin typeface="Segoe UI"/>
              </a:rPr>
              <a:t>AI data schema scope, dependencies, synonyms, technical noise, and missing business metrics</a:t>
            </a:r>
          </a:p>
          <a:p>
            <a:pPr marL="146304" indent="-137160">
              <a:lnSpc>
                <a:spcPct val="100000"/>
              </a:lnSpc>
              <a:spcBef>
                <a:spcPts val="200"/>
              </a:spcBef>
              <a:buFont typeface="Arial"/>
              <a:buChar char="•"/>
            </a:pPr>
            <a:r>
              <a:rPr lang="en-US" sz="900" b="0" i="0">
                <a:solidFill>
                  <a:srgbClr val="2B374D"/>
                </a:solidFill>
                <a:latin typeface="Segoe UI"/>
              </a:rPr>
              <a:t>Existing Verified Answers, representative coverage, filters, trigger phrases, and potential conflicts</a:t>
            </a:r>
          </a:p>
          <a:p>
            <a:pPr marL="146304" indent="-137160">
              <a:lnSpc>
                <a:spcPct val="100000"/>
              </a:lnSpc>
              <a:spcBef>
                <a:spcPts val="200"/>
              </a:spcBef>
              <a:buFont typeface="Arial"/>
              <a:buChar char="•"/>
            </a:pPr>
            <a:r>
              <a:rPr lang="en-US" sz="900" b="0" i="0">
                <a:solidFill>
                  <a:srgbClr val="2B374D"/>
                </a:solidFill>
                <a:latin typeface="Segoe UI"/>
              </a:rPr>
              <a:t>Distinguish curated AI metadata from generated, suggested, legacy, or inaccessible metadata</a:t>
            </a:r>
          </a:p>
          <a:p>
            <a:pPr>
              <a:lnSpc>
                <a:spcPct val="100000"/>
              </a:lnSpc>
              <a:spcBef>
                <a:spcPts val="700"/>
              </a:spcBef>
            </a:pPr>
            <a:r>
              <a:rPr sz="1100" b="1" i="0">
                <a:solidFill>
                  <a:srgbClr val="7655D6"/>
                </a:solidFill>
                <a:latin typeface="Segoe UI"/>
              </a:rPr>
              <a:t>4. Agentic-readiness controls</a:t>
            </a:r>
          </a:p>
          <a:p>
            <a:pPr marL="146304" indent="-137160">
              <a:lnSpc>
                <a:spcPct val="100000"/>
              </a:lnSpc>
              <a:spcBef>
                <a:spcPts val="200"/>
              </a:spcBef>
              <a:buFont typeface="Arial"/>
              <a:buChar char="•"/>
            </a:pPr>
            <a:r>
              <a:rPr lang="en-US" sz="900" b="0" i="0">
                <a:solidFill>
                  <a:srgbClr val="2B374D"/>
                </a:solidFill>
                <a:latin typeface="Segoe UI"/>
              </a:rPr>
              <a:t>Whether named entities can be resolved to canonical model values before applying filters</a:t>
            </a:r>
          </a:p>
          <a:p>
            <a:pPr marL="146304" indent="-137160">
              <a:lnSpc>
                <a:spcPct val="100000"/>
              </a:lnSpc>
              <a:spcBef>
                <a:spcPts val="200"/>
              </a:spcBef>
              <a:buFont typeface="Arial"/>
              <a:buChar char="•"/>
            </a:pPr>
            <a:r>
              <a:rPr lang="en-US" sz="900" b="0" i="0">
                <a:solidFill>
                  <a:srgbClr val="2B374D"/>
                </a:solidFill>
                <a:latin typeface="Segoe UI"/>
              </a:rPr>
              <a:t>Ambiguous-name, alias, misspelling, duplicate-name, and no-match behavior</a:t>
            </a:r>
          </a:p>
          <a:p>
            <a:pPr marL="146304" indent="-137160">
              <a:lnSpc>
                <a:spcPct val="100000"/>
              </a:lnSpc>
              <a:spcBef>
                <a:spcPts val="200"/>
              </a:spcBef>
              <a:buFont typeface="Arial"/>
              <a:buChar char="•"/>
            </a:pPr>
            <a:r>
              <a:rPr lang="en-US" sz="900" b="0" i="0">
                <a:solidFill>
                  <a:srgbClr val="2B374D"/>
                </a:solidFill>
                <a:latin typeface="Segoe UI"/>
              </a:rPr>
              <a:t>Answer precedence among Verified Answers, AI instructions, descriptions, and generated DAX</a:t>
            </a:r>
          </a:p>
          <a:p>
            <a:pPr marL="146304" indent="-137160">
              <a:lnSpc>
                <a:spcPct val="100000"/>
              </a:lnSpc>
              <a:spcBef>
                <a:spcPts val="200"/>
              </a:spcBef>
              <a:buFont typeface="Arial"/>
              <a:buChar char="•"/>
            </a:pPr>
            <a:r>
              <a:rPr lang="en-US" sz="900" b="0" i="0">
                <a:solidFill>
                  <a:srgbClr val="2B374D"/>
                </a:solidFill>
                <a:latin typeface="Segoe UI"/>
              </a:rPr>
              <a:t>Grounding quality and whether ontology-based grounding would provide value</a:t>
            </a:r>
          </a:p>
          <a:p>
            <a:pPr marL="146304" indent="-137160">
              <a:lnSpc>
                <a:spcPct val="100000"/>
              </a:lnSpc>
              <a:spcBef>
                <a:spcPts val="200"/>
              </a:spcBef>
              <a:buFont typeface="Arial"/>
              <a:buChar char="•"/>
            </a:pPr>
            <a:r>
              <a:rPr lang="en-US" sz="900" b="0" i="0">
                <a:solidFill>
                  <a:srgbClr val="2B374D"/>
                </a:solidFill>
                <a:latin typeface="Segoe UI"/>
              </a:rPr>
              <a:t>Clarification behavior for ambiguous metrics or date roles</a:t>
            </a:r>
          </a:p>
          <a:p>
            <a:pPr marL="146304" indent="-137160">
              <a:lnSpc>
                <a:spcPct val="100000"/>
              </a:lnSpc>
              <a:spcBef>
                <a:spcPts val="200"/>
              </a:spcBef>
              <a:buFont typeface="Arial"/>
              <a:buChar char="•"/>
            </a:pPr>
            <a:r>
              <a:rPr lang="en-US" sz="900" b="0" i="0">
                <a:solidFill>
                  <a:srgbClr val="2B374D"/>
                </a:solidFill>
                <a:latin typeface="Segoe UI"/>
              </a:rPr>
              <a:t>Behavior for unsupported, causal, regulated, or potentially misleading questions</a:t>
            </a:r>
          </a:p>
          <a:p>
            <a:pPr marL="146304" indent="-137160">
              <a:lnSpc>
                <a:spcPct val="100000"/>
              </a:lnSpc>
              <a:spcBef>
                <a:spcPts val="200"/>
              </a:spcBef>
              <a:buFont typeface="Arial"/>
              <a:buChar char="•"/>
            </a:pPr>
            <a:r>
              <a:rPr lang="en-US" sz="900" b="0" i="0">
                <a:solidFill>
                  <a:srgbClr val="2B374D"/>
                </a:solidFill>
                <a:latin typeface="Segoe UI"/>
              </a:rPr>
              <a:t>Whether unrelated model deployments preserve existing Prep-for-AI artifacts</a:t>
            </a:r>
          </a:p>
        </p:txBody>
      </p:sp>
      <p:sp>
        <p:nvSpPr>
          <p:cNvPr id="16" name="Rounded Rectangle 15"/>
          <p:cNvSpPr/>
          <p:nvPr/>
        </p:nvSpPr>
        <p:spPr>
          <a:xfrm>
            <a:off x="8412480" y="1645920"/>
            <a:ext cx="3200400" cy="4754880"/>
          </a:xfrm>
          <a:prstGeom prst="roundRect">
            <a:avLst>
              <a:gd name="adj" fmla="val 5000"/>
            </a:avLst>
          </a:prstGeom>
          <a:solidFill>
            <a:srgbClr val="ED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595360" y="1828800"/>
            <a:ext cx="329184" cy="329184"/>
          </a:xfrm>
          <a:prstGeom prst="ellipse">
            <a:avLst/>
          </a:prstGeom>
          <a:solidFill>
            <a:srgbClr val="13847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FFFFFF"/>
                </a:solidFill>
                <a:latin typeface="Segoe UI"/>
              </a:rPr>
              <a:t>3</a:t>
            </a:r>
          </a:p>
        </p:txBody>
      </p:sp>
      <p:sp>
        <p:nvSpPr>
          <p:cNvPr id="18" name="TextBox 17"/>
          <p:cNvSpPr txBox="1"/>
          <p:nvPr/>
        </p:nvSpPr>
        <p:spPr>
          <a:xfrm>
            <a:off x="9034272" y="1828800"/>
            <a:ext cx="2395728" cy="329184"/>
          </a:xfrm>
          <a:prstGeom prst="rect">
            <a:avLst/>
          </a:prstGeom>
          <a:noFill/>
        </p:spPr>
        <p:txBody>
          <a:bodyPr wrap="square" lIns="0" tIns="0" rIns="0" bIns="0" anchor="ctr">
            <a:spAutoFit/>
          </a:bodyPr>
          <a:lstStyle/>
          <a:p>
            <a:r>
              <a:rPr sz="1500" b="1" i="0">
                <a:solidFill>
                  <a:srgbClr val="17233C"/>
                </a:solidFill>
                <a:latin typeface="Segoe UI"/>
              </a:rPr>
              <a:t>Validation and testing</a:t>
            </a:r>
          </a:p>
        </p:txBody>
      </p:sp>
      <p:sp>
        <p:nvSpPr>
          <p:cNvPr id="19" name="TextBox 18"/>
          <p:cNvSpPr txBox="1"/>
          <p:nvPr/>
        </p:nvSpPr>
        <p:spPr>
          <a:xfrm>
            <a:off x="8595360" y="2267712"/>
            <a:ext cx="2834640" cy="4023360"/>
          </a:xfrm>
          <a:prstGeom prst="rect">
            <a:avLst/>
          </a:prstGeom>
          <a:noFill/>
        </p:spPr>
        <p:txBody>
          <a:bodyPr wrap="square" lIns="0" tIns="0" rIns="0" bIns="0">
            <a:spAutoFit/>
          </a:bodyPr>
          <a:lstStyle/>
          <a:p>
            <a:pPr>
              <a:lnSpc>
                <a:spcPct val="100000"/>
              </a:lnSpc>
              <a:spcBef>
                <a:spcPts val="700"/>
              </a:spcBef>
            </a:pPr>
            <a:r>
              <a:rPr sz="1100" b="1" i="0">
                <a:solidFill>
                  <a:srgbClr val="138477"/>
                </a:solidFill>
                <a:latin typeface="Segoe UI"/>
              </a:rPr>
              <a:t>5. Evidence validation</a:t>
            </a:r>
          </a:p>
          <a:p>
            <a:pPr marL="146304" indent="-137160">
              <a:lnSpc>
                <a:spcPct val="100000"/>
              </a:lnSpc>
              <a:spcBef>
                <a:spcPts val="200"/>
              </a:spcBef>
              <a:buFont typeface="Arial"/>
              <a:buChar char="•"/>
            </a:pPr>
            <a:r>
              <a:rPr sz="950" b="0" i="0">
                <a:solidFill>
                  <a:srgbClr val="2B374D"/>
                </a:solidFill>
                <a:latin typeface="Segoe UI"/>
              </a:rPr>
              <a:t>Run a small number of safe, read-only DAX queries to verify important totals, metric definitions, date behavior, denominators, and identified ambiguities</a:t>
            </a:r>
          </a:p>
          <a:p>
            <a:pPr marL="146304" indent="-137160">
              <a:lnSpc>
                <a:spcPct val="100000"/>
              </a:lnSpc>
              <a:spcBef>
                <a:spcPts val="200"/>
              </a:spcBef>
              <a:buFont typeface="Arial"/>
              <a:buChar char="•"/>
            </a:pPr>
            <a:r>
              <a:rPr sz="950" b="0" i="0">
                <a:solidFill>
                  <a:srgbClr val="2B374D"/>
                </a:solidFill>
                <a:latin typeface="Segoe UI"/>
              </a:rPr>
              <a:t>Reconcile mutually exclusive categories where appropriate</a:t>
            </a:r>
          </a:p>
          <a:p>
            <a:pPr marL="146304" indent="-137160">
              <a:lnSpc>
                <a:spcPct val="100000"/>
              </a:lnSpc>
              <a:spcBef>
                <a:spcPts val="200"/>
              </a:spcBef>
              <a:buFont typeface="Arial"/>
              <a:buChar char="•"/>
            </a:pPr>
            <a:r>
              <a:rPr sz="950" b="0" i="0">
                <a:solidFill>
                  <a:srgbClr val="2B374D"/>
                </a:solidFill>
                <a:latin typeface="Segoe UI"/>
              </a:rPr>
              <a:t>Report actual results and distinguish model-consistency checks from source-system or accounting validation</a:t>
            </a:r>
          </a:p>
          <a:p>
            <a:pPr marL="146304" indent="-137160">
              <a:lnSpc>
                <a:spcPct val="100000"/>
              </a:lnSpc>
              <a:spcBef>
                <a:spcPts val="200"/>
              </a:spcBef>
              <a:buFont typeface="Arial"/>
              <a:buChar char="•"/>
            </a:pPr>
            <a:r>
              <a:rPr sz="950" b="0" i="0">
                <a:solidFill>
                  <a:srgbClr val="2B374D"/>
                </a:solidFill>
                <a:latin typeface="Segoe UI"/>
              </a:rPr>
              <a:t>Do not treat passing DAX queries as proof of conversational accuracy or as Verified Answers</a:t>
            </a:r>
          </a:p>
          <a:p>
            <a:pPr marL="146304" indent="-137160">
              <a:lnSpc>
                <a:spcPct val="100000"/>
              </a:lnSpc>
              <a:spcBef>
                <a:spcPts val="200"/>
              </a:spcBef>
              <a:buFont typeface="Arial"/>
              <a:buChar char="•"/>
            </a:pPr>
            <a:r>
              <a:rPr sz="950" b="0" i="0">
                <a:solidFill>
                  <a:srgbClr val="2B374D"/>
                </a:solidFill>
                <a:latin typeface="Segoe UI"/>
              </a:rPr>
              <a:t>Do not expose sensitive row-level data</a:t>
            </a:r>
          </a:p>
          <a:p>
            <a:pPr>
              <a:lnSpc>
                <a:spcPct val="100000"/>
              </a:lnSpc>
              <a:spcBef>
                <a:spcPts val="700"/>
              </a:spcBef>
            </a:pPr>
            <a:r>
              <a:rPr sz="1100" b="1" i="0">
                <a:solidFill>
                  <a:srgbClr val="138477"/>
                </a:solidFill>
                <a:latin typeface="Segoe UI"/>
              </a:rPr>
              <a:t>6. Testing recommendations</a:t>
            </a:r>
          </a:p>
          <a:p>
            <a:pPr marL="146304" indent="-137160">
              <a:lnSpc>
                <a:spcPct val="100000"/>
              </a:lnSpc>
              <a:spcBef>
                <a:spcPts val="200"/>
              </a:spcBef>
              <a:buFont typeface="Arial"/>
              <a:buChar char="•"/>
            </a:pPr>
            <a:r>
              <a:rPr sz="950" b="0" i="0">
                <a:solidFill>
                  <a:srgbClr val="2B374D"/>
                </a:solidFill>
                <a:latin typeface="Segoe UI"/>
              </a:rPr>
              <a:t>Provide at least five representative business questions</a:t>
            </a:r>
          </a:p>
          <a:p>
            <a:pPr marL="146304" indent="-137160">
              <a:lnSpc>
                <a:spcPct val="100000"/>
              </a:lnSpc>
              <a:spcBef>
                <a:spcPts val="200"/>
              </a:spcBef>
              <a:buFont typeface="Arial"/>
              <a:buChar char="•"/>
            </a:pPr>
            <a:r>
              <a:rPr sz="950" b="0" i="0">
                <a:solidFill>
                  <a:srgbClr val="2B374D"/>
                </a:solidFill>
                <a:latin typeface="Segoe UI"/>
              </a:rPr>
              <a:t>Provide negative and ambiguous tests</a:t>
            </a:r>
          </a:p>
          <a:p>
            <a:pPr marL="146304" indent="-137160">
              <a:lnSpc>
                <a:spcPct val="100000"/>
              </a:lnSpc>
              <a:spcBef>
                <a:spcPts val="200"/>
              </a:spcBef>
              <a:buFont typeface="Arial"/>
              <a:buChar char="•"/>
            </a:pPr>
            <a:r>
              <a:rPr sz="950" b="0" i="0">
                <a:solidFill>
                  <a:srgbClr val="2B374D"/>
                </a:solidFill>
                <a:latin typeface="Segoe UI"/>
              </a:rPr>
              <a:t>Include tests for entity resolution, date ambiguity, unsupported metrics, causal questions, and Verified Answer near-matches</a:t>
            </a:r>
          </a:p>
          <a:p>
            <a:pPr marL="146304" indent="-137160">
              <a:lnSpc>
                <a:spcPct val="100000"/>
              </a:lnSpc>
              <a:spcBef>
                <a:spcPts val="200"/>
              </a:spcBef>
              <a:buFont typeface="Arial"/>
              <a:buChar char="•"/>
            </a:pPr>
            <a:r>
              <a:rPr sz="950" b="0" i="0">
                <a:solidFill>
                  <a:srgbClr val="2B374D"/>
                </a:solidFill>
                <a:latin typeface="Segoe UI"/>
              </a:rPr>
              <a:t>State what was tested, what was not tested, and what requires live Copilot or data-agent validation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48640" y="320040"/>
            <a:ext cx="3017520" cy="292608"/>
          </a:xfrm>
          <a:prstGeom prst="roundRect">
            <a:avLst>
              <a:gd name="adj" fmla="val 50000"/>
            </a:avLst>
          </a:prstGeom>
          <a:solidFill>
            <a:srgbClr val="F3EF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320040"/>
            <a:ext cx="2798064" cy="292608"/>
          </a:xfrm>
          <a:prstGeom prst="rect">
            <a:avLst/>
          </a:prstGeom>
          <a:noFill/>
        </p:spPr>
        <p:txBody>
          <a:bodyPr wrap="square" lIns="0" tIns="0" rIns="0" bIns="0" anchor="ctr">
            <a:spAutoFit/>
          </a:bodyPr>
          <a:lstStyle/>
          <a:p>
            <a:r>
              <a:rPr sz="1000" b="1" i="0">
                <a:solidFill>
                  <a:srgbClr val="7655D6"/>
                </a:solidFill>
                <a:latin typeface="Segoe UI"/>
              </a:rPr>
              <a:t>AGENT PROMPT | 3 OF 3</a:t>
            </a:r>
          </a:p>
        </p:txBody>
      </p:sp>
      <p:sp>
        <p:nvSpPr>
          <p:cNvPr id="4" name="TextBox 3"/>
          <p:cNvSpPr txBox="1"/>
          <p:nvPr/>
        </p:nvSpPr>
        <p:spPr>
          <a:xfrm>
            <a:off x="8668512" y="320040"/>
            <a:ext cx="2971800" cy="292608"/>
          </a:xfrm>
          <a:prstGeom prst="rect">
            <a:avLst/>
          </a:prstGeom>
          <a:noFill/>
        </p:spPr>
        <p:txBody>
          <a:bodyPr wrap="square" lIns="0" tIns="0" rIns="0" bIns="0" anchor="ctr">
            <a:spAutoFit/>
          </a:bodyPr>
          <a:lstStyle/>
          <a:p>
            <a:pPr algn="r"/>
            <a:r>
              <a:rPr sz="1000" b="0" i="0">
                <a:solidFill>
                  <a:srgbClr val="56657B"/>
                </a:solidFill>
                <a:latin typeface="Segoe UI"/>
              </a:rPr>
              <a:t>Full copy-ready prompt in slide 6 notes</a:t>
            </a:r>
          </a:p>
        </p:txBody>
      </p:sp>
      <p:sp>
        <p:nvSpPr>
          <p:cNvPr id="5" name="TextBox 4"/>
          <p:cNvSpPr txBox="1"/>
          <p:nvPr/>
        </p:nvSpPr>
        <p:spPr>
          <a:xfrm>
            <a:off x="548640" y="749808"/>
            <a:ext cx="11064240" cy="548640"/>
          </a:xfrm>
          <a:prstGeom prst="rect">
            <a:avLst/>
          </a:prstGeom>
          <a:noFill/>
        </p:spPr>
        <p:txBody>
          <a:bodyPr wrap="square" lIns="0" tIns="0" rIns="0" bIns="0">
            <a:spAutoFit/>
          </a:bodyPr>
          <a:lstStyle/>
          <a:p>
            <a:r>
              <a:rPr sz="2800" b="1" i="0">
                <a:solidFill>
                  <a:srgbClr val="17233C"/>
                </a:solidFill>
                <a:latin typeface="Segoe UI"/>
              </a:rPr>
              <a:t>Scoring rules, deliverable and final checks</a:t>
            </a:r>
          </a:p>
        </p:txBody>
      </p:sp>
      <p:sp>
        <p:nvSpPr>
          <p:cNvPr id="6" name="TextBox 5"/>
          <p:cNvSpPr txBox="1"/>
          <p:nvPr/>
        </p:nvSpPr>
        <p:spPr>
          <a:xfrm>
            <a:off x="566928" y="1298448"/>
            <a:ext cx="10972800" cy="320040"/>
          </a:xfrm>
          <a:prstGeom prst="rect">
            <a:avLst/>
          </a:prstGeom>
          <a:noFill/>
        </p:spPr>
        <p:txBody>
          <a:bodyPr wrap="square" lIns="0" tIns="0" rIns="0" bIns="0">
            <a:spAutoFit/>
          </a:bodyPr>
          <a:lstStyle/>
          <a:p>
            <a:r>
              <a:rPr sz="1300" b="0" i="0">
                <a:solidFill>
                  <a:srgbClr val="56657B"/>
                </a:solidFill>
                <a:latin typeface="Segoe UI"/>
              </a:rPr>
              <a:t>How the score is calculated, what the HTML scorecard must contain, and what to verify before finishing.</a:t>
            </a:r>
          </a:p>
        </p:txBody>
      </p:sp>
      <p:sp>
        <p:nvSpPr>
          <p:cNvPr id="7" name="TextBox 6"/>
          <p:cNvSpPr txBox="1"/>
          <p:nvPr/>
        </p:nvSpPr>
        <p:spPr>
          <a:xfrm>
            <a:off x="548640" y="6483096"/>
            <a:ext cx="4572000" cy="182880"/>
          </a:xfrm>
          <a:prstGeom prst="rect">
            <a:avLst/>
          </a:prstGeom>
          <a:noFill/>
        </p:spPr>
        <p:txBody>
          <a:bodyPr wrap="square" lIns="0" tIns="0" rIns="0" bIns="0">
            <a:spAutoFit/>
          </a:bodyPr>
          <a:lstStyle/>
          <a:p>
            <a:r>
              <a:rPr sz="900" b="1" i="0">
                <a:solidFill>
                  <a:srgbClr val="56657B"/>
                </a:solidFill>
                <a:latin typeface="Segoe UI"/>
              </a:rPr>
              <a:t>TALK TO YOUR INSURANCE DATA</a:t>
            </a:r>
          </a:p>
        </p:txBody>
      </p:sp>
      <p:sp>
        <p:nvSpPr>
          <p:cNvPr id="8" name="Rounded Rectangle 7"/>
          <p:cNvSpPr/>
          <p:nvPr/>
        </p:nvSpPr>
        <p:spPr>
          <a:xfrm>
            <a:off x="548640" y="1645920"/>
            <a:ext cx="3200400" cy="4754880"/>
          </a:xfrm>
          <a:prstGeom prst="roundRect">
            <a:avLst>
              <a:gd name="adj" fmla="val 5000"/>
            </a:avLst>
          </a:prstGeom>
          <a:solidFill>
            <a:srgbClr val="ED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31520" y="1828800"/>
            <a:ext cx="329184" cy="32918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FFFFFF"/>
                </a:solidFill>
                <a:latin typeface="Segoe UI"/>
              </a:rPr>
              <a:t>1</a:t>
            </a:r>
          </a:p>
        </p:txBody>
      </p:sp>
      <p:sp>
        <p:nvSpPr>
          <p:cNvPr id="10" name="TextBox 9"/>
          <p:cNvSpPr txBox="1"/>
          <p:nvPr/>
        </p:nvSpPr>
        <p:spPr>
          <a:xfrm>
            <a:off x="1170432" y="1828800"/>
            <a:ext cx="2395728" cy="329184"/>
          </a:xfrm>
          <a:prstGeom prst="rect">
            <a:avLst/>
          </a:prstGeom>
          <a:noFill/>
        </p:spPr>
        <p:txBody>
          <a:bodyPr wrap="square" lIns="0" tIns="0" rIns="0" bIns="0" anchor="ctr">
            <a:spAutoFit/>
          </a:bodyPr>
          <a:lstStyle/>
          <a:p>
            <a:r>
              <a:rPr sz="1500" b="1" i="0">
                <a:solidFill>
                  <a:srgbClr val="17233C"/>
                </a:solidFill>
                <a:latin typeface="Segoe UI"/>
              </a:rPr>
              <a:t>Scoring rules</a:t>
            </a:r>
          </a:p>
        </p:txBody>
      </p:sp>
      <p:sp>
        <p:nvSpPr>
          <p:cNvPr id="11" name="TextBox 10"/>
          <p:cNvSpPr txBox="1"/>
          <p:nvPr/>
        </p:nvSpPr>
        <p:spPr>
          <a:xfrm>
            <a:off x="731520" y="2267712"/>
            <a:ext cx="2834640" cy="4023360"/>
          </a:xfrm>
          <a:prstGeom prst="rect">
            <a:avLst/>
          </a:prstGeom>
          <a:noFill/>
        </p:spPr>
        <p:txBody>
          <a:bodyPr wrap="square" lIns="0" tIns="0" rIns="0" bIns="0">
            <a:spAutoFit/>
          </a:bodyPr>
          <a:lstStyle/>
          <a:p>
            <a:pPr marL="146304" indent="-137160">
              <a:lnSpc>
                <a:spcPct val="100000"/>
              </a:lnSpc>
              <a:spcBef>
                <a:spcPts val="200"/>
              </a:spcBef>
              <a:buFont typeface="Arial"/>
              <a:buChar char="•"/>
            </a:pPr>
            <a:r>
              <a:rPr sz="950" b="0" i="0">
                <a:solidFill>
                  <a:srgbClr val="2B374D"/>
                </a:solidFill>
                <a:latin typeface="Segoe UI"/>
              </a:rPr>
              <a:t>Score each dimension from 0–100 using observed evidence.</a:t>
            </a:r>
          </a:p>
          <a:p>
            <a:pPr marL="146304" indent="-137160">
              <a:lnSpc>
                <a:spcPct val="100000"/>
              </a:lnSpc>
              <a:spcBef>
                <a:spcPts val="200"/>
              </a:spcBef>
              <a:buFont typeface="Arial"/>
              <a:buChar char="•"/>
            </a:pPr>
            <a:r>
              <a:rPr sz="950" b="0" i="0">
                <a:solidFill>
                  <a:srgbClr val="2B374D"/>
                </a:solidFill>
                <a:latin typeface="Segoe UI"/>
              </a:rPr>
              <a:t>Calculate the overall score using the stated weights and round only once at the end.</a:t>
            </a:r>
          </a:p>
          <a:p>
            <a:pPr marL="146304" indent="-137160">
              <a:lnSpc>
                <a:spcPct val="100000"/>
              </a:lnSpc>
              <a:spcBef>
                <a:spcPts val="200"/>
              </a:spcBef>
              <a:buFont typeface="Arial"/>
              <a:buChar char="•"/>
            </a:pPr>
            <a:r>
              <a:rPr sz="950" b="0" i="0">
                <a:solidFill>
                  <a:srgbClr val="2B374D"/>
                </a:solidFill>
                <a:latin typeface="Segoe UI"/>
              </a:rPr>
              <a:t>Label the result “Indicative readiness.”</a:t>
            </a:r>
          </a:p>
          <a:p>
            <a:pPr marL="146304" indent="-137160">
              <a:lnSpc>
                <a:spcPct val="100000"/>
              </a:lnSpc>
              <a:spcBef>
                <a:spcPts val="200"/>
              </a:spcBef>
              <a:buFont typeface="Arial"/>
              <a:buChar char="•"/>
            </a:pPr>
            <a:r>
              <a:rPr sz="950" b="0" i="0">
                <a:solidFill>
                  <a:srgbClr val="2B374D"/>
                </a:solidFill>
                <a:latin typeface="Segoe UI"/>
              </a:rPr>
              <a:t>Explain that it is a judgment-based assessment, not certification or measured conversational accuracy.</a:t>
            </a:r>
          </a:p>
          <a:p>
            <a:pPr marL="146304" indent="-137160">
              <a:lnSpc>
                <a:spcPct val="100000"/>
              </a:lnSpc>
              <a:spcBef>
                <a:spcPts val="200"/>
              </a:spcBef>
              <a:buFont typeface="Arial"/>
              <a:buChar char="•"/>
            </a:pPr>
            <a:r>
              <a:rPr sz="950" b="0" i="0">
                <a:solidFill>
                  <a:srgbClr val="2B374D"/>
                </a:solidFill>
                <a:latin typeface="Segoe UI"/>
              </a:rPr>
              <a:t>Use 0 only when an artifact or capability is confirmed absent from an inspected source.</a:t>
            </a:r>
          </a:p>
          <a:p>
            <a:pPr marL="146304" indent="-137160">
              <a:lnSpc>
                <a:spcPct val="100000"/>
              </a:lnSpc>
              <a:spcBef>
                <a:spcPts val="200"/>
              </a:spcBef>
              <a:buFont typeface="Arial"/>
              <a:buChar char="•"/>
            </a:pPr>
            <a:r>
              <a:rPr sz="950" b="0" i="0">
                <a:solidFill>
                  <a:srgbClr val="2B374D"/>
                </a:solidFill>
                <a:latin typeface="Segoe UI"/>
              </a:rPr>
              <a:t>If evidence is inaccessible, show “Not assessed” rather than assuming it is absent. Do not silently reweight the score; report an incomplete assessment and identify the missing evidence.</a:t>
            </a:r>
          </a:p>
          <a:p>
            <a:pPr marL="146304" indent="-137160">
              <a:lnSpc>
                <a:spcPct val="100000"/>
              </a:lnSpc>
              <a:spcBef>
                <a:spcPts val="200"/>
              </a:spcBef>
              <a:buFont typeface="Arial"/>
              <a:buChar char="•"/>
            </a:pPr>
            <a:r>
              <a:rPr sz="950" b="0" i="0">
                <a:solidFill>
                  <a:srgbClr val="2B374D"/>
                </a:solidFill>
                <a:latin typeface="Segoe UI"/>
              </a:rPr>
              <a:t>Do not give Verified Answer credit merely because measures or DAX queries work.</a:t>
            </a:r>
          </a:p>
          <a:p>
            <a:pPr marL="146304" indent="-137160">
              <a:lnSpc>
                <a:spcPct val="100000"/>
              </a:lnSpc>
              <a:spcBef>
                <a:spcPts val="200"/>
              </a:spcBef>
              <a:buFont typeface="Arial"/>
              <a:buChar char="•"/>
            </a:pPr>
            <a:r>
              <a:rPr sz="950" b="0" i="0">
                <a:solidFill>
                  <a:srgbClr val="2B374D"/>
                </a:solidFill>
                <a:latin typeface="Segoe UI"/>
              </a:rPr>
              <a:t>Keep agentic-readiness considerations separate from the six weighted dimensions unless the repository guidance explicitly adds them to the scoring model.</a:t>
            </a:r>
          </a:p>
        </p:txBody>
      </p:sp>
      <p:sp>
        <p:nvSpPr>
          <p:cNvPr id="12" name="Rounded Rectangle 11"/>
          <p:cNvSpPr/>
          <p:nvPr/>
        </p:nvSpPr>
        <p:spPr>
          <a:xfrm>
            <a:off x="4023360" y="1645920"/>
            <a:ext cx="4114800" cy="4754880"/>
          </a:xfrm>
          <a:prstGeom prst="roundRect">
            <a:avLst>
              <a:gd name="adj" fmla="val 5000"/>
            </a:avLst>
          </a:prstGeom>
          <a:solidFill>
            <a:srgbClr val="F3EF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206240" y="1828800"/>
            <a:ext cx="329184" cy="329184"/>
          </a:xfrm>
          <a:prstGeom prst="ellipse">
            <a:avLst/>
          </a:prstGeom>
          <a:solidFill>
            <a:srgbClr val="7655D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FFFFFF"/>
                </a:solidFill>
                <a:latin typeface="Segoe UI"/>
              </a:rPr>
              <a:t>2</a:t>
            </a:r>
          </a:p>
        </p:txBody>
      </p:sp>
      <p:sp>
        <p:nvSpPr>
          <p:cNvPr id="14" name="TextBox 13"/>
          <p:cNvSpPr txBox="1"/>
          <p:nvPr/>
        </p:nvSpPr>
        <p:spPr>
          <a:xfrm>
            <a:off x="4645152" y="1828800"/>
            <a:ext cx="3310128" cy="329184"/>
          </a:xfrm>
          <a:prstGeom prst="rect">
            <a:avLst/>
          </a:prstGeom>
          <a:noFill/>
        </p:spPr>
        <p:txBody>
          <a:bodyPr wrap="square" lIns="0" tIns="0" rIns="0" bIns="0" anchor="ctr">
            <a:spAutoFit/>
          </a:bodyPr>
          <a:lstStyle/>
          <a:p>
            <a:r>
              <a:rPr sz="1500" b="1" i="0">
                <a:solidFill>
                  <a:srgbClr val="17233C"/>
                </a:solidFill>
                <a:latin typeface="Segoe UI"/>
              </a:rPr>
              <a:t>Deliverable</a:t>
            </a:r>
          </a:p>
        </p:txBody>
      </p:sp>
      <p:sp>
        <p:nvSpPr>
          <p:cNvPr id="15" name="TextBox 14"/>
          <p:cNvSpPr txBox="1"/>
          <p:nvPr/>
        </p:nvSpPr>
        <p:spPr>
          <a:xfrm>
            <a:off x="4206240" y="2267712"/>
            <a:ext cx="3749040" cy="3757439"/>
          </a:xfrm>
          <a:prstGeom prst="rect">
            <a:avLst/>
          </a:prstGeom>
          <a:noFill/>
        </p:spPr>
        <p:txBody>
          <a:bodyPr wrap="square" lIns="0" tIns="0" rIns="0" bIns="0">
            <a:spAutoFit/>
          </a:bodyPr>
          <a:lstStyle/>
          <a:p>
            <a:pPr>
              <a:lnSpc>
                <a:spcPct val="100000"/>
              </a:lnSpc>
              <a:spcBef>
                <a:spcPts val="400"/>
              </a:spcBef>
            </a:pPr>
            <a:r>
              <a:rPr lang="en-US" sz="850" b="0" i="0">
                <a:solidFill>
                  <a:srgbClr val="2B374D"/>
                </a:solidFill>
                <a:latin typeface="Segoe UI"/>
              </a:rPr>
              <a:t>Create a new, self-contained HTML file in the current VS Code workspace named: [semantic-model-name]-agentic-ai-readiness-scorecard.html</a:t>
            </a:r>
          </a:p>
          <a:p>
            <a:pPr>
              <a:lnSpc>
                <a:spcPct val="100000"/>
              </a:lnSpc>
              <a:spcBef>
                <a:spcPts val="400"/>
              </a:spcBef>
            </a:pPr>
            <a:r>
              <a:rPr lang="en-US" sz="850" b="0" i="0">
                <a:solidFill>
                  <a:srgbClr val="2B374D"/>
                </a:solidFill>
                <a:latin typeface="Segoe UI"/>
              </a:rPr>
              <a:t>The HTML must:</a:t>
            </a:r>
          </a:p>
          <a:p>
            <a:pPr marL="146304" indent="-137160">
              <a:lnSpc>
                <a:spcPct val="100000"/>
              </a:lnSpc>
              <a:spcBef>
                <a:spcPts val="200"/>
              </a:spcBef>
              <a:buFont typeface="Arial"/>
              <a:buChar char="•"/>
            </a:pPr>
            <a:r>
              <a:rPr lang="en-US" sz="850" b="0" i="0">
                <a:solidFill>
                  <a:srgbClr val="2B374D"/>
                </a:solidFill>
                <a:latin typeface="Segoe UI"/>
              </a:rPr>
              <a:t>Work offline with inline CSS and SVG</a:t>
            </a:r>
          </a:p>
          <a:p>
            <a:pPr marL="146304" indent="-137160">
              <a:lnSpc>
                <a:spcPct val="100000"/>
              </a:lnSpc>
              <a:spcBef>
                <a:spcPts val="200"/>
              </a:spcBef>
              <a:buFont typeface="Arial"/>
              <a:buChar char="•"/>
            </a:pPr>
            <a:r>
              <a:rPr lang="en-US" sz="850" b="0" i="0">
                <a:solidFill>
                  <a:srgbClr val="2B374D"/>
                </a:solidFill>
                <a:latin typeface="Segoe UI"/>
              </a:rPr>
              <a:t>Use a polished emerald/mint executive design</a:t>
            </a:r>
          </a:p>
          <a:p>
            <a:pPr marL="146304" indent="-137160">
              <a:lnSpc>
                <a:spcPct val="100000"/>
              </a:lnSpc>
              <a:spcBef>
                <a:spcPts val="200"/>
              </a:spcBef>
              <a:buFont typeface="Arial"/>
              <a:buChar char="•"/>
            </a:pPr>
            <a:r>
              <a:rPr lang="en-US" sz="850" b="0" i="0">
                <a:solidFill>
                  <a:srgbClr val="2B374D"/>
                </a:solidFill>
                <a:latin typeface="Segoe UI"/>
              </a:rPr>
              <a:t>Include a circular readiness gauge</a:t>
            </a:r>
          </a:p>
          <a:p>
            <a:pPr marL="146304" indent="-137160">
              <a:lnSpc>
                <a:spcPct val="100000"/>
              </a:lnSpc>
              <a:spcBef>
                <a:spcPts val="200"/>
              </a:spcBef>
              <a:buFont typeface="Arial"/>
              <a:buChar char="•"/>
            </a:pPr>
            <a:r>
              <a:rPr lang="en-US" sz="850" b="0" i="0">
                <a:solidFill>
                  <a:srgbClr val="2B374D"/>
                </a:solidFill>
                <a:latin typeface="Segoe UI"/>
              </a:rPr>
              <a:t>Include all six dimension scores</a:t>
            </a:r>
          </a:p>
          <a:p>
            <a:pPr marL="146304" indent="-137160">
              <a:lnSpc>
                <a:spcPct val="100000"/>
              </a:lnSpc>
              <a:spcBef>
                <a:spcPts val="200"/>
              </a:spcBef>
              <a:buFont typeface="Arial"/>
              <a:buChar char="•"/>
            </a:pPr>
            <a:r>
              <a:rPr lang="en-US" sz="850" b="0" i="0">
                <a:solidFill>
                  <a:srgbClr val="2B374D"/>
                </a:solidFill>
                <a:latin typeface="Segoe UI"/>
              </a:rPr>
              <a:t>Show four evidence-backed model inventory metrics</a:t>
            </a:r>
          </a:p>
          <a:p>
            <a:pPr marL="146304" indent="-137160">
              <a:lnSpc>
                <a:spcPct val="100000"/>
              </a:lnSpc>
              <a:spcBef>
                <a:spcPts val="200"/>
              </a:spcBef>
              <a:buFont typeface="Arial"/>
              <a:buChar char="•"/>
            </a:pPr>
            <a:r>
              <a:rPr lang="en-US" sz="850" b="0" i="0">
                <a:solidFill>
                  <a:srgbClr val="2B374D"/>
                </a:solidFill>
                <a:latin typeface="Segoe UI"/>
              </a:rPr>
              <a:t>Include one model-specific evidence visualization</a:t>
            </a:r>
          </a:p>
          <a:p>
            <a:pPr marL="146304" indent="-137160">
              <a:lnSpc>
                <a:spcPct val="100000"/>
              </a:lnSpc>
              <a:spcBef>
                <a:spcPts val="200"/>
              </a:spcBef>
              <a:buFont typeface="Arial"/>
              <a:buChar char="•"/>
            </a:pPr>
            <a:r>
              <a:rPr lang="en-US" sz="850" b="0" i="0">
                <a:solidFill>
                  <a:srgbClr val="2B374D"/>
                </a:solidFill>
                <a:latin typeface="Segoe UI"/>
              </a:rPr>
              <a:t>Identify the three highest-value improvements</a:t>
            </a:r>
          </a:p>
          <a:p>
            <a:pPr marL="146304" indent="-137160">
              <a:lnSpc>
                <a:spcPct val="100000"/>
              </a:lnSpc>
              <a:spcBef>
                <a:spcPts val="200"/>
              </a:spcBef>
              <a:buFont typeface="Arial"/>
              <a:buChar char="•"/>
            </a:pPr>
            <a:r>
              <a:rPr lang="en-US" sz="850" b="0" i="0">
                <a:solidFill>
                  <a:srgbClr val="2B374D"/>
                </a:solidFill>
                <a:latin typeface="Segoe UI"/>
              </a:rPr>
              <a:t>Include a “Preserve what works” section</a:t>
            </a:r>
          </a:p>
          <a:p>
            <a:pPr marL="146304" indent="-137160">
              <a:lnSpc>
                <a:spcPct val="100000"/>
              </a:lnSpc>
              <a:spcBef>
                <a:spcPts val="200"/>
              </a:spcBef>
              <a:buFont typeface="Arial"/>
              <a:buChar char="•"/>
            </a:pPr>
            <a:r>
              <a:rPr lang="en-US" sz="850" b="0" i="0">
                <a:solidFill>
                  <a:srgbClr val="2B374D"/>
                </a:solidFill>
                <a:latin typeface="Segoe UI"/>
              </a:rPr>
              <a:t>Include an agentic-readiness lens covering grounding, resolution, routing, answer precedence, boundaries, and change safety</a:t>
            </a:r>
          </a:p>
          <a:p>
            <a:pPr marL="146304" indent="-137160">
              <a:lnSpc>
                <a:spcPct val="100000"/>
              </a:lnSpc>
              <a:spcBef>
                <a:spcPts val="200"/>
              </a:spcBef>
              <a:buFont typeface="Arial"/>
              <a:buChar char="•"/>
            </a:pPr>
            <a:r>
              <a:rPr lang="en-US" sz="850" b="0" i="0">
                <a:solidFill>
                  <a:srgbClr val="2B374D"/>
                </a:solidFill>
                <a:latin typeface="Segoe UI"/>
              </a:rPr>
              <a:t>Include detailed appendices with evidence, scoring rationale, validation results, test questions, negative tests, limitations, and source links</a:t>
            </a:r>
          </a:p>
          <a:p>
            <a:pPr marL="146304" indent="-137160">
              <a:lnSpc>
                <a:spcPct val="100000"/>
              </a:lnSpc>
              <a:spcBef>
                <a:spcPts val="200"/>
              </a:spcBef>
              <a:buFont typeface="Arial"/>
              <a:buChar char="•"/>
            </a:pPr>
            <a:r>
              <a:rPr lang="en-US" sz="850" b="0" i="0">
                <a:solidFill>
                  <a:srgbClr val="2B374D"/>
                </a:solidFill>
                <a:latin typeface="Segoe UI"/>
              </a:rPr>
              <a:t>Clearly separate observed findings from recommendations and untested behavior</a:t>
            </a:r>
          </a:p>
          <a:p>
            <a:pPr marL="146304" indent="-137160">
              <a:lnSpc>
                <a:spcPct val="100000"/>
              </a:lnSpc>
              <a:spcBef>
                <a:spcPts val="200"/>
              </a:spcBef>
              <a:buFont typeface="Arial"/>
              <a:buChar char="•"/>
            </a:pPr>
            <a:r>
              <a:rPr lang="en-US" sz="850" b="0" i="0">
                <a:solidFill>
                  <a:srgbClr val="2B374D"/>
                </a:solidFill>
                <a:latin typeface="Segoe UI"/>
              </a:rPr>
              <a:t>Be responsive on desktop and mobile</a:t>
            </a:r>
          </a:p>
          <a:p>
            <a:pPr marL="146304" indent="-137160">
              <a:lnSpc>
                <a:spcPct val="100000"/>
              </a:lnSpc>
              <a:spcBef>
                <a:spcPts val="200"/>
              </a:spcBef>
              <a:buFont typeface="Arial"/>
              <a:buChar char="•"/>
            </a:pPr>
            <a:r>
              <a:rPr lang="en-US" sz="850" b="0" i="0">
                <a:solidFill>
                  <a:srgbClr val="2B374D"/>
                </a:solidFill>
                <a:latin typeface="Segoe UI"/>
              </a:rPr>
              <a:t>Be formatted for printing to PDF on landscape Letter paper</a:t>
            </a:r>
          </a:p>
          <a:p>
            <a:pPr marL="146304" indent="-137160">
              <a:lnSpc>
                <a:spcPct val="100000"/>
              </a:lnSpc>
              <a:spcBef>
                <a:spcPts val="200"/>
              </a:spcBef>
              <a:buFont typeface="Arial"/>
              <a:buChar char="•"/>
            </a:pPr>
            <a:r>
              <a:rPr lang="en-US" sz="850" b="0" i="0">
                <a:solidFill>
                  <a:srgbClr val="2B374D"/>
                </a:solidFill>
                <a:latin typeface="Segoe UI"/>
              </a:rPr>
              <a:t>Keep the executive scorecard on page 1 and place detailed appendices on subsequent pages</a:t>
            </a:r>
          </a:p>
          <a:p>
            <a:pPr marL="146304" indent="-137160">
              <a:lnSpc>
                <a:spcPct val="100000"/>
              </a:lnSpc>
              <a:spcBef>
                <a:spcPts val="200"/>
              </a:spcBef>
              <a:buFont typeface="Arial"/>
              <a:buChar char="•"/>
            </a:pPr>
            <a:r>
              <a:rPr lang="en-US" sz="850" b="0" i="0">
                <a:solidFill>
                  <a:srgbClr val="2B374D"/>
                </a:solidFill>
                <a:latin typeface="Segoe UI"/>
              </a:rPr>
              <a:t>Avoid blank or nearly blank PDF pages</a:t>
            </a:r>
          </a:p>
          <a:p>
            <a:pPr marL="146304" indent="-137160">
              <a:lnSpc>
                <a:spcPct val="100000"/>
              </a:lnSpc>
              <a:spcBef>
                <a:spcPts val="200"/>
              </a:spcBef>
              <a:buFont typeface="Arial"/>
              <a:buChar char="•"/>
            </a:pPr>
            <a:r>
              <a:rPr lang="en-US" sz="850" b="0" i="0">
                <a:solidFill>
                  <a:srgbClr val="2B374D"/>
                </a:solidFill>
                <a:latin typeface="Segoe UI"/>
              </a:rPr>
              <a:t>Include a Print / Save PDF button</a:t>
            </a:r>
          </a:p>
          <a:p>
            <a:pPr marL="146304" indent="-137160">
              <a:lnSpc>
                <a:spcPct val="100000"/>
              </a:lnSpc>
              <a:spcBef>
                <a:spcPts val="200"/>
              </a:spcBef>
              <a:buFont typeface="Arial"/>
              <a:buChar char="•"/>
            </a:pPr>
            <a:r>
              <a:rPr lang="en-US" sz="850" b="0" i="0">
                <a:solidFill>
                  <a:srgbClr val="2B374D"/>
                </a:solidFill>
                <a:latin typeface="Segoe UI"/>
              </a:rPr>
              <a:t>Contain no credentials, access tokens, raw sensitive records, or unnecessary connection details</a:t>
            </a:r>
          </a:p>
        </p:txBody>
      </p:sp>
      <p:sp>
        <p:nvSpPr>
          <p:cNvPr id="16" name="Rounded Rectangle 15"/>
          <p:cNvSpPr/>
          <p:nvPr/>
        </p:nvSpPr>
        <p:spPr>
          <a:xfrm>
            <a:off x="8412480" y="1645920"/>
            <a:ext cx="3200400" cy="4754880"/>
          </a:xfrm>
          <a:prstGeom prst="roundRect">
            <a:avLst>
              <a:gd name="adj" fmla="val 5000"/>
            </a:avLst>
          </a:prstGeom>
          <a:solidFill>
            <a:srgbClr val="ED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595360" y="1828800"/>
            <a:ext cx="329184" cy="329184"/>
          </a:xfrm>
          <a:prstGeom prst="ellipse">
            <a:avLst/>
          </a:prstGeom>
          <a:solidFill>
            <a:srgbClr val="13847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FFFFFF"/>
                </a:solidFill>
                <a:latin typeface="Segoe UI"/>
              </a:rPr>
              <a:t>3</a:t>
            </a:r>
          </a:p>
        </p:txBody>
      </p:sp>
      <p:sp>
        <p:nvSpPr>
          <p:cNvPr id="18" name="TextBox 17"/>
          <p:cNvSpPr txBox="1"/>
          <p:nvPr/>
        </p:nvSpPr>
        <p:spPr>
          <a:xfrm>
            <a:off x="9034272" y="1828800"/>
            <a:ext cx="2395728" cy="329184"/>
          </a:xfrm>
          <a:prstGeom prst="rect">
            <a:avLst/>
          </a:prstGeom>
          <a:noFill/>
        </p:spPr>
        <p:txBody>
          <a:bodyPr wrap="square" lIns="0" tIns="0" rIns="0" bIns="0" anchor="ctr">
            <a:spAutoFit/>
          </a:bodyPr>
          <a:lstStyle/>
          <a:p>
            <a:r>
              <a:rPr sz="1500" b="1" i="0">
                <a:solidFill>
                  <a:srgbClr val="17233C"/>
                </a:solidFill>
                <a:latin typeface="Segoe UI"/>
              </a:rPr>
              <a:t>Before completing</a:t>
            </a:r>
          </a:p>
        </p:txBody>
      </p:sp>
      <p:sp>
        <p:nvSpPr>
          <p:cNvPr id="19" name="TextBox 18"/>
          <p:cNvSpPr txBox="1"/>
          <p:nvPr/>
        </p:nvSpPr>
        <p:spPr>
          <a:xfrm>
            <a:off x="8595360" y="2267712"/>
            <a:ext cx="2834640" cy="4023360"/>
          </a:xfrm>
          <a:prstGeom prst="rect">
            <a:avLst/>
          </a:prstGeom>
          <a:noFill/>
        </p:spPr>
        <p:txBody>
          <a:bodyPr wrap="square" lIns="0" tIns="0" rIns="0" bIns="0">
            <a:spAutoFit/>
          </a:bodyPr>
          <a:lstStyle/>
          <a:p>
            <a:pPr marL="146304" indent="-137160">
              <a:lnSpc>
                <a:spcPct val="100000"/>
              </a:lnSpc>
              <a:spcBef>
                <a:spcPts val="200"/>
              </a:spcBef>
              <a:buFont typeface="Arial"/>
              <a:buChar char="•"/>
            </a:pPr>
            <a:r>
              <a:rPr sz="950" b="0" i="0">
                <a:solidFill>
                  <a:srgbClr val="2B374D"/>
                </a:solidFill>
                <a:latin typeface="Segoe UI"/>
              </a:rPr>
              <a:t>Verify the weighted-score arithmetic independently.</a:t>
            </a:r>
          </a:p>
          <a:p>
            <a:pPr marL="146304" indent="-137160">
              <a:lnSpc>
                <a:spcPct val="100000"/>
              </a:lnSpc>
              <a:spcBef>
                <a:spcPts val="200"/>
              </a:spcBef>
              <a:buFont typeface="Arial"/>
              <a:buChar char="•"/>
            </a:pPr>
            <a:r>
              <a:rPr sz="950" b="0" i="0">
                <a:solidFill>
                  <a:srgbClr val="2B374D"/>
                </a:solidFill>
                <a:latin typeface="Segoe UI"/>
              </a:rPr>
              <a:t>Check all counts and findings against the inspected model.</a:t>
            </a:r>
          </a:p>
          <a:p>
            <a:pPr marL="146304" indent="-137160">
              <a:lnSpc>
                <a:spcPct val="100000"/>
              </a:lnSpc>
              <a:spcBef>
                <a:spcPts val="200"/>
              </a:spcBef>
              <a:buFont typeface="Arial"/>
              <a:buChar char="•"/>
            </a:pPr>
            <a:r>
              <a:rPr sz="950" b="0" i="0">
                <a:solidFill>
                  <a:srgbClr val="2B374D"/>
                </a:solidFill>
                <a:latin typeface="Segoe UI"/>
              </a:rPr>
              <a:t>Confirm there is no stale content copied from another assessment.</a:t>
            </a:r>
          </a:p>
          <a:p>
            <a:pPr marL="146304" indent="-137160">
              <a:lnSpc>
                <a:spcPct val="100000"/>
              </a:lnSpc>
              <a:spcBef>
                <a:spcPts val="200"/>
              </a:spcBef>
              <a:buFont typeface="Arial"/>
              <a:buChar char="•"/>
            </a:pPr>
            <a:r>
              <a:rPr sz="950" b="0" i="0">
                <a:solidFill>
                  <a:srgbClr val="2B374D"/>
                </a:solidFill>
                <a:latin typeface="Segoe UI"/>
              </a:rPr>
              <a:t>Test desktop and narrow mobile layouts for horizontal overflow.</a:t>
            </a:r>
          </a:p>
          <a:p>
            <a:pPr marL="146304" indent="-137160">
              <a:lnSpc>
                <a:spcPct val="100000"/>
              </a:lnSpc>
              <a:spcBef>
                <a:spcPts val="200"/>
              </a:spcBef>
              <a:buFont typeface="Arial"/>
              <a:buChar char="•"/>
            </a:pPr>
            <a:r>
              <a:rPr sz="950" b="0" i="0">
                <a:solidFill>
                  <a:srgbClr val="2B374D"/>
                </a:solidFill>
                <a:latin typeface="Segoe UI"/>
              </a:rPr>
              <a:t>Test the evidence appendix and keyboard focus behavior.</a:t>
            </a:r>
          </a:p>
          <a:p>
            <a:pPr marL="146304" indent="-137160">
              <a:lnSpc>
                <a:spcPct val="100000"/>
              </a:lnSpc>
              <a:spcBef>
                <a:spcPts val="200"/>
              </a:spcBef>
              <a:buFont typeface="Arial"/>
              <a:buChar char="•"/>
            </a:pPr>
            <a:r>
              <a:rPr sz="950" b="0" i="0">
                <a:solidFill>
                  <a:srgbClr val="2B374D"/>
                </a:solidFill>
                <a:latin typeface="Segoe UI"/>
              </a:rPr>
              <a:t>Test the print layout and confirm the footer stays on page 1.</a:t>
            </a:r>
          </a:p>
          <a:p>
            <a:pPr marL="146304" indent="-137160">
              <a:lnSpc>
                <a:spcPct val="100000"/>
              </a:lnSpc>
              <a:spcBef>
                <a:spcPts val="200"/>
              </a:spcBef>
              <a:buFont typeface="Arial"/>
              <a:buChar char="•"/>
            </a:pPr>
            <a:r>
              <a:rPr sz="950" b="0" i="0">
                <a:solidFill>
                  <a:srgbClr val="2B374D"/>
                </a:solidFill>
                <a:latin typeface="Segoe UI"/>
              </a:rPr>
              <a:t>Confirm the executive page and each appendix fit within their intended printed pages.</a:t>
            </a:r>
          </a:p>
          <a:p>
            <a:pPr marL="146304" indent="-137160">
              <a:lnSpc>
                <a:spcPct val="100000"/>
              </a:lnSpc>
              <a:spcBef>
                <a:spcPts val="200"/>
              </a:spcBef>
              <a:buFont typeface="Arial"/>
              <a:buChar char="•"/>
            </a:pPr>
            <a:r>
              <a:rPr sz="950" b="0" i="0">
                <a:solidFill>
                  <a:srgbClr val="2B374D"/>
                </a:solidFill>
                <a:latin typeface="Segoe UI"/>
              </a:rPr>
              <a:t>State whether any semantic-model or Fabric changes were made.</a:t>
            </a:r>
          </a:p>
          <a:p>
            <a:pPr>
              <a:lnSpc>
                <a:spcPct val="100000"/>
              </a:lnSpc>
              <a:spcBef>
                <a:spcPts val="700"/>
              </a:spcBef>
            </a:pPr>
            <a:r>
              <a:rPr sz="1100" b="1" i="0">
                <a:solidFill>
                  <a:srgbClr val="138477"/>
                </a:solidFill>
                <a:latin typeface="Segoe UI"/>
              </a:rPr>
              <a:t>At the end, provide:</a:t>
            </a:r>
          </a:p>
          <a:p>
            <a:pPr marL="146304" indent="-137160">
              <a:lnSpc>
                <a:spcPct val="100000"/>
              </a:lnSpc>
              <a:spcBef>
                <a:spcPts val="200"/>
              </a:spcBef>
              <a:buFont typeface="Arial"/>
              <a:buChar char="•"/>
            </a:pPr>
            <a:r>
              <a:rPr sz="950" b="0" i="0">
                <a:solidFill>
                  <a:srgbClr val="2B374D"/>
                </a:solidFill>
                <a:latin typeface="Segoe UI"/>
              </a:rPr>
              <a:t>A link to the generated HTML file</a:t>
            </a:r>
          </a:p>
          <a:p>
            <a:pPr marL="146304" indent="-137160">
              <a:lnSpc>
                <a:spcPct val="100000"/>
              </a:lnSpc>
              <a:spcBef>
                <a:spcPts val="200"/>
              </a:spcBef>
              <a:buFont typeface="Arial"/>
              <a:buChar char="•"/>
            </a:pPr>
            <a:r>
              <a:rPr sz="950" b="0" i="0">
                <a:solidFill>
                  <a:srgbClr val="2B374D"/>
                </a:solidFill>
                <a:latin typeface="Segoe UI"/>
              </a:rPr>
              <a:t>The indicative score or incomplete-assessment status</a:t>
            </a:r>
          </a:p>
          <a:p>
            <a:pPr marL="146304" indent="-137160">
              <a:lnSpc>
                <a:spcPct val="100000"/>
              </a:lnSpc>
              <a:spcBef>
                <a:spcPts val="200"/>
              </a:spcBef>
              <a:buFont typeface="Arial"/>
              <a:buChar char="•"/>
            </a:pPr>
            <a:r>
              <a:rPr sz="950" b="0" i="0">
                <a:solidFill>
                  <a:srgbClr val="2B374D"/>
                </a:solidFill>
                <a:latin typeface="Segoe UI"/>
              </a:rPr>
              <a:t>The three most important findings</a:t>
            </a:r>
          </a:p>
          <a:p>
            <a:pPr marL="146304" indent="-137160">
              <a:lnSpc>
                <a:spcPct val="100000"/>
              </a:lnSpc>
              <a:spcBef>
                <a:spcPts val="200"/>
              </a:spcBef>
              <a:buFont typeface="Arial"/>
              <a:buChar char="•"/>
            </a:pPr>
            <a:r>
              <a:rPr sz="950" b="0" i="0">
                <a:solidFill>
                  <a:srgbClr val="2B374D"/>
                </a:solidFill>
                <a:latin typeface="Segoe UI"/>
              </a:rPr>
              <a:t>Any authentication, access, or runtime limitations</a:t>
            </a:r>
          </a:p>
          <a:p>
            <a:pPr marL="146304" indent="-137160">
              <a:lnSpc>
                <a:spcPct val="100000"/>
              </a:lnSpc>
              <a:spcBef>
                <a:spcPts val="200"/>
              </a:spcBef>
              <a:buFont typeface="Arial"/>
              <a:buChar char="•"/>
            </a:pPr>
            <a:r>
              <a:rPr sz="950" b="0" i="0">
                <a:solidFill>
                  <a:srgbClr val="2B374D"/>
                </a:solidFill>
                <a:latin typeface="Segoe UI"/>
              </a:rPr>
              <a:t>A clear statement that the assessment was read-only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3017520" cy="292608"/>
          </a:xfrm>
          <a:prstGeom prst="roundRect">
            <a:avLst>
              <a:gd name="adj" fmla="val 50000"/>
            </a:avLst>
          </a:prstGeom>
          <a:solidFill>
            <a:srgbClr val="F3EFFE"/>
          </a:solidFill>
          <a:ln w="8890">
            <a:solidFill>
              <a:srgbClr val="F3EFFE"/>
            </a:solidFill>
            <a:prstDash val="solid"/>
          </a:ln>
        </p:spPr>
        <p:txBody>
          <a:bodyPr/>
          <a:lstStyle/>
          <a:p>
            <a:endParaRPr lang="en-US"/>
          </a:p>
        </p:txBody>
      </p:sp>
      <p:sp>
        <p:nvSpPr>
          <p:cNvPr id="3" name="Text 1"/>
          <p:cNvSpPr/>
          <p:nvPr/>
        </p:nvSpPr>
        <p:spPr>
          <a:xfrm>
            <a:off x="658368" y="320040"/>
            <a:ext cx="2798064" cy="292608"/>
          </a:xfrm>
          <a:prstGeom prst="rect">
            <a:avLst/>
          </a:prstGeom>
          <a:noFill/>
          <a:ln/>
        </p:spPr>
        <p:txBody>
          <a:bodyPr wrap="square" lIns="0" tIns="0" rIns="0" bIns="0" rtlCol="0" anchor="ctr"/>
          <a:lstStyle/>
          <a:p>
            <a:pPr marL="0" indent="0">
              <a:buNone/>
            </a:pPr>
            <a:r>
              <a:rPr lang="en-US" sz="1000" b="1" dirty="0">
                <a:solidFill>
                  <a:srgbClr val="7655D6"/>
                </a:solidFill>
                <a:latin typeface="Segoe UI" pitchFamily="34" charset="0"/>
                <a:ea typeface="Segoe UI" pitchFamily="34" charset="-122"/>
                <a:cs typeface="Segoe UI" pitchFamily="34" charset="-120"/>
              </a:rPr>
              <a:t>01 | COMPARE</a:t>
            </a:r>
            <a:endParaRPr lang="en-US" sz="1000" dirty="0"/>
          </a:p>
        </p:txBody>
      </p:sp>
      <p:sp>
        <p:nvSpPr>
          <p:cNvPr id="4" name="Text 2"/>
          <p:cNvSpPr/>
          <p:nvPr/>
        </p:nvSpPr>
        <p:spPr>
          <a:xfrm>
            <a:off x="9582912" y="320040"/>
            <a:ext cx="2057400" cy="292608"/>
          </a:xfrm>
          <a:prstGeom prst="rect">
            <a:avLst/>
          </a:prstGeom>
          <a:noFill/>
          <a:ln/>
        </p:spPr>
        <p:txBody>
          <a:bodyPr wrap="square" lIns="0" tIns="0" rIns="0" bIns="0" rtlCol="0" anchor="ctr"/>
          <a:lstStyle/>
          <a:p>
            <a:pPr marL="0" indent="0" algn="r">
              <a:buNone/>
            </a:pPr>
            <a:r>
              <a:rPr lang="en-US" sz="1100" dirty="0">
                <a:solidFill>
                  <a:srgbClr val="56657B"/>
                </a:solidFill>
                <a:latin typeface="Segoe UI" pitchFamily="34" charset="0"/>
                <a:ea typeface="Segoe UI" pitchFamily="34" charset="-122"/>
                <a:cs typeface="Segoe UI" pitchFamily="34" charset="-120"/>
              </a:rPr>
              <a:t>0-10 minutes</a:t>
            </a:r>
            <a:endParaRPr lang="en-US" sz="1100" dirty="0"/>
          </a:p>
        </p:txBody>
      </p:sp>
      <p:sp>
        <p:nvSpPr>
          <p:cNvPr id="5" name="Text 3"/>
          <p:cNvSpPr/>
          <p:nvPr/>
        </p:nvSpPr>
        <p:spPr>
          <a:xfrm>
            <a:off x="548640" y="877824"/>
            <a:ext cx="11064240" cy="621792"/>
          </a:xfrm>
          <a:prstGeom prst="rect">
            <a:avLst/>
          </a:prstGeom>
          <a:noFill/>
          <a:ln/>
        </p:spPr>
        <p:txBody>
          <a:bodyPr wrap="square" lIns="0" tIns="0" rIns="0" bIns="0" rtlCol="0" anchor="ctr"/>
          <a:lstStyle/>
          <a:p>
            <a:pPr marL="0" indent="0">
              <a:buNone/>
            </a:pPr>
            <a:r>
              <a:rPr lang="en-US" sz="3200" b="1" dirty="0">
                <a:solidFill>
                  <a:srgbClr val="17233C"/>
                </a:solidFill>
                <a:latin typeface="Segoe UI" pitchFamily="34" charset="0"/>
                <a:ea typeface="Segoe UI" pitchFamily="34" charset="-122"/>
                <a:cs typeface="Segoe UI" pitchFamily="34" charset="-120"/>
              </a:rPr>
              <a:t>Three experiences. Different starting context.</a:t>
            </a:r>
            <a:endParaRPr lang="en-US" sz="3200" dirty="0"/>
          </a:p>
        </p:txBody>
      </p:sp>
      <p:sp>
        <p:nvSpPr>
          <p:cNvPr id="6" name="Text 4"/>
          <p:cNvSpPr/>
          <p:nvPr/>
        </p:nvSpPr>
        <p:spPr>
          <a:xfrm>
            <a:off x="566928" y="1581912"/>
            <a:ext cx="10927080" cy="502920"/>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A report pane is also in the service. Here, "service" means standalone Copilot.</a:t>
            </a:r>
            <a:endParaRPr lang="en-US" sz="1500" dirty="0"/>
          </a:p>
        </p:txBody>
      </p:sp>
      <p:sp>
        <p:nvSpPr>
          <p:cNvPr id="7" name="Text 5"/>
          <p:cNvSpPr/>
          <p:nvPr/>
        </p:nvSpPr>
        <p:spPr>
          <a:xfrm>
            <a:off x="548640" y="6483096"/>
            <a:ext cx="4572000" cy="182880"/>
          </a:xfrm>
          <a:prstGeom prst="rect">
            <a:avLst/>
          </a:prstGeom>
          <a:noFill/>
          <a:ln/>
        </p:spPr>
        <p:txBody>
          <a:bodyPr wrap="square" lIns="0" tIns="0" rIns="0" bIns="0" rtlCol="0" anchor="ctr"/>
          <a:lstStyle/>
          <a:p>
            <a:pPr marL="0" indent="0">
              <a:buNone/>
            </a:pPr>
            <a:r>
              <a:rPr lang="en-US" sz="900" b="1" dirty="0">
                <a:solidFill>
                  <a:srgbClr val="56657B"/>
                </a:solidFill>
                <a:latin typeface="Segoe UI" pitchFamily="34" charset="0"/>
                <a:ea typeface="Segoe UI" pitchFamily="34" charset="-122"/>
                <a:cs typeface="Segoe UI" pitchFamily="34" charset="-120"/>
              </a:rPr>
              <a:t>TALK TO YOUR INSURANCE DATA</a:t>
            </a:r>
            <a:endParaRPr lang="en-US" sz="900" dirty="0"/>
          </a:p>
        </p:txBody>
      </p:sp>
      <p:sp>
        <p:nvSpPr>
          <p:cNvPr id="8" name="Text 6">
            <a:hlinkClick r:id="rId3"/>
          </p:cNvPr>
          <p:cNvSpPr/>
          <p:nvPr/>
        </p:nvSpPr>
        <p:spPr>
          <a:xfrm>
            <a:off x="8138160" y="6464808"/>
            <a:ext cx="2651760" cy="201168"/>
          </a:xfrm>
          <a:prstGeom prst="rect">
            <a:avLst/>
          </a:prstGeom>
          <a:noFill/>
          <a:ln/>
        </p:spPr>
        <p:txBody>
          <a:bodyPr wrap="square" lIns="0" tIns="0" rIns="0" bIns="0" rtlCol="0" anchor="ctr"/>
          <a:lstStyle/>
          <a:p>
            <a:pPr marL="0" indent="0" algn="r">
              <a:buNone/>
            </a:pPr>
            <a:r>
              <a:rPr lang="en-US" sz="900" u="sng" dirty="0">
                <a:solidFill>
                  <a:srgbClr val="56657B"/>
                </a:solidFill>
                <a:latin typeface="Segoe UI" pitchFamily="34" charset="0"/>
                <a:ea typeface="Segoe UI" pitchFamily="34" charset="-122"/>
                <a:cs typeface="Segoe UI" pitchFamily="34" charset="-120"/>
                <a:hlinkClick r:id="rId3">
                  <a:extLst>
                    <a:ext uri="{A12FA001-AC4F-418D-AE19-62706E023703}">
                      <ahyp:hlinkClr xmlns:ahyp="http://schemas.microsoft.com/office/drawing/2018/hyperlinkcolor" val="tx"/>
                    </a:ext>
                  </a:extLst>
                </a:hlinkClick>
              </a:rPr>
              <a:t>Microsoft Learn | source</a:t>
            </a:r>
            <a:endParaRPr lang="en-US" sz="900" dirty="0"/>
          </a:p>
        </p:txBody>
      </p:sp>
      <p:sp>
        <p:nvSpPr>
          <p:cNvPr id="9" name="Text 7"/>
          <p:cNvSpPr/>
          <p:nvPr/>
        </p:nvSpPr>
        <p:spPr>
          <a:xfrm>
            <a:off x="11082528" y="6437376"/>
            <a:ext cx="548640" cy="228600"/>
          </a:xfrm>
          <a:prstGeom prst="rect">
            <a:avLst/>
          </a:prstGeom>
          <a:noFill/>
          <a:ln/>
        </p:spPr>
        <p:txBody>
          <a:bodyPr wrap="square" lIns="0" tIns="0" rIns="0" bIns="0" rtlCol="0" anchor="ctr"/>
          <a:lstStyle/>
          <a:p>
            <a:pPr marL="0" indent="0" algn="r">
              <a:buNone/>
            </a:pPr>
            <a:r>
              <a:rPr lang="en-US" sz="1000" b="1" dirty="0">
                <a:solidFill>
                  <a:srgbClr val="7655D6"/>
                </a:solidFill>
                <a:latin typeface="Segoe UI" pitchFamily="34" charset="0"/>
                <a:ea typeface="Segoe UI" pitchFamily="34" charset="-122"/>
                <a:cs typeface="Segoe UI" pitchFamily="34" charset="-120"/>
              </a:rPr>
              <a:t>03</a:t>
            </a:r>
            <a:endParaRPr lang="en-US" sz="1000" dirty="0"/>
          </a:p>
        </p:txBody>
      </p:sp>
      <p:sp>
        <p:nvSpPr>
          <p:cNvPr id="10" name="Shape 8"/>
          <p:cNvSpPr/>
          <p:nvPr/>
        </p:nvSpPr>
        <p:spPr>
          <a:xfrm>
            <a:off x="548640" y="2331720"/>
            <a:ext cx="3502152" cy="3090672"/>
          </a:xfrm>
          <a:prstGeom prst="roundRect">
            <a:avLst>
              <a:gd name="adj" fmla="val 4734"/>
            </a:avLst>
          </a:prstGeom>
          <a:solidFill>
            <a:srgbClr val="EDF3FF"/>
          </a:solidFill>
          <a:ln w="8890">
            <a:solidFill>
              <a:srgbClr val="EDF3FF"/>
            </a:solidFill>
            <a:prstDash val="solid"/>
          </a:ln>
        </p:spPr>
        <p:txBody>
          <a:bodyPr/>
          <a:lstStyle/>
          <a:p>
            <a:endParaRPr lang="en-US"/>
          </a:p>
        </p:txBody>
      </p:sp>
      <p:sp>
        <p:nvSpPr>
          <p:cNvPr id="11" name="Shape 9"/>
          <p:cNvSpPr/>
          <p:nvPr/>
        </p:nvSpPr>
        <p:spPr>
          <a:xfrm>
            <a:off x="749808" y="2551176"/>
            <a:ext cx="420624" cy="420624"/>
          </a:xfrm>
          <a:prstGeom prst="ellipse">
            <a:avLst/>
          </a:prstGeom>
          <a:solidFill>
            <a:srgbClr val="2563EB"/>
          </a:solidFill>
          <a:ln w="12700">
            <a:solidFill>
              <a:srgbClr val="2563EB"/>
            </a:solidFill>
            <a:prstDash val="solid"/>
          </a:ln>
        </p:spPr>
        <p:txBody>
          <a:bodyPr/>
          <a:lstStyle/>
          <a:p>
            <a:endParaRPr lang="en-US"/>
          </a:p>
        </p:txBody>
      </p:sp>
      <p:sp>
        <p:nvSpPr>
          <p:cNvPr id="12" name="Text 10"/>
          <p:cNvSpPr/>
          <p:nvPr/>
        </p:nvSpPr>
        <p:spPr>
          <a:xfrm>
            <a:off x="749808" y="255117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13" name="Text 11"/>
          <p:cNvSpPr/>
          <p:nvPr/>
        </p:nvSpPr>
        <p:spPr>
          <a:xfrm>
            <a:off x="749808" y="3136392"/>
            <a:ext cx="3099816" cy="576072"/>
          </a:xfrm>
          <a:prstGeom prst="rect">
            <a:avLst/>
          </a:prstGeom>
          <a:noFill/>
          <a:ln/>
        </p:spPr>
        <p:txBody>
          <a:bodyPr wrap="square" lIns="0" tIns="0" rIns="0" bIns="0" rtlCol="0" anchor="ctr"/>
          <a:lstStyle/>
          <a:p>
            <a:pPr marL="0" indent="0">
              <a:buNone/>
            </a:pPr>
            <a:r>
              <a:rPr lang="en-US" sz="2100" b="1" dirty="0">
                <a:solidFill>
                  <a:srgbClr val="17233C"/>
                </a:solidFill>
                <a:latin typeface="Segoe UI" pitchFamily="34" charset="0"/>
                <a:ea typeface="Segoe UI" pitchFamily="34" charset="-122"/>
                <a:cs typeface="Segoe UI" pitchFamily="34" charset="-120"/>
              </a:rPr>
              <a:t>In a Power BI report</a:t>
            </a:r>
            <a:endParaRPr lang="en-US" sz="2100" dirty="0"/>
          </a:p>
        </p:txBody>
      </p:sp>
      <p:sp>
        <p:nvSpPr>
          <p:cNvPr id="14" name="Text 12"/>
          <p:cNvSpPr/>
          <p:nvPr/>
        </p:nvSpPr>
        <p:spPr>
          <a:xfrm>
            <a:off x="749808" y="3822192"/>
            <a:ext cx="3099816" cy="1408176"/>
          </a:xfrm>
          <a:prstGeom prst="rect">
            <a:avLst/>
          </a:prstGeom>
          <a:noFill/>
          <a:ln/>
        </p:spPr>
        <p:txBody>
          <a:bodyPr wrap="square" lIns="0" tIns="0" rIns="0" bIns="0" rtlCol="0" anchor="t"/>
          <a:lstStyle/>
          <a:p>
            <a:pPr marL="0" indent="0">
              <a:buNone/>
            </a:pPr>
            <a:r>
              <a:rPr lang="en-US" sz="1700" dirty="0">
                <a:solidFill>
                  <a:srgbClr val="56657B"/>
                </a:solidFill>
                <a:latin typeface="Segoe UI" pitchFamily="34" charset="0"/>
                <a:ea typeface="Segoe UI" pitchFamily="34" charset="-122"/>
                <a:cs typeface="Segoe UI" pitchFamily="34" charset="-120"/>
              </a:rPr>
              <a:t>Starts with the open report.</a:t>
            </a:r>
            <a:endParaRPr lang="en-US" sz="1700" dirty="0"/>
          </a:p>
          <a:p>
            <a:pPr marL="0" indent="0">
              <a:buNone/>
            </a:pPr>
            <a:endParaRPr lang="en-US" sz="1700" dirty="0"/>
          </a:p>
          <a:p>
            <a:pPr marL="0" indent="0">
              <a:buNone/>
            </a:pPr>
            <a:r>
              <a:rPr lang="en-US" sz="1700" dirty="0">
                <a:solidFill>
                  <a:srgbClr val="56657B"/>
                </a:solidFill>
                <a:latin typeface="Segoe UI" pitchFamily="34" charset="0"/>
                <a:ea typeface="Segoe UI" pitchFamily="34" charset="-122"/>
                <a:cs typeface="Segoe UI" pitchFamily="34" charset="-120"/>
              </a:rPr>
              <a:t>Summarize visuals or ask about its underlying semantic model.</a:t>
            </a:r>
            <a:endParaRPr lang="en-US" sz="1700" dirty="0"/>
          </a:p>
        </p:txBody>
      </p:sp>
      <p:sp>
        <p:nvSpPr>
          <p:cNvPr id="15" name="Shape 13"/>
          <p:cNvSpPr/>
          <p:nvPr/>
        </p:nvSpPr>
        <p:spPr>
          <a:xfrm>
            <a:off x="4325112" y="2331720"/>
            <a:ext cx="3502152" cy="3090672"/>
          </a:xfrm>
          <a:prstGeom prst="roundRect">
            <a:avLst>
              <a:gd name="adj" fmla="val 4734"/>
            </a:avLst>
          </a:prstGeom>
          <a:solidFill>
            <a:srgbClr val="F3EFFE"/>
          </a:solidFill>
          <a:ln w="8890">
            <a:solidFill>
              <a:srgbClr val="F3EFFE"/>
            </a:solidFill>
            <a:prstDash val="solid"/>
          </a:ln>
        </p:spPr>
        <p:txBody>
          <a:bodyPr/>
          <a:lstStyle/>
          <a:p>
            <a:endParaRPr lang="en-US"/>
          </a:p>
        </p:txBody>
      </p:sp>
      <p:sp>
        <p:nvSpPr>
          <p:cNvPr id="16" name="Shape 14"/>
          <p:cNvSpPr/>
          <p:nvPr/>
        </p:nvSpPr>
        <p:spPr>
          <a:xfrm>
            <a:off x="4526280" y="2551176"/>
            <a:ext cx="420624" cy="420624"/>
          </a:xfrm>
          <a:prstGeom prst="ellipse">
            <a:avLst/>
          </a:prstGeom>
          <a:solidFill>
            <a:srgbClr val="7655D6"/>
          </a:solidFill>
          <a:ln w="12700">
            <a:solidFill>
              <a:srgbClr val="7655D6"/>
            </a:solidFill>
            <a:prstDash val="solid"/>
          </a:ln>
        </p:spPr>
        <p:txBody>
          <a:bodyPr/>
          <a:lstStyle/>
          <a:p>
            <a:endParaRPr lang="en-US"/>
          </a:p>
        </p:txBody>
      </p:sp>
      <p:sp>
        <p:nvSpPr>
          <p:cNvPr id="17" name="Text 15"/>
          <p:cNvSpPr/>
          <p:nvPr/>
        </p:nvSpPr>
        <p:spPr>
          <a:xfrm>
            <a:off x="4526280" y="255117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18" name="Text 16"/>
          <p:cNvSpPr/>
          <p:nvPr/>
        </p:nvSpPr>
        <p:spPr>
          <a:xfrm>
            <a:off x="4526280" y="3136392"/>
            <a:ext cx="3099816" cy="576072"/>
          </a:xfrm>
          <a:prstGeom prst="rect">
            <a:avLst/>
          </a:prstGeom>
          <a:noFill/>
          <a:ln/>
        </p:spPr>
        <p:txBody>
          <a:bodyPr wrap="square" lIns="0" tIns="0" rIns="0" bIns="0" rtlCol="0" anchor="ctr"/>
          <a:lstStyle/>
          <a:p>
            <a:pPr marL="0" indent="0">
              <a:buNone/>
            </a:pPr>
            <a:r>
              <a:rPr lang="en-US" sz="2100" b="1" dirty="0">
                <a:solidFill>
                  <a:srgbClr val="17233C"/>
                </a:solidFill>
                <a:latin typeface="Segoe UI" pitchFamily="34" charset="0"/>
                <a:ea typeface="Segoe UI" pitchFamily="34" charset="-122"/>
                <a:cs typeface="Segoe UI" pitchFamily="34" charset="-120"/>
              </a:rPr>
              <a:t>In the Power BI service</a:t>
            </a:r>
            <a:endParaRPr lang="en-US" sz="2100" dirty="0"/>
          </a:p>
        </p:txBody>
      </p:sp>
      <p:sp>
        <p:nvSpPr>
          <p:cNvPr id="19" name="Text 17"/>
          <p:cNvSpPr/>
          <p:nvPr/>
        </p:nvSpPr>
        <p:spPr>
          <a:xfrm>
            <a:off x="4526280" y="3822192"/>
            <a:ext cx="3099816" cy="1408176"/>
          </a:xfrm>
          <a:prstGeom prst="rect">
            <a:avLst/>
          </a:prstGeom>
          <a:noFill/>
          <a:ln/>
        </p:spPr>
        <p:txBody>
          <a:bodyPr wrap="square" lIns="0" tIns="0" rIns="0" bIns="0" rtlCol="0" anchor="t"/>
          <a:lstStyle/>
          <a:p>
            <a:pPr marL="0" indent="0">
              <a:buNone/>
            </a:pPr>
            <a:r>
              <a:rPr lang="en-US" sz="1700" dirty="0">
                <a:solidFill>
                  <a:srgbClr val="56657B"/>
                </a:solidFill>
                <a:latin typeface="Segoe UI" pitchFamily="34" charset="0"/>
                <a:ea typeface="Segoe UI" pitchFamily="34" charset="-122"/>
                <a:cs typeface="Segoe UI" pitchFamily="34" charset="-120"/>
              </a:rPr>
              <a:t>Standalone Copilot can find accessible reports and models.</a:t>
            </a:r>
            <a:endParaRPr lang="en-US" sz="1700" dirty="0"/>
          </a:p>
          <a:p>
            <a:pPr marL="0" indent="0">
              <a:buNone/>
            </a:pPr>
            <a:endParaRPr lang="en-US" sz="1700" dirty="0"/>
          </a:p>
          <a:p>
            <a:pPr marL="0" indent="0">
              <a:buNone/>
            </a:pPr>
            <a:r>
              <a:rPr lang="en-US" sz="1700" dirty="0">
                <a:solidFill>
                  <a:srgbClr val="56657B"/>
                </a:solidFill>
                <a:latin typeface="Segoe UI" pitchFamily="34" charset="0"/>
                <a:ea typeface="Segoe UI" pitchFamily="34" charset="-122"/>
                <a:cs typeface="Segoe UI" pitchFamily="34" charset="-120"/>
              </a:rPr>
              <a:t>Select the right item before interpreting an answer.</a:t>
            </a:r>
            <a:endParaRPr lang="en-US" sz="1700" dirty="0"/>
          </a:p>
        </p:txBody>
      </p:sp>
      <p:sp>
        <p:nvSpPr>
          <p:cNvPr id="20" name="Shape 18"/>
          <p:cNvSpPr/>
          <p:nvPr/>
        </p:nvSpPr>
        <p:spPr>
          <a:xfrm>
            <a:off x="8110728" y="2331720"/>
            <a:ext cx="3502152" cy="3090672"/>
          </a:xfrm>
          <a:prstGeom prst="roundRect">
            <a:avLst>
              <a:gd name="adj" fmla="val 4734"/>
            </a:avLst>
          </a:prstGeom>
          <a:solidFill>
            <a:srgbClr val="EDF8F5"/>
          </a:solidFill>
          <a:ln w="8890">
            <a:solidFill>
              <a:srgbClr val="EDF8F5"/>
            </a:solidFill>
            <a:prstDash val="solid"/>
          </a:ln>
        </p:spPr>
        <p:txBody>
          <a:bodyPr/>
          <a:lstStyle/>
          <a:p>
            <a:endParaRPr lang="en-US"/>
          </a:p>
        </p:txBody>
      </p:sp>
      <p:sp>
        <p:nvSpPr>
          <p:cNvPr id="21" name="Shape 19"/>
          <p:cNvSpPr/>
          <p:nvPr/>
        </p:nvSpPr>
        <p:spPr>
          <a:xfrm>
            <a:off x="8311896" y="2551176"/>
            <a:ext cx="420624" cy="420624"/>
          </a:xfrm>
          <a:prstGeom prst="ellipse">
            <a:avLst/>
          </a:prstGeom>
          <a:solidFill>
            <a:srgbClr val="138477"/>
          </a:solidFill>
          <a:ln w="12700">
            <a:solidFill>
              <a:srgbClr val="138477"/>
            </a:solidFill>
            <a:prstDash val="solid"/>
          </a:ln>
        </p:spPr>
        <p:txBody>
          <a:bodyPr/>
          <a:lstStyle/>
          <a:p>
            <a:endParaRPr lang="en-US"/>
          </a:p>
        </p:txBody>
      </p:sp>
      <p:sp>
        <p:nvSpPr>
          <p:cNvPr id="22" name="Text 20"/>
          <p:cNvSpPr/>
          <p:nvPr/>
        </p:nvSpPr>
        <p:spPr>
          <a:xfrm>
            <a:off x="8311896" y="255117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23" name="Text 21"/>
          <p:cNvSpPr/>
          <p:nvPr/>
        </p:nvSpPr>
        <p:spPr>
          <a:xfrm>
            <a:off x="8311896" y="3136392"/>
            <a:ext cx="3099816" cy="576072"/>
          </a:xfrm>
          <a:prstGeom prst="rect">
            <a:avLst/>
          </a:prstGeom>
          <a:noFill/>
          <a:ln/>
        </p:spPr>
        <p:txBody>
          <a:bodyPr wrap="square" lIns="0" tIns="0" rIns="0" bIns="0" rtlCol="0" anchor="ctr"/>
          <a:lstStyle/>
          <a:p>
            <a:pPr marL="0" indent="0">
              <a:buNone/>
            </a:pPr>
            <a:r>
              <a:rPr lang="en-US" sz="2100" b="1" dirty="0">
                <a:solidFill>
                  <a:srgbClr val="17233C"/>
                </a:solidFill>
                <a:latin typeface="Segoe UI" pitchFamily="34" charset="0"/>
                <a:ea typeface="Segoe UI" pitchFamily="34" charset="-122"/>
                <a:cs typeface="Segoe UI" pitchFamily="34" charset="-120"/>
              </a:rPr>
              <a:t>In Microsoft 365 Copilot</a:t>
            </a:r>
            <a:endParaRPr lang="en-US" sz="2100" dirty="0"/>
          </a:p>
        </p:txBody>
      </p:sp>
      <p:sp>
        <p:nvSpPr>
          <p:cNvPr id="24" name="Text 22"/>
          <p:cNvSpPr/>
          <p:nvPr/>
        </p:nvSpPr>
        <p:spPr>
          <a:xfrm>
            <a:off x="8311896" y="3822192"/>
            <a:ext cx="3099816" cy="1408176"/>
          </a:xfrm>
          <a:prstGeom prst="rect">
            <a:avLst/>
          </a:prstGeom>
          <a:noFill/>
          <a:ln/>
        </p:spPr>
        <p:txBody>
          <a:bodyPr wrap="square" lIns="0" tIns="0" rIns="0" bIns="0" rtlCol="0" anchor="t"/>
          <a:lstStyle/>
          <a:p>
            <a:pPr marL="0" indent="0">
              <a:buNone/>
            </a:pPr>
            <a:r>
              <a:rPr lang="en-US" sz="1700" dirty="0">
                <a:solidFill>
                  <a:srgbClr val="56657B"/>
                </a:solidFill>
                <a:latin typeface="Segoe UI" pitchFamily="34" charset="0"/>
                <a:ea typeface="Segoe UI" pitchFamily="34" charset="-122"/>
                <a:cs typeface="Segoe UI" pitchFamily="34" charset="-120"/>
              </a:rPr>
              <a:t>Invoke a published Fabric data agent connected to the model.</a:t>
            </a:r>
            <a:endParaRPr lang="en-US" sz="1700" dirty="0"/>
          </a:p>
          <a:p>
            <a:pPr marL="0" indent="0">
              <a:buNone/>
            </a:pPr>
            <a:endParaRPr lang="en-US" sz="1700" dirty="0"/>
          </a:p>
          <a:p>
            <a:pPr marL="0" indent="0">
              <a:buNone/>
            </a:pPr>
            <a:r>
              <a:rPr lang="en-US" sz="1700" dirty="0">
                <a:solidFill>
                  <a:srgbClr val="56657B"/>
                </a:solidFill>
                <a:latin typeface="Segoe UI" pitchFamily="34" charset="0"/>
                <a:ea typeface="Segoe UI" pitchFamily="34" charset="-122"/>
                <a:cs typeface="Segoe UI" pitchFamily="34" charset="-120"/>
              </a:rPr>
              <a:t>Agent scope and chat context shape the response.</a:t>
            </a:r>
            <a:endParaRPr lang="en-US" sz="1700" dirty="0"/>
          </a:p>
        </p:txBody>
      </p:sp>
      <p:sp>
        <p:nvSpPr>
          <p:cNvPr id="25" name="Shape 23"/>
          <p:cNvSpPr/>
          <p:nvPr/>
        </p:nvSpPr>
        <p:spPr>
          <a:xfrm>
            <a:off x="548640" y="5715000"/>
            <a:ext cx="11064240" cy="484632"/>
          </a:xfrm>
          <a:prstGeom prst="roundRect">
            <a:avLst>
              <a:gd name="adj" fmla="val 30189"/>
            </a:avLst>
          </a:prstGeom>
          <a:solidFill>
            <a:srgbClr val="EDF3FF"/>
          </a:solidFill>
          <a:ln w="8890">
            <a:solidFill>
              <a:srgbClr val="EDF3FF"/>
            </a:solidFill>
            <a:prstDash val="solid"/>
          </a:ln>
        </p:spPr>
        <p:txBody>
          <a:bodyPr/>
          <a:lstStyle/>
          <a:p>
            <a:endParaRPr lang="en-US"/>
          </a:p>
        </p:txBody>
      </p:sp>
      <p:sp>
        <p:nvSpPr>
          <p:cNvPr id="26" name="Text 24"/>
          <p:cNvSpPr/>
          <p:nvPr/>
        </p:nvSpPr>
        <p:spPr>
          <a:xfrm>
            <a:off x="758952" y="5788152"/>
            <a:ext cx="10643616" cy="329184"/>
          </a:xfrm>
          <a:prstGeom prst="rect">
            <a:avLst/>
          </a:prstGeom>
          <a:noFill/>
          <a:ln/>
        </p:spPr>
        <p:txBody>
          <a:bodyPr wrap="square" lIns="0" tIns="0" rIns="0" bIns="0" rtlCol="0" anchor="ctr"/>
          <a:lstStyle/>
          <a:p>
            <a:pPr marL="0" indent="0">
              <a:buNone/>
            </a:pPr>
            <a:r>
              <a:rPr lang="en-US" sz="1600" b="1" dirty="0">
                <a:solidFill>
                  <a:srgbClr val="2563EB"/>
                </a:solidFill>
                <a:latin typeface="Segoe UI" pitchFamily="34" charset="0"/>
                <a:ea typeface="Segoe UI" pitchFamily="34" charset="-122"/>
                <a:cs typeface="Segoe UI" pitchFamily="34" charset="-120"/>
              </a:rPr>
              <a:t>Same governed model does not mean identical context or identical wording.</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3017520" cy="292608"/>
          </a:xfrm>
          <a:prstGeom prst="roundRect">
            <a:avLst>
              <a:gd name="adj" fmla="val 50000"/>
            </a:avLst>
          </a:prstGeom>
          <a:solidFill>
            <a:srgbClr val="F3EFFE"/>
          </a:solidFill>
          <a:ln w="8890">
            <a:solidFill>
              <a:srgbClr val="F3EFFE"/>
            </a:solidFill>
            <a:prstDash val="solid"/>
          </a:ln>
        </p:spPr>
        <p:txBody>
          <a:bodyPr/>
          <a:lstStyle/>
          <a:p>
            <a:endParaRPr lang="en-US"/>
          </a:p>
        </p:txBody>
      </p:sp>
      <p:sp>
        <p:nvSpPr>
          <p:cNvPr id="3" name="Text 1"/>
          <p:cNvSpPr/>
          <p:nvPr/>
        </p:nvSpPr>
        <p:spPr>
          <a:xfrm>
            <a:off x="658368" y="320040"/>
            <a:ext cx="2798064" cy="292608"/>
          </a:xfrm>
          <a:prstGeom prst="rect">
            <a:avLst/>
          </a:prstGeom>
          <a:noFill/>
          <a:ln/>
        </p:spPr>
        <p:txBody>
          <a:bodyPr wrap="square" lIns="0" tIns="0" rIns="0" bIns="0" rtlCol="0" anchor="ctr"/>
          <a:lstStyle/>
          <a:p>
            <a:pPr marL="0" indent="0">
              <a:buNone/>
            </a:pPr>
            <a:r>
              <a:rPr lang="en-US" sz="1000" b="1" dirty="0">
                <a:solidFill>
                  <a:srgbClr val="7655D6"/>
                </a:solidFill>
                <a:latin typeface="Segoe UI" pitchFamily="34" charset="0"/>
                <a:ea typeface="Segoe UI" pitchFamily="34" charset="-122"/>
                <a:cs typeface="Segoe UI" pitchFamily="34" charset="-120"/>
              </a:rPr>
              <a:t>01 | COMPARE</a:t>
            </a:r>
            <a:endParaRPr lang="en-US" sz="1000" dirty="0"/>
          </a:p>
        </p:txBody>
      </p:sp>
      <p:sp>
        <p:nvSpPr>
          <p:cNvPr id="4" name="Text 2"/>
          <p:cNvSpPr/>
          <p:nvPr/>
        </p:nvSpPr>
        <p:spPr>
          <a:xfrm>
            <a:off x="9582912" y="320040"/>
            <a:ext cx="2057400" cy="292608"/>
          </a:xfrm>
          <a:prstGeom prst="rect">
            <a:avLst/>
          </a:prstGeom>
          <a:noFill/>
          <a:ln/>
        </p:spPr>
        <p:txBody>
          <a:bodyPr wrap="square" lIns="0" tIns="0" rIns="0" bIns="0" rtlCol="0" anchor="ctr"/>
          <a:lstStyle/>
          <a:p>
            <a:pPr marL="0" indent="0" algn="r">
              <a:buNone/>
            </a:pPr>
            <a:r>
              <a:rPr lang="en-US" sz="1100" dirty="0">
                <a:solidFill>
                  <a:srgbClr val="56657B"/>
                </a:solidFill>
                <a:latin typeface="Segoe UI" pitchFamily="34" charset="0"/>
                <a:ea typeface="Segoe UI" pitchFamily="34" charset="-122"/>
                <a:cs typeface="Segoe UI" pitchFamily="34" charset="-120"/>
              </a:rPr>
              <a:t>0-10 minutes</a:t>
            </a:r>
            <a:endParaRPr lang="en-US" sz="1100" dirty="0"/>
          </a:p>
        </p:txBody>
      </p:sp>
      <p:sp>
        <p:nvSpPr>
          <p:cNvPr id="5" name="Text 3"/>
          <p:cNvSpPr/>
          <p:nvPr/>
        </p:nvSpPr>
        <p:spPr>
          <a:xfrm>
            <a:off x="548640" y="877824"/>
            <a:ext cx="11064240" cy="621792"/>
          </a:xfrm>
          <a:prstGeom prst="rect">
            <a:avLst/>
          </a:prstGeom>
          <a:noFill/>
          <a:ln/>
        </p:spPr>
        <p:txBody>
          <a:bodyPr wrap="square" lIns="0" tIns="0" rIns="0" bIns="0" rtlCol="0" anchor="ctr"/>
          <a:lstStyle/>
          <a:p>
            <a:pPr marL="0" indent="0">
              <a:buNone/>
            </a:pPr>
            <a:r>
              <a:rPr lang="en-US" sz="3200" b="1" dirty="0">
                <a:solidFill>
                  <a:srgbClr val="17233C"/>
                </a:solidFill>
                <a:latin typeface="Segoe UI" pitchFamily="34" charset="0"/>
                <a:ea typeface="Segoe UI" pitchFamily="34" charset="-122"/>
                <a:cs typeface="Segoe UI" pitchFamily="34" charset="-120"/>
              </a:rPr>
              <a:t>Know which context is answering the question</a:t>
            </a:r>
            <a:endParaRPr lang="en-US" sz="3200" dirty="0"/>
          </a:p>
        </p:txBody>
      </p:sp>
      <p:sp>
        <p:nvSpPr>
          <p:cNvPr id="6" name="Text 4"/>
          <p:cNvSpPr/>
          <p:nvPr/>
        </p:nvSpPr>
        <p:spPr>
          <a:xfrm>
            <a:off x="566928" y="1581912"/>
            <a:ext cx="10927080" cy="502920"/>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For "How many policies are in force?", inspect scope before trusting the number.</a:t>
            </a:r>
            <a:endParaRPr lang="en-US" sz="1500" dirty="0"/>
          </a:p>
        </p:txBody>
      </p:sp>
      <p:sp>
        <p:nvSpPr>
          <p:cNvPr id="7" name="Text 5"/>
          <p:cNvSpPr/>
          <p:nvPr/>
        </p:nvSpPr>
        <p:spPr>
          <a:xfrm>
            <a:off x="548640" y="6483096"/>
            <a:ext cx="4572000" cy="182880"/>
          </a:xfrm>
          <a:prstGeom prst="rect">
            <a:avLst/>
          </a:prstGeom>
          <a:noFill/>
          <a:ln/>
        </p:spPr>
        <p:txBody>
          <a:bodyPr wrap="square" lIns="0" tIns="0" rIns="0" bIns="0" rtlCol="0" anchor="ctr"/>
          <a:lstStyle/>
          <a:p>
            <a:pPr marL="0" indent="0">
              <a:buNone/>
            </a:pPr>
            <a:r>
              <a:rPr lang="en-US" sz="900" b="1" dirty="0">
                <a:solidFill>
                  <a:srgbClr val="56657B"/>
                </a:solidFill>
                <a:latin typeface="Segoe UI" pitchFamily="34" charset="0"/>
                <a:ea typeface="Segoe UI" pitchFamily="34" charset="-122"/>
                <a:cs typeface="Segoe UI" pitchFamily="34" charset="-120"/>
              </a:rPr>
              <a:t>TALK TO YOUR INSURANCE DATA</a:t>
            </a:r>
            <a:endParaRPr lang="en-US" sz="900" dirty="0"/>
          </a:p>
        </p:txBody>
      </p:sp>
      <p:sp>
        <p:nvSpPr>
          <p:cNvPr id="8" name="Text 6">
            <a:hlinkClick r:id="rId3"/>
          </p:cNvPr>
          <p:cNvSpPr/>
          <p:nvPr/>
        </p:nvSpPr>
        <p:spPr>
          <a:xfrm>
            <a:off x="8138160" y="6464808"/>
            <a:ext cx="2651760" cy="201168"/>
          </a:xfrm>
          <a:prstGeom prst="rect">
            <a:avLst/>
          </a:prstGeom>
          <a:noFill/>
          <a:ln/>
        </p:spPr>
        <p:txBody>
          <a:bodyPr wrap="square" lIns="0" tIns="0" rIns="0" bIns="0" rtlCol="0" anchor="ctr"/>
          <a:lstStyle/>
          <a:p>
            <a:pPr marL="0" indent="0" algn="r">
              <a:buNone/>
            </a:pPr>
            <a:r>
              <a:rPr lang="en-US" sz="900" u="sng" dirty="0">
                <a:solidFill>
                  <a:srgbClr val="56657B"/>
                </a:solidFill>
                <a:latin typeface="Segoe UI" pitchFamily="34" charset="0"/>
                <a:ea typeface="Segoe UI" pitchFamily="34" charset="-122"/>
                <a:cs typeface="Segoe UI" pitchFamily="34" charset="-120"/>
                <a:hlinkClick r:id="rId3">
                  <a:extLst>
                    <a:ext uri="{A12FA001-AC4F-418D-AE19-62706E023703}">
                      <ahyp:hlinkClr xmlns:ahyp="http://schemas.microsoft.com/office/drawing/2018/hyperlinkcolor" val="tx"/>
                    </a:ext>
                  </a:extLst>
                </a:hlinkClick>
              </a:rPr>
              <a:t>Microsoft Learn | source</a:t>
            </a:r>
            <a:endParaRPr lang="en-US" sz="900" dirty="0"/>
          </a:p>
        </p:txBody>
      </p:sp>
      <p:sp>
        <p:nvSpPr>
          <p:cNvPr id="9" name="Text 7"/>
          <p:cNvSpPr/>
          <p:nvPr/>
        </p:nvSpPr>
        <p:spPr>
          <a:xfrm>
            <a:off x="11082528" y="6437376"/>
            <a:ext cx="548640" cy="228600"/>
          </a:xfrm>
          <a:prstGeom prst="rect">
            <a:avLst/>
          </a:prstGeom>
          <a:noFill/>
          <a:ln/>
        </p:spPr>
        <p:txBody>
          <a:bodyPr wrap="square" lIns="0" tIns="0" rIns="0" bIns="0" rtlCol="0" anchor="ctr"/>
          <a:lstStyle/>
          <a:p>
            <a:pPr marL="0" indent="0" algn="r">
              <a:buNone/>
            </a:pPr>
            <a:r>
              <a:rPr lang="en-US" sz="1000" b="1" dirty="0">
                <a:solidFill>
                  <a:srgbClr val="7655D6"/>
                </a:solidFill>
                <a:latin typeface="Segoe UI" pitchFamily="34" charset="0"/>
                <a:ea typeface="Segoe UI" pitchFamily="34" charset="-122"/>
                <a:cs typeface="Segoe UI" pitchFamily="34" charset="-120"/>
              </a:rPr>
              <a:t>04</a:t>
            </a:r>
            <a:endParaRPr lang="en-US" sz="1000" dirty="0"/>
          </a:p>
        </p:txBody>
      </p:sp>
      <p:sp>
        <p:nvSpPr>
          <p:cNvPr id="10" name="Shape 8"/>
          <p:cNvSpPr/>
          <p:nvPr/>
        </p:nvSpPr>
        <p:spPr>
          <a:xfrm>
            <a:off x="548640" y="2331720"/>
            <a:ext cx="2029968" cy="777240"/>
          </a:xfrm>
          <a:prstGeom prst="roundRect">
            <a:avLst>
              <a:gd name="adj" fmla="val 18824"/>
            </a:avLst>
          </a:prstGeom>
          <a:solidFill>
            <a:srgbClr val="EDF3FF"/>
          </a:solidFill>
          <a:ln w="8890">
            <a:solidFill>
              <a:srgbClr val="EDF3FF"/>
            </a:solidFill>
            <a:prstDash val="solid"/>
          </a:ln>
        </p:spPr>
        <p:txBody>
          <a:bodyPr/>
          <a:lstStyle/>
          <a:p>
            <a:endParaRPr lang="en-US"/>
          </a:p>
        </p:txBody>
      </p:sp>
      <p:sp>
        <p:nvSpPr>
          <p:cNvPr id="11" name="Text 9"/>
          <p:cNvSpPr/>
          <p:nvPr/>
        </p:nvSpPr>
        <p:spPr>
          <a:xfrm>
            <a:off x="704088" y="2468880"/>
            <a:ext cx="1737360" cy="493776"/>
          </a:xfrm>
          <a:prstGeom prst="rect">
            <a:avLst/>
          </a:prstGeom>
          <a:noFill/>
          <a:ln/>
        </p:spPr>
        <p:txBody>
          <a:bodyPr wrap="square" lIns="0" tIns="0" rIns="0" bIns="0" rtlCol="0" anchor="ctr"/>
          <a:lstStyle/>
          <a:p>
            <a:pPr marL="0" indent="0">
              <a:buNone/>
            </a:pPr>
            <a:r>
              <a:rPr lang="en-US" sz="1300" b="1" dirty="0">
                <a:solidFill>
                  <a:srgbClr val="2563EB"/>
                </a:solidFill>
                <a:latin typeface="Segoe UI" pitchFamily="34" charset="0"/>
                <a:ea typeface="Segoe UI" pitchFamily="34" charset="-122"/>
                <a:cs typeface="Segoe UI" pitchFamily="34" charset="-120"/>
              </a:rPr>
              <a:t>REPORT PANE</a:t>
            </a:r>
            <a:endParaRPr lang="en-US" sz="1300" dirty="0"/>
          </a:p>
        </p:txBody>
      </p:sp>
      <p:sp>
        <p:nvSpPr>
          <p:cNvPr id="12" name="Shape 10"/>
          <p:cNvSpPr/>
          <p:nvPr/>
        </p:nvSpPr>
        <p:spPr>
          <a:xfrm>
            <a:off x="2724912" y="2724912"/>
            <a:ext cx="484632" cy="0"/>
          </a:xfrm>
          <a:prstGeom prst="line">
            <a:avLst/>
          </a:prstGeom>
          <a:noFill/>
          <a:ln w="22860">
            <a:solidFill>
              <a:srgbClr val="2563EB"/>
            </a:solidFill>
            <a:prstDash val="solid"/>
            <a:headEnd type="none"/>
            <a:tailEnd type="triangle"/>
          </a:ln>
        </p:spPr>
        <p:txBody>
          <a:bodyPr/>
          <a:lstStyle/>
          <a:p>
            <a:endParaRPr lang="en-US"/>
          </a:p>
        </p:txBody>
      </p:sp>
      <p:sp>
        <p:nvSpPr>
          <p:cNvPr id="13" name="Shape 11"/>
          <p:cNvSpPr/>
          <p:nvPr/>
        </p:nvSpPr>
        <p:spPr>
          <a:xfrm>
            <a:off x="3355848" y="2331720"/>
            <a:ext cx="3621024" cy="777240"/>
          </a:xfrm>
          <a:prstGeom prst="roundRect">
            <a:avLst>
              <a:gd name="adj" fmla="val 18824"/>
            </a:avLst>
          </a:prstGeom>
          <a:solidFill>
            <a:srgbClr val="F5F7FB"/>
          </a:solidFill>
          <a:ln w="8890">
            <a:solidFill>
              <a:srgbClr val="F5F7FB"/>
            </a:solidFill>
            <a:prstDash val="solid"/>
          </a:ln>
        </p:spPr>
        <p:txBody>
          <a:bodyPr/>
          <a:lstStyle/>
          <a:p>
            <a:endParaRPr lang="en-US"/>
          </a:p>
        </p:txBody>
      </p:sp>
      <p:sp>
        <p:nvSpPr>
          <p:cNvPr id="14" name="Text 12"/>
          <p:cNvSpPr/>
          <p:nvPr/>
        </p:nvSpPr>
        <p:spPr>
          <a:xfrm>
            <a:off x="3557016" y="2441448"/>
            <a:ext cx="3218688" cy="530352"/>
          </a:xfrm>
          <a:prstGeom prst="rect">
            <a:avLst/>
          </a:prstGeom>
          <a:noFill/>
          <a:ln/>
        </p:spPr>
        <p:txBody>
          <a:bodyPr wrap="square" lIns="0" tIns="0" rIns="0" bIns="0" rtlCol="0" anchor="ctr"/>
          <a:lstStyle/>
          <a:p>
            <a:pPr marL="0" indent="0">
              <a:buNone/>
            </a:pPr>
            <a:r>
              <a:rPr lang="en-US" sz="1800" b="1" dirty="0">
                <a:solidFill>
                  <a:srgbClr val="17233C"/>
                </a:solidFill>
                <a:latin typeface="Segoe UI" pitchFamily="34" charset="0"/>
                <a:ea typeface="Segoe UI" pitchFamily="34" charset="-122"/>
                <a:cs typeface="Segoe UI" pitchFamily="34" charset="-120"/>
              </a:rPr>
              <a:t>Open report + conversation</a:t>
            </a:r>
            <a:endParaRPr lang="en-US" sz="1800" dirty="0"/>
          </a:p>
        </p:txBody>
      </p:sp>
      <p:sp>
        <p:nvSpPr>
          <p:cNvPr id="15" name="Shape 13"/>
          <p:cNvSpPr/>
          <p:nvPr/>
        </p:nvSpPr>
        <p:spPr>
          <a:xfrm>
            <a:off x="7132320" y="2724912"/>
            <a:ext cx="502920" cy="0"/>
          </a:xfrm>
          <a:prstGeom prst="line">
            <a:avLst/>
          </a:prstGeom>
          <a:noFill/>
          <a:ln w="22860">
            <a:solidFill>
              <a:srgbClr val="2563EB"/>
            </a:solidFill>
            <a:prstDash val="solid"/>
            <a:headEnd type="none"/>
            <a:tailEnd type="triangle"/>
          </a:ln>
        </p:spPr>
        <p:txBody>
          <a:bodyPr/>
          <a:lstStyle/>
          <a:p>
            <a:endParaRPr lang="en-US"/>
          </a:p>
        </p:txBody>
      </p:sp>
      <p:sp>
        <p:nvSpPr>
          <p:cNvPr id="16" name="Shape 14"/>
          <p:cNvSpPr/>
          <p:nvPr/>
        </p:nvSpPr>
        <p:spPr>
          <a:xfrm>
            <a:off x="7790688" y="2331720"/>
            <a:ext cx="3822192" cy="777240"/>
          </a:xfrm>
          <a:prstGeom prst="roundRect">
            <a:avLst>
              <a:gd name="adj" fmla="val 18824"/>
            </a:avLst>
          </a:prstGeom>
          <a:solidFill>
            <a:srgbClr val="EDF3FF"/>
          </a:solidFill>
          <a:ln w="8890">
            <a:solidFill>
              <a:srgbClr val="EDF3FF"/>
            </a:solidFill>
            <a:prstDash val="solid"/>
          </a:ln>
        </p:spPr>
        <p:txBody>
          <a:bodyPr/>
          <a:lstStyle/>
          <a:p>
            <a:endParaRPr lang="en-US"/>
          </a:p>
        </p:txBody>
      </p:sp>
      <p:sp>
        <p:nvSpPr>
          <p:cNvPr id="17" name="Text 15"/>
          <p:cNvSpPr/>
          <p:nvPr/>
        </p:nvSpPr>
        <p:spPr>
          <a:xfrm>
            <a:off x="7973568" y="2441448"/>
            <a:ext cx="3456432" cy="530352"/>
          </a:xfrm>
          <a:prstGeom prst="rect">
            <a:avLst/>
          </a:prstGeom>
          <a:noFill/>
          <a:ln/>
        </p:spPr>
        <p:txBody>
          <a:bodyPr wrap="square" lIns="0" tIns="0" rIns="0" bIns="0" rtlCol="0" anchor="ctr"/>
          <a:lstStyle/>
          <a:p>
            <a:pPr marL="0" indent="0">
              <a:buNone/>
            </a:pPr>
            <a:r>
              <a:rPr lang="en-US" sz="1700" b="1" dirty="0">
                <a:solidFill>
                  <a:srgbClr val="2563EB"/>
                </a:solidFill>
                <a:latin typeface="Segoe UI" pitchFamily="34" charset="0"/>
                <a:ea typeface="Segoe UI" pitchFamily="34" charset="-122"/>
                <a:cs typeface="Segoe UI" pitchFamily="34" charset="-120"/>
              </a:rPr>
              <a:t>Visual interpretation OR model query</a:t>
            </a:r>
            <a:endParaRPr lang="en-US" sz="1700" dirty="0"/>
          </a:p>
        </p:txBody>
      </p:sp>
      <p:sp>
        <p:nvSpPr>
          <p:cNvPr id="18" name="Shape 16"/>
          <p:cNvSpPr/>
          <p:nvPr/>
        </p:nvSpPr>
        <p:spPr>
          <a:xfrm>
            <a:off x="548640" y="3383280"/>
            <a:ext cx="2029968" cy="777240"/>
          </a:xfrm>
          <a:prstGeom prst="roundRect">
            <a:avLst>
              <a:gd name="adj" fmla="val 18824"/>
            </a:avLst>
          </a:prstGeom>
          <a:solidFill>
            <a:srgbClr val="F3EFFE"/>
          </a:solidFill>
          <a:ln w="8890">
            <a:solidFill>
              <a:srgbClr val="F3EFFE"/>
            </a:solidFill>
            <a:prstDash val="solid"/>
          </a:ln>
        </p:spPr>
        <p:txBody>
          <a:bodyPr/>
          <a:lstStyle/>
          <a:p>
            <a:endParaRPr lang="en-US"/>
          </a:p>
        </p:txBody>
      </p:sp>
      <p:sp>
        <p:nvSpPr>
          <p:cNvPr id="19" name="Text 17"/>
          <p:cNvSpPr/>
          <p:nvPr/>
        </p:nvSpPr>
        <p:spPr>
          <a:xfrm>
            <a:off x="704088" y="3520440"/>
            <a:ext cx="1737360" cy="493776"/>
          </a:xfrm>
          <a:prstGeom prst="rect">
            <a:avLst/>
          </a:prstGeom>
          <a:noFill/>
          <a:ln/>
        </p:spPr>
        <p:txBody>
          <a:bodyPr wrap="square" lIns="0" tIns="0" rIns="0" bIns="0" rtlCol="0" anchor="ctr"/>
          <a:lstStyle/>
          <a:p>
            <a:pPr marL="0" indent="0">
              <a:buNone/>
            </a:pPr>
            <a:r>
              <a:rPr lang="en-US" sz="1300" b="1" dirty="0">
                <a:solidFill>
                  <a:srgbClr val="7655D6"/>
                </a:solidFill>
                <a:latin typeface="Segoe UI" pitchFamily="34" charset="0"/>
                <a:ea typeface="Segoe UI" pitchFamily="34" charset="-122"/>
                <a:cs typeface="Segoe UI" pitchFamily="34" charset="-120"/>
              </a:rPr>
              <a:t>STANDALONE</a:t>
            </a:r>
            <a:endParaRPr lang="en-US" sz="1300" dirty="0"/>
          </a:p>
        </p:txBody>
      </p:sp>
      <p:sp>
        <p:nvSpPr>
          <p:cNvPr id="20" name="Shape 18"/>
          <p:cNvSpPr/>
          <p:nvPr/>
        </p:nvSpPr>
        <p:spPr>
          <a:xfrm>
            <a:off x="2724912" y="3776472"/>
            <a:ext cx="484632" cy="0"/>
          </a:xfrm>
          <a:prstGeom prst="line">
            <a:avLst/>
          </a:prstGeom>
          <a:noFill/>
          <a:ln w="22860">
            <a:solidFill>
              <a:srgbClr val="7655D6"/>
            </a:solidFill>
            <a:prstDash val="solid"/>
            <a:headEnd type="none"/>
            <a:tailEnd type="triangle"/>
          </a:ln>
        </p:spPr>
        <p:txBody>
          <a:bodyPr/>
          <a:lstStyle/>
          <a:p>
            <a:endParaRPr lang="en-US"/>
          </a:p>
        </p:txBody>
      </p:sp>
      <p:sp>
        <p:nvSpPr>
          <p:cNvPr id="21" name="Shape 19"/>
          <p:cNvSpPr/>
          <p:nvPr/>
        </p:nvSpPr>
        <p:spPr>
          <a:xfrm>
            <a:off x="3355848" y="3383280"/>
            <a:ext cx="3621024" cy="777240"/>
          </a:xfrm>
          <a:prstGeom prst="roundRect">
            <a:avLst>
              <a:gd name="adj" fmla="val 18824"/>
            </a:avLst>
          </a:prstGeom>
          <a:solidFill>
            <a:srgbClr val="F5F7FB"/>
          </a:solidFill>
          <a:ln w="8890">
            <a:solidFill>
              <a:srgbClr val="F5F7FB"/>
            </a:solidFill>
            <a:prstDash val="solid"/>
          </a:ln>
        </p:spPr>
        <p:txBody>
          <a:bodyPr/>
          <a:lstStyle/>
          <a:p>
            <a:endParaRPr lang="en-US"/>
          </a:p>
        </p:txBody>
      </p:sp>
      <p:sp>
        <p:nvSpPr>
          <p:cNvPr id="22" name="Text 20"/>
          <p:cNvSpPr/>
          <p:nvPr/>
        </p:nvSpPr>
        <p:spPr>
          <a:xfrm>
            <a:off x="3557016" y="3493008"/>
            <a:ext cx="3218688" cy="530352"/>
          </a:xfrm>
          <a:prstGeom prst="rect">
            <a:avLst/>
          </a:prstGeom>
          <a:noFill/>
          <a:ln/>
        </p:spPr>
        <p:txBody>
          <a:bodyPr wrap="square" lIns="0" tIns="0" rIns="0" bIns="0" rtlCol="0" anchor="ctr"/>
          <a:lstStyle/>
          <a:p>
            <a:pPr marL="0" indent="0">
              <a:buNone/>
            </a:pPr>
            <a:r>
              <a:rPr lang="en-US" sz="1800" b="1" dirty="0">
                <a:solidFill>
                  <a:srgbClr val="17233C"/>
                </a:solidFill>
                <a:latin typeface="Segoe UI" pitchFamily="34" charset="0"/>
                <a:ea typeface="Segoe UI" pitchFamily="34" charset="-122"/>
                <a:cs typeface="Segoe UI" pitchFamily="34" charset="-120"/>
              </a:rPr>
              <a:t>Selected report or model</a:t>
            </a:r>
            <a:endParaRPr lang="en-US" sz="1800" dirty="0"/>
          </a:p>
        </p:txBody>
      </p:sp>
      <p:sp>
        <p:nvSpPr>
          <p:cNvPr id="23" name="Shape 21"/>
          <p:cNvSpPr/>
          <p:nvPr/>
        </p:nvSpPr>
        <p:spPr>
          <a:xfrm>
            <a:off x="7132320" y="3776472"/>
            <a:ext cx="502920" cy="0"/>
          </a:xfrm>
          <a:prstGeom prst="line">
            <a:avLst/>
          </a:prstGeom>
          <a:noFill/>
          <a:ln w="22860">
            <a:solidFill>
              <a:srgbClr val="7655D6"/>
            </a:solidFill>
            <a:prstDash val="solid"/>
            <a:headEnd type="none"/>
            <a:tailEnd type="triangle"/>
          </a:ln>
        </p:spPr>
        <p:txBody>
          <a:bodyPr/>
          <a:lstStyle/>
          <a:p>
            <a:endParaRPr lang="en-US"/>
          </a:p>
        </p:txBody>
      </p:sp>
      <p:sp>
        <p:nvSpPr>
          <p:cNvPr id="24" name="Shape 22"/>
          <p:cNvSpPr/>
          <p:nvPr/>
        </p:nvSpPr>
        <p:spPr>
          <a:xfrm>
            <a:off x="7790688" y="3383280"/>
            <a:ext cx="3822192" cy="777240"/>
          </a:xfrm>
          <a:prstGeom prst="roundRect">
            <a:avLst>
              <a:gd name="adj" fmla="val 18824"/>
            </a:avLst>
          </a:prstGeom>
          <a:solidFill>
            <a:srgbClr val="F3EFFE"/>
          </a:solidFill>
          <a:ln w="8890">
            <a:solidFill>
              <a:srgbClr val="F3EFFE"/>
            </a:solidFill>
            <a:prstDash val="solid"/>
          </a:ln>
        </p:spPr>
        <p:txBody>
          <a:bodyPr/>
          <a:lstStyle/>
          <a:p>
            <a:endParaRPr lang="en-US"/>
          </a:p>
        </p:txBody>
      </p:sp>
      <p:sp>
        <p:nvSpPr>
          <p:cNvPr id="25" name="Text 23"/>
          <p:cNvSpPr/>
          <p:nvPr/>
        </p:nvSpPr>
        <p:spPr>
          <a:xfrm>
            <a:off x="7973568" y="3493008"/>
            <a:ext cx="3456432" cy="530352"/>
          </a:xfrm>
          <a:prstGeom prst="rect">
            <a:avLst/>
          </a:prstGeom>
          <a:noFill/>
          <a:ln/>
        </p:spPr>
        <p:txBody>
          <a:bodyPr wrap="square" lIns="0" tIns="0" rIns="0" bIns="0" rtlCol="0" anchor="ctr"/>
          <a:lstStyle/>
          <a:p>
            <a:pPr marL="0" indent="0">
              <a:buNone/>
            </a:pPr>
            <a:r>
              <a:rPr lang="en-US" sz="1700" b="1" dirty="0">
                <a:solidFill>
                  <a:srgbClr val="7655D6"/>
                </a:solidFill>
                <a:latin typeface="Segoe UI" pitchFamily="34" charset="0"/>
                <a:ea typeface="Segoe UI" pitchFamily="34" charset="-122"/>
                <a:cs typeface="Segoe UI" pitchFamily="34" charset="-120"/>
              </a:rPr>
              <a:t>Item selection + question context</a:t>
            </a:r>
            <a:endParaRPr lang="en-US" sz="1700" dirty="0"/>
          </a:p>
        </p:txBody>
      </p:sp>
      <p:sp>
        <p:nvSpPr>
          <p:cNvPr id="26" name="Shape 24"/>
          <p:cNvSpPr/>
          <p:nvPr/>
        </p:nvSpPr>
        <p:spPr>
          <a:xfrm>
            <a:off x="548640" y="4434840"/>
            <a:ext cx="2029968" cy="777240"/>
          </a:xfrm>
          <a:prstGeom prst="roundRect">
            <a:avLst>
              <a:gd name="adj" fmla="val 18824"/>
            </a:avLst>
          </a:prstGeom>
          <a:solidFill>
            <a:srgbClr val="EDF8F5"/>
          </a:solidFill>
          <a:ln w="8890">
            <a:solidFill>
              <a:srgbClr val="EDF8F5"/>
            </a:solidFill>
            <a:prstDash val="solid"/>
          </a:ln>
        </p:spPr>
        <p:txBody>
          <a:bodyPr/>
          <a:lstStyle/>
          <a:p>
            <a:endParaRPr lang="en-US"/>
          </a:p>
        </p:txBody>
      </p:sp>
      <p:sp>
        <p:nvSpPr>
          <p:cNvPr id="27" name="Text 25"/>
          <p:cNvSpPr/>
          <p:nvPr/>
        </p:nvSpPr>
        <p:spPr>
          <a:xfrm>
            <a:off x="704088" y="4572000"/>
            <a:ext cx="1737360" cy="493776"/>
          </a:xfrm>
          <a:prstGeom prst="rect">
            <a:avLst/>
          </a:prstGeom>
          <a:noFill/>
          <a:ln/>
        </p:spPr>
        <p:txBody>
          <a:bodyPr wrap="square" lIns="0" tIns="0" rIns="0" bIns="0" rtlCol="0" anchor="ctr"/>
          <a:lstStyle/>
          <a:p>
            <a:pPr marL="0" indent="0">
              <a:buNone/>
            </a:pPr>
            <a:r>
              <a:rPr lang="en-US" sz="1300" b="1" dirty="0">
                <a:solidFill>
                  <a:srgbClr val="138477"/>
                </a:solidFill>
                <a:latin typeface="Segoe UI" pitchFamily="34" charset="0"/>
                <a:ea typeface="Segoe UI" pitchFamily="34" charset="-122"/>
                <a:cs typeface="Segoe UI" pitchFamily="34" charset="-120"/>
              </a:rPr>
              <a:t>M365 + DATA AGENT</a:t>
            </a:r>
            <a:endParaRPr lang="en-US" sz="1300" dirty="0"/>
          </a:p>
        </p:txBody>
      </p:sp>
      <p:sp>
        <p:nvSpPr>
          <p:cNvPr id="28" name="Shape 26"/>
          <p:cNvSpPr/>
          <p:nvPr/>
        </p:nvSpPr>
        <p:spPr>
          <a:xfrm>
            <a:off x="2724912" y="4828032"/>
            <a:ext cx="484632" cy="0"/>
          </a:xfrm>
          <a:prstGeom prst="line">
            <a:avLst/>
          </a:prstGeom>
          <a:noFill/>
          <a:ln w="22860">
            <a:solidFill>
              <a:srgbClr val="138477"/>
            </a:solidFill>
            <a:prstDash val="solid"/>
            <a:headEnd type="none"/>
            <a:tailEnd type="triangle"/>
          </a:ln>
        </p:spPr>
        <p:txBody>
          <a:bodyPr/>
          <a:lstStyle/>
          <a:p>
            <a:endParaRPr lang="en-US"/>
          </a:p>
        </p:txBody>
      </p:sp>
      <p:sp>
        <p:nvSpPr>
          <p:cNvPr id="29" name="Shape 27"/>
          <p:cNvSpPr/>
          <p:nvPr/>
        </p:nvSpPr>
        <p:spPr>
          <a:xfrm>
            <a:off x="3355848" y="4434840"/>
            <a:ext cx="3621024" cy="777240"/>
          </a:xfrm>
          <a:prstGeom prst="roundRect">
            <a:avLst>
              <a:gd name="adj" fmla="val 18824"/>
            </a:avLst>
          </a:prstGeom>
          <a:solidFill>
            <a:srgbClr val="F5F7FB"/>
          </a:solidFill>
          <a:ln w="8890">
            <a:solidFill>
              <a:srgbClr val="F5F7FB"/>
            </a:solidFill>
            <a:prstDash val="solid"/>
          </a:ln>
        </p:spPr>
        <p:txBody>
          <a:bodyPr/>
          <a:lstStyle/>
          <a:p>
            <a:endParaRPr lang="en-US"/>
          </a:p>
        </p:txBody>
      </p:sp>
      <p:sp>
        <p:nvSpPr>
          <p:cNvPr id="30" name="Text 28"/>
          <p:cNvSpPr/>
          <p:nvPr/>
        </p:nvSpPr>
        <p:spPr>
          <a:xfrm>
            <a:off x="3557016" y="4544568"/>
            <a:ext cx="3218688" cy="530352"/>
          </a:xfrm>
          <a:prstGeom prst="rect">
            <a:avLst/>
          </a:prstGeom>
          <a:noFill/>
          <a:ln/>
        </p:spPr>
        <p:txBody>
          <a:bodyPr wrap="square" lIns="0" tIns="0" rIns="0" bIns="0" rtlCol="0" anchor="ctr"/>
          <a:lstStyle/>
          <a:p>
            <a:pPr marL="0" indent="0">
              <a:buNone/>
            </a:pPr>
            <a:r>
              <a:rPr lang="en-US" sz="1800" b="1" dirty="0">
                <a:solidFill>
                  <a:srgbClr val="17233C"/>
                </a:solidFill>
                <a:latin typeface="Segoe UI" pitchFamily="34" charset="0"/>
                <a:ea typeface="Segoe UI" pitchFamily="34" charset="-122"/>
                <a:cs typeface="Segoe UI" pitchFamily="34" charset="-120"/>
              </a:rPr>
              <a:t>Published agent + source scope</a:t>
            </a:r>
            <a:endParaRPr lang="en-US" sz="1800" dirty="0"/>
          </a:p>
        </p:txBody>
      </p:sp>
      <p:sp>
        <p:nvSpPr>
          <p:cNvPr id="31" name="Shape 29"/>
          <p:cNvSpPr/>
          <p:nvPr/>
        </p:nvSpPr>
        <p:spPr>
          <a:xfrm>
            <a:off x="7132320" y="4828032"/>
            <a:ext cx="502920" cy="0"/>
          </a:xfrm>
          <a:prstGeom prst="line">
            <a:avLst/>
          </a:prstGeom>
          <a:noFill/>
          <a:ln w="22860">
            <a:solidFill>
              <a:srgbClr val="138477"/>
            </a:solidFill>
            <a:prstDash val="solid"/>
            <a:headEnd type="none"/>
            <a:tailEnd type="triangle"/>
          </a:ln>
        </p:spPr>
        <p:txBody>
          <a:bodyPr/>
          <a:lstStyle/>
          <a:p>
            <a:endParaRPr lang="en-US"/>
          </a:p>
        </p:txBody>
      </p:sp>
      <p:sp>
        <p:nvSpPr>
          <p:cNvPr id="32" name="Shape 30"/>
          <p:cNvSpPr/>
          <p:nvPr/>
        </p:nvSpPr>
        <p:spPr>
          <a:xfrm>
            <a:off x="7790688" y="4434840"/>
            <a:ext cx="3822192" cy="777240"/>
          </a:xfrm>
          <a:prstGeom prst="roundRect">
            <a:avLst>
              <a:gd name="adj" fmla="val 18824"/>
            </a:avLst>
          </a:prstGeom>
          <a:solidFill>
            <a:srgbClr val="EDF8F5"/>
          </a:solidFill>
          <a:ln w="8890">
            <a:solidFill>
              <a:srgbClr val="EDF8F5"/>
            </a:solidFill>
            <a:prstDash val="solid"/>
          </a:ln>
        </p:spPr>
        <p:txBody>
          <a:bodyPr/>
          <a:lstStyle/>
          <a:p>
            <a:endParaRPr lang="en-US"/>
          </a:p>
        </p:txBody>
      </p:sp>
      <p:sp>
        <p:nvSpPr>
          <p:cNvPr id="33" name="Text 31"/>
          <p:cNvSpPr/>
          <p:nvPr/>
        </p:nvSpPr>
        <p:spPr>
          <a:xfrm>
            <a:off x="7973568" y="4544568"/>
            <a:ext cx="3456432" cy="530352"/>
          </a:xfrm>
          <a:prstGeom prst="rect">
            <a:avLst/>
          </a:prstGeom>
          <a:noFill/>
          <a:ln/>
        </p:spPr>
        <p:txBody>
          <a:bodyPr wrap="square" lIns="0" tIns="0" rIns="0" bIns="0" rtlCol="0" anchor="ctr"/>
          <a:lstStyle/>
          <a:p>
            <a:pPr marL="0" indent="0">
              <a:buNone/>
            </a:pPr>
            <a:r>
              <a:rPr lang="en-US" sz="1700" b="1" dirty="0">
                <a:solidFill>
                  <a:srgbClr val="138477"/>
                </a:solidFill>
                <a:latin typeface="Segoe UI" pitchFamily="34" charset="0"/>
                <a:ea typeface="Segoe UI" pitchFamily="34" charset="-122"/>
                <a:cs typeface="Segoe UI" pitchFamily="34" charset="-120"/>
              </a:rPr>
              <a:t>Agent routing + M365 orchestration</a:t>
            </a:r>
            <a:endParaRPr lang="en-US" sz="1700" dirty="0"/>
          </a:p>
        </p:txBody>
      </p:sp>
      <p:sp>
        <p:nvSpPr>
          <p:cNvPr id="34" name="Shape 32"/>
          <p:cNvSpPr/>
          <p:nvPr/>
        </p:nvSpPr>
        <p:spPr>
          <a:xfrm>
            <a:off x="548640" y="5715000"/>
            <a:ext cx="11064240" cy="484632"/>
          </a:xfrm>
          <a:prstGeom prst="roundRect">
            <a:avLst>
              <a:gd name="adj" fmla="val 30189"/>
            </a:avLst>
          </a:prstGeom>
          <a:solidFill>
            <a:srgbClr val="EDF3FF"/>
          </a:solidFill>
          <a:ln w="8890">
            <a:solidFill>
              <a:srgbClr val="EDF3FF"/>
            </a:solidFill>
            <a:prstDash val="solid"/>
          </a:ln>
        </p:spPr>
        <p:txBody>
          <a:bodyPr/>
          <a:lstStyle/>
          <a:p>
            <a:endParaRPr lang="en-US"/>
          </a:p>
        </p:txBody>
      </p:sp>
      <p:sp>
        <p:nvSpPr>
          <p:cNvPr id="35" name="Text 33"/>
          <p:cNvSpPr/>
          <p:nvPr/>
        </p:nvSpPr>
        <p:spPr>
          <a:xfrm>
            <a:off x="758952" y="5788152"/>
            <a:ext cx="10643616" cy="329184"/>
          </a:xfrm>
          <a:prstGeom prst="rect">
            <a:avLst/>
          </a:prstGeom>
          <a:noFill/>
          <a:ln/>
        </p:spPr>
        <p:txBody>
          <a:bodyPr wrap="square" lIns="0" tIns="0" rIns="0" bIns="0" rtlCol="0" anchor="ctr"/>
          <a:lstStyle/>
          <a:p>
            <a:pPr marL="0" indent="0">
              <a:buNone/>
            </a:pPr>
            <a:r>
              <a:rPr lang="en-US" sz="1600" b="1" dirty="0">
                <a:solidFill>
                  <a:srgbClr val="2563EB"/>
                </a:solidFill>
                <a:latin typeface="Segoe UI" pitchFamily="34" charset="0"/>
                <a:ea typeface="Segoe UI" pitchFamily="34" charset="-122"/>
                <a:cs typeface="Segoe UI" pitchFamily="34" charset="-120"/>
              </a:rPr>
              <a:t>Do not assume report slicers are carried into every semantic-model query.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3017520" cy="292608"/>
          </a:xfrm>
          <a:prstGeom prst="roundRect">
            <a:avLst>
              <a:gd name="adj" fmla="val 50000"/>
            </a:avLst>
          </a:prstGeom>
          <a:solidFill>
            <a:srgbClr val="F3EFFE"/>
          </a:solidFill>
          <a:ln w="8890">
            <a:solidFill>
              <a:srgbClr val="F3EFFE"/>
            </a:solidFill>
            <a:prstDash val="solid"/>
          </a:ln>
        </p:spPr>
        <p:txBody>
          <a:bodyPr/>
          <a:lstStyle/>
          <a:p>
            <a:endParaRPr lang="en-US"/>
          </a:p>
        </p:txBody>
      </p:sp>
      <p:sp>
        <p:nvSpPr>
          <p:cNvPr id="3" name="Text 1"/>
          <p:cNvSpPr/>
          <p:nvPr/>
        </p:nvSpPr>
        <p:spPr>
          <a:xfrm>
            <a:off x="658368" y="320040"/>
            <a:ext cx="2798064" cy="292608"/>
          </a:xfrm>
          <a:prstGeom prst="rect">
            <a:avLst/>
          </a:prstGeom>
          <a:noFill/>
          <a:ln/>
        </p:spPr>
        <p:txBody>
          <a:bodyPr wrap="square" lIns="0" tIns="0" rIns="0" bIns="0" rtlCol="0" anchor="ctr"/>
          <a:lstStyle/>
          <a:p>
            <a:pPr marL="0" indent="0">
              <a:buNone/>
            </a:pPr>
            <a:r>
              <a:rPr lang="en-US" sz="1000" b="1" dirty="0">
                <a:solidFill>
                  <a:srgbClr val="7655D6"/>
                </a:solidFill>
                <a:latin typeface="Segoe UI" pitchFamily="34" charset="0"/>
                <a:ea typeface="Segoe UI" pitchFamily="34" charset="-122"/>
                <a:cs typeface="Segoe UI" pitchFamily="34" charset="-120"/>
              </a:rPr>
              <a:t>01 | COMPARE</a:t>
            </a:r>
            <a:endParaRPr lang="en-US" sz="1000" dirty="0"/>
          </a:p>
        </p:txBody>
      </p:sp>
      <p:sp>
        <p:nvSpPr>
          <p:cNvPr id="4" name="Text 2"/>
          <p:cNvSpPr/>
          <p:nvPr/>
        </p:nvSpPr>
        <p:spPr>
          <a:xfrm>
            <a:off x="9582912" y="320040"/>
            <a:ext cx="2057400" cy="292608"/>
          </a:xfrm>
          <a:prstGeom prst="rect">
            <a:avLst/>
          </a:prstGeom>
          <a:noFill/>
          <a:ln/>
        </p:spPr>
        <p:txBody>
          <a:bodyPr wrap="square" lIns="0" tIns="0" rIns="0" bIns="0" rtlCol="0" anchor="ctr"/>
          <a:lstStyle/>
          <a:p>
            <a:pPr marL="0" indent="0" algn="r">
              <a:buNone/>
            </a:pPr>
            <a:r>
              <a:rPr lang="en-US" sz="1100" dirty="0">
                <a:solidFill>
                  <a:srgbClr val="56657B"/>
                </a:solidFill>
                <a:latin typeface="Segoe UI" pitchFamily="34" charset="0"/>
                <a:ea typeface="Segoe UI" pitchFamily="34" charset="-122"/>
                <a:cs typeface="Segoe UI" pitchFamily="34" charset="-120"/>
              </a:rPr>
              <a:t>0-10 minutes</a:t>
            </a:r>
            <a:endParaRPr lang="en-US" sz="1100" dirty="0"/>
          </a:p>
        </p:txBody>
      </p:sp>
      <p:sp>
        <p:nvSpPr>
          <p:cNvPr id="5" name="Text 3"/>
          <p:cNvSpPr/>
          <p:nvPr/>
        </p:nvSpPr>
        <p:spPr>
          <a:xfrm>
            <a:off x="548640" y="877824"/>
            <a:ext cx="11064240" cy="621792"/>
          </a:xfrm>
          <a:prstGeom prst="rect">
            <a:avLst/>
          </a:prstGeom>
          <a:noFill/>
          <a:ln/>
        </p:spPr>
        <p:txBody>
          <a:bodyPr wrap="square" lIns="0" tIns="0" rIns="0" bIns="0" rtlCol="0" anchor="ctr"/>
          <a:lstStyle/>
          <a:p>
            <a:pPr marL="0" indent="0">
              <a:buNone/>
            </a:pPr>
            <a:r>
              <a:rPr lang="en-US" sz="3200" b="1" dirty="0">
                <a:solidFill>
                  <a:srgbClr val="17233C"/>
                </a:solidFill>
                <a:latin typeface="Segoe UI" pitchFamily="34" charset="0"/>
                <a:ea typeface="Segoe UI" pitchFamily="34" charset="-122"/>
                <a:cs typeface="Segoe UI" pitchFamily="34" charset="-120"/>
              </a:rPr>
              <a:t>Ask three insurance questions before changing anything</a:t>
            </a:r>
            <a:endParaRPr lang="en-US" sz="3200" dirty="0"/>
          </a:p>
        </p:txBody>
      </p:sp>
      <p:sp>
        <p:nvSpPr>
          <p:cNvPr id="6" name="Text 4"/>
          <p:cNvSpPr/>
          <p:nvPr/>
        </p:nvSpPr>
        <p:spPr>
          <a:xfrm>
            <a:off x="566928" y="1581912"/>
            <a:ext cx="10927080" cy="502920"/>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Keep the exact prompts and record a trusted reference result for each.</a:t>
            </a:r>
            <a:endParaRPr lang="en-US" sz="1500" dirty="0"/>
          </a:p>
        </p:txBody>
      </p:sp>
      <p:sp>
        <p:nvSpPr>
          <p:cNvPr id="7" name="Text 5"/>
          <p:cNvSpPr/>
          <p:nvPr/>
        </p:nvSpPr>
        <p:spPr>
          <a:xfrm>
            <a:off x="548640" y="6483096"/>
            <a:ext cx="4572000" cy="182880"/>
          </a:xfrm>
          <a:prstGeom prst="rect">
            <a:avLst/>
          </a:prstGeom>
          <a:noFill/>
          <a:ln/>
        </p:spPr>
        <p:txBody>
          <a:bodyPr wrap="square" lIns="0" tIns="0" rIns="0" bIns="0" rtlCol="0" anchor="ctr"/>
          <a:lstStyle/>
          <a:p>
            <a:pPr marL="0" indent="0">
              <a:buNone/>
            </a:pPr>
            <a:r>
              <a:rPr lang="en-US" sz="900" b="1" dirty="0">
                <a:solidFill>
                  <a:srgbClr val="56657B"/>
                </a:solidFill>
                <a:latin typeface="Segoe UI" pitchFamily="34" charset="0"/>
                <a:ea typeface="Segoe UI" pitchFamily="34" charset="-122"/>
                <a:cs typeface="Segoe UI" pitchFamily="34" charset="-120"/>
              </a:rPr>
              <a:t>TALK TO YOUR INSURANCE DATA</a:t>
            </a:r>
            <a:endParaRPr lang="en-US" sz="900" dirty="0"/>
          </a:p>
        </p:txBody>
      </p:sp>
      <p:sp>
        <p:nvSpPr>
          <p:cNvPr id="8" name="Text 6">
            <a:hlinkClick r:id="rId3"/>
          </p:cNvPr>
          <p:cNvSpPr/>
          <p:nvPr/>
        </p:nvSpPr>
        <p:spPr>
          <a:xfrm>
            <a:off x="8138160" y="6464808"/>
            <a:ext cx="2651760" cy="201168"/>
          </a:xfrm>
          <a:prstGeom prst="rect">
            <a:avLst/>
          </a:prstGeom>
          <a:noFill/>
          <a:ln/>
        </p:spPr>
        <p:txBody>
          <a:bodyPr wrap="square" lIns="0" tIns="0" rIns="0" bIns="0" rtlCol="0" anchor="ctr"/>
          <a:lstStyle/>
          <a:p>
            <a:pPr marL="0" indent="0" algn="r">
              <a:buNone/>
            </a:pPr>
            <a:r>
              <a:rPr lang="en-US" sz="900" u="sng" dirty="0">
                <a:solidFill>
                  <a:srgbClr val="56657B"/>
                </a:solidFill>
                <a:latin typeface="Segoe UI" pitchFamily="34" charset="0"/>
                <a:ea typeface="Segoe UI" pitchFamily="34" charset="-122"/>
                <a:cs typeface="Segoe UI" pitchFamily="34" charset="-120"/>
                <a:hlinkClick r:id="rId3">
                  <a:extLst>
                    <a:ext uri="{A12FA001-AC4F-418D-AE19-62706E023703}">
                      <ahyp:hlinkClr xmlns:ahyp="http://schemas.microsoft.com/office/drawing/2018/hyperlinkcolor" val="tx"/>
                    </a:ext>
                  </a:extLst>
                </a:hlinkClick>
              </a:rPr>
              <a:t>Microsoft Learn | source</a:t>
            </a:r>
            <a:endParaRPr lang="en-US" sz="900" dirty="0"/>
          </a:p>
        </p:txBody>
      </p:sp>
      <p:sp>
        <p:nvSpPr>
          <p:cNvPr id="9" name="Text 7"/>
          <p:cNvSpPr/>
          <p:nvPr/>
        </p:nvSpPr>
        <p:spPr>
          <a:xfrm>
            <a:off x="11082528" y="6437376"/>
            <a:ext cx="548640" cy="228600"/>
          </a:xfrm>
          <a:prstGeom prst="rect">
            <a:avLst/>
          </a:prstGeom>
          <a:noFill/>
          <a:ln/>
        </p:spPr>
        <p:txBody>
          <a:bodyPr wrap="square" lIns="0" tIns="0" rIns="0" bIns="0" rtlCol="0" anchor="ctr"/>
          <a:lstStyle/>
          <a:p>
            <a:pPr marL="0" indent="0" algn="r">
              <a:buNone/>
            </a:pPr>
            <a:r>
              <a:rPr lang="en-US" sz="1000" b="1" dirty="0">
                <a:solidFill>
                  <a:srgbClr val="7655D6"/>
                </a:solidFill>
                <a:latin typeface="Segoe UI" pitchFamily="34" charset="0"/>
                <a:ea typeface="Segoe UI" pitchFamily="34" charset="-122"/>
                <a:cs typeface="Segoe UI" pitchFamily="34" charset="-120"/>
              </a:rPr>
              <a:t>05</a:t>
            </a:r>
            <a:endParaRPr lang="en-US" sz="1000" dirty="0"/>
          </a:p>
        </p:txBody>
      </p:sp>
      <p:sp>
        <p:nvSpPr>
          <p:cNvPr id="10" name="Shape 8"/>
          <p:cNvSpPr/>
          <p:nvPr/>
        </p:nvSpPr>
        <p:spPr>
          <a:xfrm>
            <a:off x="603504" y="2414016"/>
            <a:ext cx="493776" cy="493776"/>
          </a:xfrm>
          <a:prstGeom prst="ellipse">
            <a:avLst/>
          </a:prstGeom>
          <a:solidFill>
            <a:srgbClr val="2563EB"/>
          </a:solidFill>
          <a:ln w="12700">
            <a:solidFill>
              <a:srgbClr val="2563EB"/>
            </a:solidFill>
            <a:prstDash val="solid"/>
          </a:ln>
        </p:spPr>
        <p:txBody>
          <a:bodyPr/>
          <a:lstStyle/>
          <a:p>
            <a:endParaRPr lang="en-US"/>
          </a:p>
        </p:txBody>
      </p:sp>
      <p:sp>
        <p:nvSpPr>
          <p:cNvPr id="11" name="Text 9"/>
          <p:cNvSpPr/>
          <p:nvPr/>
        </p:nvSpPr>
        <p:spPr>
          <a:xfrm>
            <a:off x="603504" y="2414016"/>
            <a:ext cx="493776" cy="493776"/>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01</a:t>
            </a:r>
            <a:endParaRPr lang="en-US" sz="1300" dirty="0"/>
          </a:p>
        </p:txBody>
      </p:sp>
      <p:sp>
        <p:nvSpPr>
          <p:cNvPr id="12" name="Text 10"/>
          <p:cNvSpPr/>
          <p:nvPr/>
        </p:nvSpPr>
        <p:spPr>
          <a:xfrm>
            <a:off x="1307592" y="2276856"/>
            <a:ext cx="5212080" cy="804672"/>
          </a:xfrm>
          <a:prstGeom prst="rect">
            <a:avLst/>
          </a:prstGeom>
          <a:noFill/>
          <a:ln/>
        </p:spPr>
        <p:txBody>
          <a:bodyPr wrap="square" lIns="0" tIns="0" rIns="0" bIns="0" rtlCol="0" anchor="ctr"/>
          <a:lstStyle/>
          <a:p>
            <a:pPr marL="0" indent="0">
              <a:buNone/>
            </a:pPr>
            <a:r>
              <a:rPr lang="en-US" sz="2000" b="1" dirty="0">
                <a:solidFill>
                  <a:srgbClr val="17233C"/>
                </a:solidFill>
                <a:latin typeface="Segoe UI" pitchFamily="34" charset="0"/>
                <a:ea typeface="Segoe UI" pitchFamily="34" charset="-122"/>
                <a:cs typeface="Segoe UI" pitchFamily="34" charset="-120"/>
              </a:rPr>
              <a:t>How many policies were in force</a:t>
            </a:r>
            <a:endParaRPr lang="en-US" sz="2000" dirty="0"/>
          </a:p>
          <a:p>
            <a:pPr marL="0" indent="0">
              <a:buNone/>
            </a:pPr>
            <a:r>
              <a:rPr lang="en-US" sz="2000" b="1" dirty="0">
                <a:solidFill>
                  <a:srgbClr val="17233C"/>
                </a:solidFill>
                <a:latin typeface="Segoe UI" pitchFamily="34" charset="0"/>
                <a:ea typeface="Segoe UI" pitchFamily="34" charset="-122"/>
                <a:cs typeface="Segoe UI" pitchFamily="34" charset="-120"/>
              </a:rPr>
              <a:t>as of September 30, 2026?</a:t>
            </a:r>
            <a:endParaRPr lang="en-US" sz="2000" dirty="0"/>
          </a:p>
        </p:txBody>
      </p:sp>
      <p:sp>
        <p:nvSpPr>
          <p:cNvPr id="13" name="Shape 11"/>
          <p:cNvSpPr/>
          <p:nvPr/>
        </p:nvSpPr>
        <p:spPr>
          <a:xfrm>
            <a:off x="6830568" y="2276856"/>
            <a:ext cx="4782312" cy="832104"/>
          </a:xfrm>
          <a:prstGeom prst="roundRect">
            <a:avLst>
              <a:gd name="adj" fmla="val 17582"/>
            </a:avLst>
          </a:prstGeom>
          <a:solidFill>
            <a:srgbClr val="F5F7FB"/>
          </a:solidFill>
          <a:ln w="8890">
            <a:solidFill>
              <a:srgbClr val="F5F7FB"/>
            </a:solidFill>
            <a:prstDash val="solid"/>
          </a:ln>
        </p:spPr>
        <p:txBody>
          <a:bodyPr/>
          <a:lstStyle/>
          <a:p>
            <a:endParaRPr lang="en-US"/>
          </a:p>
        </p:txBody>
      </p:sp>
      <p:sp>
        <p:nvSpPr>
          <p:cNvPr id="14" name="Text 12"/>
          <p:cNvSpPr/>
          <p:nvPr/>
        </p:nvSpPr>
        <p:spPr>
          <a:xfrm>
            <a:off x="7031736" y="2368296"/>
            <a:ext cx="4379976" cy="630936"/>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Contract: distinct policies at the snapshot date;</a:t>
            </a:r>
            <a:endParaRPr lang="en-US" sz="1500" dirty="0"/>
          </a:p>
          <a:p>
            <a:pPr marL="0" indent="0">
              <a:buNone/>
            </a:pPr>
            <a:r>
              <a:rPr lang="en-US" sz="1500" dirty="0">
                <a:solidFill>
                  <a:srgbClr val="56657B"/>
                </a:solidFill>
                <a:latin typeface="Segoe UI" pitchFamily="34" charset="0"/>
                <a:ea typeface="Segoe UI" pitchFamily="34" charset="-122"/>
                <a:cs typeface="Segoe UI" pitchFamily="34" charset="-120"/>
              </a:rPr>
              <a:t>owner-approved in-force status definition.</a:t>
            </a:r>
            <a:endParaRPr lang="en-US" sz="1500" dirty="0"/>
          </a:p>
        </p:txBody>
      </p:sp>
      <p:sp>
        <p:nvSpPr>
          <p:cNvPr id="15" name="Shape 13"/>
          <p:cNvSpPr/>
          <p:nvPr/>
        </p:nvSpPr>
        <p:spPr>
          <a:xfrm>
            <a:off x="603504" y="3419856"/>
            <a:ext cx="493776" cy="493776"/>
          </a:xfrm>
          <a:prstGeom prst="ellipse">
            <a:avLst/>
          </a:prstGeom>
          <a:solidFill>
            <a:srgbClr val="7655D6"/>
          </a:solidFill>
          <a:ln w="12700">
            <a:solidFill>
              <a:srgbClr val="7655D6"/>
            </a:solidFill>
            <a:prstDash val="solid"/>
          </a:ln>
        </p:spPr>
        <p:txBody>
          <a:bodyPr/>
          <a:lstStyle/>
          <a:p>
            <a:endParaRPr lang="en-US"/>
          </a:p>
        </p:txBody>
      </p:sp>
      <p:sp>
        <p:nvSpPr>
          <p:cNvPr id="16" name="Text 14"/>
          <p:cNvSpPr/>
          <p:nvPr/>
        </p:nvSpPr>
        <p:spPr>
          <a:xfrm>
            <a:off x="603504" y="3419856"/>
            <a:ext cx="493776" cy="493776"/>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02</a:t>
            </a:r>
            <a:endParaRPr lang="en-US" sz="1300" dirty="0"/>
          </a:p>
        </p:txBody>
      </p:sp>
      <p:sp>
        <p:nvSpPr>
          <p:cNvPr id="17" name="Text 15"/>
          <p:cNvSpPr/>
          <p:nvPr/>
        </p:nvSpPr>
        <p:spPr>
          <a:xfrm>
            <a:off x="1307592" y="3282696"/>
            <a:ext cx="5212080" cy="804672"/>
          </a:xfrm>
          <a:prstGeom prst="rect">
            <a:avLst/>
          </a:prstGeom>
          <a:noFill/>
          <a:ln/>
        </p:spPr>
        <p:txBody>
          <a:bodyPr wrap="square" lIns="0" tIns="0" rIns="0" bIns="0" rtlCol="0" anchor="ctr"/>
          <a:lstStyle/>
          <a:p>
            <a:pPr marL="0" indent="0">
              <a:buNone/>
            </a:pPr>
            <a:r>
              <a:rPr lang="en-US" sz="2000" b="1" dirty="0">
                <a:solidFill>
                  <a:srgbClr val="17233C"/>
                </a:solidFill>
                <a:latin typeface="Segoe UI" pitchFamily="34" charset="0"/>
                <a:ea typeface="Segoe UI" pitchFamily="34" charset="-122"/>
                <a:cs typeface="Segoe UI" pitchFamily="34" charset="-120"/>
              </a:rPr>
              <a:t>What was total claims paid in</a:t>
            </a:r>
            <a:endParaRPr lang="en-US" sz="2000" dirty="0"/>
          </a:p>
          <a:p>
            <a:pPr marL="0" indent="0">
              <a:buNone/>
            </a:pPr>
            <a:r>
              <a:rPr lang="en-US" sz="2000" b="1" dirty="0">
                <a:solidFill>
                  <a:srgbClr val="17233C"/>
                </a:solidFill>
                <a:latin typeface="Segoe UI" pitchFamily="34" charset="0"/>
                <a:ea typeface="Segoe UI" pitchFamily="34" charset="-122"/>
                <a:cs typeface="Segoe UI" pitchFamily="34" charset="-120"/>
              </a:rPr>
              <a:t>July-September 2026, by product?</a:t>
            </a:r>
            <a:endParaRPr lang="en-US" sz="2000" dirty="0"/>
          </a:p>
        </p:txBody>
      </p:sp>
      <p:sp>
        <p:nvSpPr>
          <p:cNvPr id="18" name="Shape 16"/>
          <p:cNvSpPr/>
          <p:nvPr/>
        </p:nvSpPr>
        <p:spPr>
          <a:xfrm>
            <a:off x="6830568" y="3282696"/>
            <a:ext cx="4782312" cy="832104"/>
          </a:xfrm>
          <a:prstGeom prst="roundRect">
            <a:avLst>
              <a:gd name="adj" fmla="val 17582"/>
            </a:avLst>
          </a:prstGeom>
          <a:solidFill>
            <a:srgbClr val="F5F7FB"/>
          </a:solidFill>
          <a:ln w="8890">
            <a:solidFill>
              <a:srgbClr val="F5F7FB"/>
            </a:solidFill>
            <a:prstDash val="solid"/>
          </a:ln>
        </p:spPr>
        <p:txBody>
          <a:bodyPr/>
          <a:lstStyle/>
          <a:p>
            <a:endParaRPr lang="en-US"/>
          </a:p>
        </p:txBody>
      </p:sp>
      <p:sp>
        <p:nvSpPr>
          <p:cNvPr id="19" name="Text 17"/>
          <p:cNvSpPr/>
          <p:nvPr/>
        </p:nvSpPr>
        <p:spPr>
          <a:xfrm>
            <a:off x="7031736" y="3374136"/>
            <a:ext cx="4379976" cy="630936"/>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Contract: payment-date basis and approved</a:t>
            </a:r>
            <a:endParaRPr lang="en-US" sz="1500" dirty="0"/>
          </a:p>
          <a:p>
            <a:pPr marL="0" indent="0">
              <a:buNone/>
            </a:pPr>
            <a:r>
              <a:rPr lang="en-US" sz="1500" dirty="0">
                <a:solidFill>
                  <a:srgbClr val="56657B"/>
                </a:solidFill>
                <a:latin typeface="Segoe UI" pitchFamily="34" charset="0"/>
                <a:ea typeface="Segoe UI" pitchFamily="34" charset="-122"/>
                <a:cs typeface="Segoe UI" pitchFamily="34" charset="-120"/>
              </a:rPr>
              <a:t>net/gross treatment; correct product relationship.</a:t>
            </a:r>
            <a:endParaRPr lang="en-US" sz="1500" dirty="0"/>
          </a:p>
        </p:txBody>
      </p:sp>
      <p:sp>
        <p:nvSpPr>
          <p:cNvPr id="20" name="Shape 18"/>
          <p:cNvSpPr/>
          <p:nvPr/>
        </p:nvSpPr>
        <p:spPr>
          <a:xfrm>
            <a:off x="603504" y="4425696"/>
            <a:ext cx="493776" cy="493776"/>
          </a:xfrm>
          <a:prstGeom prst="ellipse">
            <a:avLst/>
          </a:prstGeom>
          <a:solidFill>
            <a:srgbClr val="138477"/>
          </a:solidFill>
          <a:ln w="12700">
            <a:solidFill>
              <a:srgbClr val="138477"/>
            </a:solidFill>
            <a:prstDash val="solid"/>
          </a:ln>
        </p:spPr>
        <p:txBody>
          <a:bodyPr/>
          <a:lstStyle/>
          <a:p>
            <a:endParaRPr lang="en-US"/>
          </a:p>
        </p:txBody>
      </p:sp>
      <p:sp>
        <p:nvSpPr>
          <p:cNvPr id="21" name="Text 19"/>
          <p:cNvSpPr/>
          <p:nvPr/>
        </p:nvSpPr>
        <p:spPr>
          <a:xfrm>
            <a:off x="603504" y="4425696"/>
            <a:ext cx="493776" cy="493776"/>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03</a:t>
            </a:r>
            <a:endParaRPr lang="en-US" sz="1300" dirty="0"/>
          </a:p>
        </p:txBody>
      </p:sp>
      <p:sp>
        <p:nvSpPr>
          <p:cNvPr id="22" name="Text 20"/>
          <p:cNvSpPr/>
          <p:nvPr/>
        </p:nvSpPr>
        <p:spPr>
          <a:xfrm>
            <a:off x="1307592" y="4288536"/>
            <a:ext cx="5212080" cy="804672"/>
          </a:xfrm>
          <a:prstGeom prst="rect">
            <a:avLst/>
          </a:prstGeom>
          <a:noFill/>
          <a:ln/>
        </p:spPr>
        <p:txBody>
          <a:bodyPr wrap="square" lIns="0" tIns="0" rIns="0" bIns="0" rtlCol="0" anchor="ctr"/>
          <a:lstStyle/>
          <a:p>
            <a:pPr marL="0" indent="0">
              <a:buNone/>
            </a:pPr>
            <a:r>
              <a:rPr lang="en-US" sz="2000" b="1" dirty="0">
                <a:solidFill>
                  <a:srgbClr val="17233C"/>
                </a:solidFill>
                <a:latin typeface="Segoe UI" pitchFamily="34" charset="0"/>
                <a:ea typeface="Segoe UI" pitchFamily="34" charset="-122"/>
                <a:cs typeface="Segoe UI" pitchFamily="34" charset="-120"/>
              </a:rPr>
              <a:t>What was average claim settlement time</a:t>
            </a:r>
            <a:endParaRPr lang="en-US" sz="2000" dirty="0"/>
          </a:p>
          <a:p>
            <a:pPr marL="0" indent="0">
              <a:buNone/>
            </a:pPr>
            <a:r>
              <a:rPr lang="en-US" sz="2000" b="1" dirty="0">
                <a:solidFill>
                  <a:srgbClr val="17233C"/>
                </a:solidFill>
                <a:latin typeface="Segoe UI" pitchFamily="34" charset="0"/>
                <a:ea typeface="Segoe UI" pitchFamily="34" charset="-122"/>
                <a:cs typeface="Segoe UI" pitchFamily="34" charset="-120"/>
              </a:rPr>
              <a:t>for claims closed in September 2026?</a:t>
            </a:r>
            <a:endParaRPr lang="en-US" sz="2000" dirty="0"/>
          </a:p>
        </p:txBody>
      </p:sp>
      <p:sp>
        <p:nvSpPr>
          <p:cNvPr id="23" name="Shape 21"/>
          <p:cNvSpPr/>
          <p:nvPr/>
        </p:nvSpPr>
        <p:spPr>
          <a:xfrm>
            <a:off x="6830568" y="4288536"/>
            <a:ext cx="4782312" cy="832104"/>
          </a:xfrm>
          <a:prstGeom prst="roundRect">
            <a:avLst>
              <a:gd name="adj" fmla="val 17582"/>
            </a:avLst>
          </a:prstGeom>
          <a:solidFill>
            <a:srgbClr val="F5F7FB"/>
          </a:solidFill>
          <a:ln w="8890">
            <a:solidFill>
              <a:srgbClr val="F5F7FB"/>
            </a:solidFill>
            <a:prstDash val="solid"/>
          </a:ln>
        </p:spPr>
        <p:txBody>
          <a:bodyPr/>
          <a:lstStyle/>
          <a:p>
            <a:endParaRPr lang="en-US"/>
          </a:p>
        </p:txBody>
      </p:sp>
      <p:sp>
        <p:nvSpPr>
          <p:cNvPr id="24" name="Text 22"/>
          <p:cNvSpPr/>
          <p:nvPr/>
        </p:nvSpPr>
        <p:spPr>
          <a:xfrm>
            <a:off x="7031736" y="4379976"/>
            <a:ext cx="4379976" cy="630936"/>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Contract: closed-claim cohort; one duration per</a:t>
            </a:r>
            <a:endParaRPr lang="en-US" sz="1500" dirty="0"/>
          </a:p>
          <a:p>
            <a:pPr marL="0" indent="0">
              <a:buNone/>
            </a:pPr>
            <a:r>
              <a:rPr lang="en-US" sz="1500" dirty="0">
                <a:solidFill>
                  <a:srgbClr val="56657B"/>
                </a:solidFill>
                <a:latin typeface="Segoe UI" pitchFamily="34" charset="0"/>
                <a:ea typeface="Segoe UI" pitchFamily="34" charset="-122"/>
                <a:cs typeface="Segoe UI" pitchFamily="34" charset="-120"/>
              </a:rPr>
              <a:t>claim; approved start/end dates and exclusions.</a:t>
            </a:r>
            <a:endParaRPr lang="en-US" sz="1500" dirty="0"/>
          </a:p>
        </p:txBody>
      </p:sp>
      <p:sp>
        <p:nvSpPr>
          <p:cNvPr id="25" name="Shape 23"/>
          <p:cNvSpPr/>
          <p:nvPr/>
        </p:nvSpPr>
        <p:spPr>
          <a:xfrm>
            <a:off x="548640" y="5715000"/>
            <a:ext cx="11064240" cy="484632"/>
          </a:xfrm>
          <a:prstGeom prst="roundRect">
            <a:avLst>
              <a:gd name="adj" fmla="val 30189"/>
            </a:avLst>
          </a:prstGeom>
          <a:solidFill>
            <a:srgbClr val="EDF3FF"/>
          </a:solidFill>
          <a:ln w="8890">
            <a:solidFill>
              <a:srgbClr val="EDF3FF"/>
            </a:solidFill>
            <a:prstDash val="solid"/>
          </a:ln>
        </p:spPr>
        <p:txBody>
          <a:bodyPr/>
          <a:lstStyle/>
          <a:p>
            <a:endParaRPr lang="en-US"/>
          </a:p>
        </p:txBody>
      </p:sp>
      <p:sp>
        <p:nvSpPr>
          <p:cNvPr id="26" name="Text 24"/>
          <p:cNvSpPr/>
          <p:nvPr/>
        </p:nvSpPr>
        <p:spPr>
          <a:xfrm>
            <a:off x="758952" y="5788152"/>
            <a:ext cx="10643616" cy="329184"/>
          </a:xfrm>
          <a:prstGeom prst="rect">
            <a:avLst/>
          </a:prstGeom>
          <a:noFill/>
          <a:ln/>
        </p:spPr>
        <p:txBody>
          <a:bodyPr wrap="square" lIns="0" tIns="0" rIns="0" bIns="0" rtlCol="0" anchor="ctr"/>
          <a:lstStyle/>
          <a:p>
            <a:pPr marL="0" indent="0">
              <a:buNone/>
            </a:pPr>
            <a:r>
              <a:rPr lang="en-US" sz="1600" b="1" dirty="0">
                <a:solidFill>
                  <a:srgbClr val="2563EB"/>
                </a:solidFill>
                <a:latin typeface="Segoe UI" pitchFamily="34" charset="0"/>
                <a:ea typeface="Segoe UI" pitchFamily="34" charset="-122"/>
                <a:cs typeface="Segoe UI" pitchFamily="34" charset="-120"/>
              </a:rPr>
              <a:t>Capture: answer | measure | dates + filters | selected source | pass / fail / unclear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3017520" cy="292608"/>
          </a:xfrm>
          <a:prstGeom prst="roundRect">
            <a:avLst>
              <a:gd name="adj" fmla="val 50000"/>
            </a:avLst>
          </a:prstGeom>
          <a:solidFill>
            <a:srgbClr val="F3EFFE"/>
          </a:solidFill>
          <a:ln w="8890">
            <a:solidFill>
              <a:srgbClr val="F3EFFE"/>
            </a:solidFill>
            <a:prstDash val="solid"/>
          </a:ln>
        </p:spPr>
        <p:txBody>
          <a:bodyPr/>
          <a:lstStyle/>
          <a:p>
            <a:endParaRPr lang="en-US"/>
          </a:p>
        </p:txBody>
      </p:sp>
      <p:sp>
        <p:nvSpPr>
          <p:cNvPr id="3" name="Text 1"/>
          <p:cNvSpPr/>
          <p:nvPr/>
        </p:nvSpPr>
        <p:spPr>
          <a:xfrm>
            <a:off x="658368" y="320040"/>
            <a:ext cx="2798064" cy="292608"/>
          </a:xfrm>
          <a:prstGeom prst="rect">
            <a:avLst/>
          </a:prstGeom>
          <a:noFill/>
          <a:ln/>
        </p:spPr>
        <p:txBody>
          <a:bodyPr wrap="square" lIns="0" tIns="0" rIns="0" bIns="0" rtlCol="0" anchor="ctr"/>
          <a:lstStyle/>
          <a:p>
            <a:pPr marL="0" indent="0">
              <a:buNone/>
            </a:pPr>
            <a:r>
              <a:rPr lang="en-US" sz="1000" b="1" dirty="0">
                <a:solidFill>
                  <a:srgbClr val="7655D6"/>
                </a:solidFill>
                <a:latin typeface="Segoe UI" pitchFamily="34" charset="0"/>
                <a:ea typeface="Segoe UI" pitchFamily="34" charset="-122"/>
                <a:cs typeface="Segoe UI" pitchFamily="34" charset="-120"/>
              </a:rPr>
              <a:t>02 | ASSESS</a:t>
            </a:r>
            <a:endParaRPr lang="en-US" sz="1000" dirty="0"/>
          </a:p>
        </p:txBody>
      </p:sp>
      <p:sp>
        <p:nvSpPr>
          <p:cNvPr id="4" name="Text 2"/>
          <p:cNvSpPr/>
          <p:nvPr/>
        </p:nvSpPr>
        <p:spPr>
          <a:xfrm>
            <a:off x="9582912" y="320040"/>
            <a:ext cx="2057400" cy="292608"/>
          </a:xfrm>
          <a:prstGeom prst="rect">
            <a:avLst/>
          </a:prstGeom>
          <a:noFill/>
          <a:ln/>
        </p:spPr>
        <p:txBody>
          <a:bodyPr wrap="square" lIns="0" tIns="0" rIns="0" bIns="0" rtlCol="0" anchor="ctr"/>
          <a:lstStyle/>
          <a:p>
            <a:pPr marL="0" indent="0" algn="r">
              <a:buNone/>
            </a:pPr>
            <a:r>
              <a:rPr lang="en-US" sz="1100" dirty="0">
                <a:solidFill>
                  <a:srgbClr val="56657B"/>
                </a:solidFill>
                <a:latin typeface="Segoe UI" pitchFamily="34" charset="0"/>
                <a:ea typeface="Segoe UI" pitchFamily="34" charset="-122"/>
                <a:cs typeface="Segoe UI" pitchFamily="34" charset="-120"/>
              </a:rPr>
              <a:t>10-25 minutes</a:t>
            </a:r>
            <a:endParaRPr lang="en-US" sz="1100" dirty="0"/>
          </a:p>
        </p:txBody>
      </p:sp>
      <p:sp>
        <p:nvSpPr>
          <p:cNvPr id="5" name="Text 3"/>
          <p:cNvSpPr/>
          <p:nvPr/>
        </p:nvSpPr>
        <p:spPr>
          <a:xfrm>
            <a:off x="548640" y="877824"/>
            <a:ext cx="11064240" cy="621792"/>
          </a:xfrm>
          <a:prstGeom prst="rect">
            <a:avLst/>
          </a:prstGeom>
          <a:noFill/>
          <a:ln/>
        </p:spPr>
        <p:txBody>
          <a:bodyPr wrap="square" lIns="0" tIns="0" rIns="0" bIns="0" rtlCol="0" anchor="ctr"/>
          <a:lstStyle/>
          <a:p>
            <a:pPr marL="0" indent="0">
              <a:buNone/>
            </a:pPr>
            <a:r>
              <a:rPr lang="en-US" sz="3200" b="1" dirty="0">
                <a:solidFill>
                  <a:srgbClr val="17233C"/>
                </a:solidFill>
                <a:latin typeface="Segoe UI" pitchFamily="34" charset="0"/>
                <a:ea typeface="Segoe UI" pitchFamily="34" charset="-122"/>
                <a:cs typeface="Segoe UI" pitchFamily="34" charset="-120"/>
              </a:rPr>
              <a:t>Answer accuracy is a system, not a prompt trick</a:t>
            </a:r>
            <a:endParaRPr lang="en-US" sz="3200" dirty="0"/>
          </a:p>
        </p:txBody>
      </p:sp>
      <p:sp>
        <p:nvSpPr>
          <p:cNvPr id="6" name="Text 4"/>
          <p:cNvSpPr/>
          <p:nvPr/>
        </p:nvSpPr>
        <p:spPr>
          <a:xfrm>
            <a:off x="566928" y="1581912"/>
            <a:ext cx="10927080" cy="502920"/>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Clear business meaning + correct model logic + relevant AI context.</a:t>
            </a:r>
            <a:endParaRPr lang="en-US" sz="1500" dirty="0"/>
          </a:p>
        </p:txBody>
      </p:sp>
      <p:sp>
        <p:nvSpPr>
          <p:cNvPr id="7" name="Text 5"/>
          <p:cNvSpPr/>
          <p:nvPr/>
        </p:nvSpPr>
        <p:spPr>
          <a:xfrm>
            <a:off x="548640" y="6483096"/>
            <a:ext cx="4572000" cy="182880"/>
          </a:xfrm>
          <a:prstGeom prst="rect">
            <a:avLst/>
          </a:prstGeom>
          <a:noFill/>
          <a:ln/>
        </p:spPr>
        <p:txBody>
          <a:bodyPr wrap="square" lIns="0" tIns="0" rIns="0" bIns="0" rtlCol="0" anchor="ctr"/>
          <a:lstStyle/>
          <a:p>
            <a:pPr marL="0" indent="0">
              <a:buNone/>
            </a:pPr>
            <a:r>
              <a:rPr lang="en-US" sz="900" b="1" dirty="0">
                <a:solidFill>
                  <a:srgbClr val="56657B"/>
                </a:solidFill>
                <a:latin typeface="Segoe UI" pitchFamily="34" charset="0"/>
                <a:ea typeface="Segoe UI" pitchFamily="34" charset="-122"/>
                <a:cs typeface="Segoe UI" pitchFamily="34" charset="-120"/>
              </a:rPr>
              <a:t>TALK TO YOUR INSURANCE DATA</a:t>
            </a:r>
            <a:endParaRPr lang="en-US" sz="900" dirty="0"/>
          </a:p>
        </p:txBody>
      </p:sp>
      <p:sp>
        <p:nvSpPr>
          <p:cNvPr id="8" name="Text 6">
            <a:hlinkClick r:id="rId3"/>
          </p:cNvPr>
          <p:cNvSpPr/>
          <p:nvPr/>
        </p:nvSpPr>
        <p:spPr>
          <a:xfrm>
            <a:off x="8138160" y="6464808"/>
            <a:ext cx="2651760" cy="201168"/>
          </a:xfrm>
          <a:prstGeom prst="rect">
            <a:avLst/>
          </a:prstGeom>
          <a:noFill/>
          <a:ln/>
        </p:spPr>
        <p:txBody>
          <a:bodyPr wrap="square" lIns="0" tIns="0" rIns="0" bIns="0" rtlCol="0" anchor="ctr"/>
          <a:lstStyle/>
          <a:p>
            <a:pPr marL="0" indent="0" algn="r">
              <a:buNone/>
            </a:pPr>
            <a:r>
              <a:rPr lang="en-US" sz="900" u="sng" dirty="0">
                <a:solidFill>
                  <a:srgbClr val="56657B"/>
                </a:solidFill>
                <a:latin typeface="Segoe UI" pitchFamily="34" charset="0"/>
                <a:ea typeface="Segoe UI" pitchFamily="34" charset="-122"/>
                <a:cs typeface="Segoe UI" pitchFamily="34" charset="-120"/>
                <a:hlinkClick r:id="rId3">
                  <a:extLst>
                    <a:ext uri="{A12FA001-AC4F-418D-AE19-62706E023703}">
                      <ahyp:hlinkClr xmlns:ahyp="http://schemas.microsoft.com/office/drawing/2018/hyperlinkcolor" val="tx"/>
                    </a:ext>
                  </a:extLst>
                </a:hlinkClick>
              </a:rPr>
              <a:t>Microsoft Learn | source</a:t>
            </a:r>
            <a:endParaRPr lang="en-US" sz="900" dirty="0"/>
          </a:p>
        </p:txBody>
      </p:sp>
      <p:sp>
        <p:nvSpPr>
          <p:cNvPr id="9" name="Text 7"/>
          <p:cNvSpPr/>
          <p:nvPr/>
        </p:nvSpPr>
        <p:spPr>
          <a:xfrm>
            <a:off x="11082528" y="6437376"/>
            <a:ext cx="548640" cy="228600"/>
          </a:xfrm>
          <a:prstGeom prst="rect">
            <a:avLst/>
          </a:prstGeom>
          <a:noFill/>
          <a:ln/>
        </p:spPr>
        <p:txBody>
          <a:bodyPr wrap="square" lIns="0" tIns="0" rIns="0" bIns="0" rtlCol="0" anchor="ctr"/>
          <a:lstStyle/>
          <a:p>
            <a:pPr marL="0" indent="0" algn="r">
              <a:buNone/>
            </a:pPr>
            <a:r>
              <a:rPr lang="en-US" sz="1000" b="1" dirty="0">
                <a:solidFill>
                  <a:srgbClr val="7655D6"/>
                </a:solidFill>
                <a:latin typeface="Segoe UI" pitchFamily="34" charset="0"/>
                <a:ea typeface="Segoe UI" pitchFamily="34" charset="-122"/>
                <a:cs typeface="Segoe UI" pitchFamily="34" charset="-120"/>
              </a:rPr>
              <a:t>06</a:t>
            </a:r>
            <a:endParaRPr lang="en-US" sz="1000" dirty="0"/>
          </a:p>
        </p:txBody>
      </p:sp>
      <p:sp>
        <p:nvSpPr>
          <p:cNvPr id="10" name="Shape 8"/>
          <p:cNvSpPr/>
          <p:nvPr/>
        </p:nvSpPr>
        <p:spPr>
          <a:xfrm>
            <a:off x="548640" y="2267712"/>
            <a:ext cx="3502152" cy="1261872"/>
          </a:xfrm>
          <a:prstGeom prst="roundRect">
            <a:avLst>
              <a:gd name="adj" fmla="val 11594"/>
            </a:avLst>
          </a:prstGeom>
          <a:solidFill>
            <a:srgbClr val="EDF3FF"/>
          </a:solidFill>
          <a:ln w="8890">
            <a:solidFill>
              <a:srgbClr val="EDF3FF"/>
            </a:solidFill>
            <a:prstDash val="solid"/>
          </a:ln>
        </p:spPr>
        <p:txBody>
          <a:bodyPr/>
          <a:lstStyle/>
          <a:p>
            <a:endParaRPr lang="en-US"/>
          </a:p>
        </p:txBody>
      </p:sp>
      <p:sp>
        <p:nvSpPr>
          <p:cNvPr id="11" name="Shape 9"/>
          <p:cNvSpPr/>
          <p:nvPr/>
        </p:nvSpPr>
        <p:spPr>
          <a:xfrm>
            <a:off x="731520" y="2432304"/>
            <a:ext cx="365760" cy="365760"/>
          </a:xfrm>
          <a:prstGeom prst="ellipse">
            <a:avLst/>
          </a:prstGeom>
          <a:solidFill>
            <a:srgbClr val="2563EB"/>
          </a:solidFill>
          <a:ln w="12700">
            <a:solidFill>
              <a:srgbClr val="2563EB"/>
            </a:solidFill>
            <a:prstDash val="solid"/>
          </a:ln>
        </p:spPr>
        <p:txBody>
          <a:bodyPr/>
          <a:lstStyle/>
          <a:p>
            <a:endParaRPr lang="en-US"/>
          </a:p>
        </p:txBody>
      </p:sp>
      <p:sp>
        <p:nvSpPr>
          <p:cNvPr id="12" name="Text 10"/>
          <p:cNvSpPr/>
          <p:nvPr/>
        </p:nvSpPr>
        <p:spPr>
          <a:xfrm>
            <a:off x="731520" y="243230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01</a:t>
            </a:r>
            <a:endParaRPr lang="en-US" sz="1300" dirty="0"/>
          </a:p>
        </p:txBody>
      </p:sp>
      <p:sp>
        <p:nvSpPr>
          <p:cNvPr id="13" name="Text 11"/>
          <p:cNvSpPr/>
          <p:nvPr/>
        </p:nvSpPr>
        <p:spPr>
          <a:xfrm>
            <a:off x="1252728" y="2423160"/>
            <a:ext cx="2633472" cy="329184"/>
          </a:xfrm>
          <a:prstGeom prst="rect">
            <a:avLst/>
          </a:prstGeom>
          <a:noFill/>
          <a:ln/>
        </p:spPr>
        <p:txBody>
          <a:bodyPr wrap="square" lIns="0" tIns="0" rIns="0" bIns="0" rtlCol="0" anchor="ctr"/>
          <a:lstStyle/>
          <a:p>
            <a:pPr marL="0" indent="0">
              <a:buNone/>
            </a:pPr>
            <a:r>
              <a:rPr lang="en-US" sz="1900" b="1" dirty="0">
                <a:solidFill>
                  <a:srgbClr val="17233C"/>
                </a:solidFill>
                <a:latin typeface="Segoe UI" pitchFamily="34" charset="0"/>
                <a:ea typeface="Segoe UI" pitchFamily="34" charset="-122"/>
                <a:cs typeface="Segoe UI" pitchFamily="34" charset="-120"/>
              </a:rPr>
              <a:t>Terminology</a:t>
            </a:r>
            <a:endParaRPr lang="en-US" sz="1900" dirty="0"/>
          </a:p>
        </p:txBody>
      </p:sp>
      <p:sp>
        <p:nvSpPr>
          <p:cNvPr id="14" name="Text 12"/>
          <p:cNvSpPr/>
          <p:nvPr/>
        </p:nvSpPr>
        <p:spPr>
          <a:xfrm>
            <a:off x="731520" y="2926080"/>
            <a:ext cx="3136392" cy="429768"/>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In force, active, paid, incurred:</a:t>
            </a:r>
            <a:endParaRPr lang="en-US" sz="1500" dirty="0"/>
          </a:p>
          <a:p>
            <a:pPr marL="0" indent="0">
              <a:buNone/>
            </a:pPr>
            <a:r>
              <a:rPr lang="en-US" sz="1500" dirty="0">
                <a:solidFill>
                  <a:srgbClr val="56657B"/>
                </a:solidFill>
                <a:latin typeface="Segoe UI" pitchFamily="34" charset="0"/>
                <a:ea typeface="Segoe UI" pitchFamily="34" charset="-122"/>
                <a:cs typeface="Segoe UI" pitchFamily="34" charset="-120"/>
              </a:rPr>
              <a:t>make business meanings explicit.</a:t>
            </a:r>
            <a:endParaRPr lang="en-US" sz="1500" dirty="0"/>
          </a:p>
        </p:txBody>
      </p:sp>
      <p:sp>
        <p:nvSpPr>
          <p:cNvPr id="15" name="Shape 13"/>
          <p:cNvSpPr/>
          <p:nvPr/>
        </p:nvSpPr>
        <p:spPr>
          <a:xfrm>
            <a:off x="4334256" y="2267712"/>
            <a:ext cx="3502152" cy="1261872"/>
          </a:xfrm>
          <a:prstGeom prst="roundRect">
            <a:avLst>
              <a:gd name="adj" fmla="val 11594"/>
            </a:avLst>
          </a:prstGeom>
          <a:solidFill>
            <a:srgbClr val="F3EFFE"/>
          </a:solidFill>
          <a:ln w="8890">
            <a:solidFill>
              <a:srgbClr val="F3EFFE"/>
            </a:solidFill>
            <a:prstDash val="solid"/>
          </a:ln>
        </p:spPr>
        <p:txBody>
          <a:bodyPr/>
          <a:lstStyle/>
          <a:p>
            <a:endParaRPr lang="en-US"/>
          </a:p>
        </p:txBody>
      </p:sp>
      <p:sp>
        <p:nvSpPr>
          <p:cNvPr id="16" name="Shape 14"/>
          <p:cNvSpPr/>
          <p:nvPr/>
        </p:nvSpPr>
        <p:spPr>
          <a:xfrm>
            <a:off x="4517136" y="2432304"/>
            <a:ext cx="365760" cy="365760"/>
          </a:xfrm>
          <a:prstGeom prst="ellipse">
            <a:avLst/>
          </a:prstGeom>
          <a:solidFill>
            <a:srgbClr val="7655D6"/>
          </a:solidFill>
          <a:ln w="12700">
            <a:solidFill>
              <a:srgbClr val="7655D6"/>
            </a:solidFill>
            <a:prstDash val="solid"/>
          </a:ln>
        </p:spPr>
        <p:txBody>
          <a:bodyPr/>
          <a:lstStyle/>
          <a:p>
            <a:endParaRPr lang="en-US"/>
          </a:p>
        </p:txBody>
      </p:sp>
      <p:sp>
        <p:nvSpPr>
          <p:cNvPr id="17" name="Text 15"/>
          <p:cNvSpPr/>
          <p:nvPr/>
        </p:nvSpPr>
        <p:spPr>
          <a:xfrm>
            <a:off x="4517136" y="243230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02</a:t>
            </a:r>
            <a:endParaRPr lang="en-US" sz="1300" dirty="0"/>
          </a:p>
        </p:txBody>
      </p:sp>
      <p:sp>
        <p:nvSpPr>
          <p:cNvPr id="18" name="Text 16"/>
          <p:cNvSpPr/>
          <p:nvPr/>
        </p:nvSpPr>
        <p:spPr>
          <a:xfrm>
            <a:off x="5038344" y="2423160"/>
            <a:ext cx="2633472" cy="329184"/>
          </a:xfrm>
          <a:prstGeom prst="rect">
            <a:avLst/>
          </a:prstGeom>
          <a:noFill/>
          <a:ln/>
        </p:spPr>
        <p:txBody>
          <a:bodyPr wrap="square" lIns="0" tIns="0" rIns="0" bIns="0" rtlCol="0" anchor="ctr"/>
          <a:lstStyle/>
          <a:p>
            <a:pPr marL="0" indent="0">
              <a:buNone/>
            </a:pPr>
            <a:r>
              <a:rPr lang="en-US" sz="1900" b="1" dirty="0">
                <a:solidFill>
                  <a:srgbClr val="17233C"/>
                </a:solidFill>
                <a:latin typeface="Segoe UI" pitchFamily="34" charset="0"/>
                <a:ea typeface="Segoe UI" pitchFamily="34" charset="-122"/>
                <a:cs typeface="Segoe UI" pitchFamily="34" charset="-120"/>
              </a:rPr>
              <a:t>Measures</a:t>
            </a:r>
            <a:endParaRPr lang="en-US" sz="1900" dirty="0"/>
          </a:p>
        </p:txBody>
      </p:sp>
      <p:sp>
        <p:nvSpPr>
          <p:cNvPr id="19" name="Text 17"/>
          <p:cNvSpPr/>
          <p:nvPr/>
        </p:nvSpPr>
        <p:spPr>
          <a:xfrm>
            <a:off x="4517136" y="2926080"/>
            <a:ext cx="3136392" cy="429768"/>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Define approved calculations,</a:t>
            </a:r>
            <a:endParaRPr lang="en-US" sz="1500" dirty="0"/>
          </a:p>
          <a:p>
            <a:pPr marL="0" indent="0">
              <a:buNone/>
            </a:pPr>
            <a:r>
              <a:rPr lang="en-US" sz="1500" dirty="0">
                <a:solidFill>
                  <a:srgbClr val="56657B"/>
                </a:solidFill>
                <a:latin typeface="Segoe UI" pitchFamily="34" charset="0"/>
                <a:ea typeface="Segoe UI" pitchFamily="34" charset="-122"/>
                <a:cs typeface="Segoe UI" pitchFamily="34" charset="-120"/>
              </a:rPr>
              <a:t>units, exclusions and totals.</a:t>
            </a:r>
            <a:endParaRPr lang="en-US" sz="1500" dirty="0"/>
          </a:p>
        </p:txBody>
      </p:sp>
      <p:sp>
        <p:nvSpPr>
          <p:cNvPr id="20" name="Shape 18"/>
          <p:cNvSpPr/>
          <p:nvPr/>
        </p:nvSpPr>
        <p:spPr>
          <a:xfrm>
            <a:off x="8119872" y="2267712"/>
            <a:ext cx="3502152" cy="1261872"/>
          </a:xfrm>
          <a:prstGeom prst="roundRect">
            <a:avLst>
              <a:gd name="adj" fmla="val 11594"/>
            </a:avLst>
          </a:prstGeom>
          <a:solidFill>
            <a:srgbClr val="EDF8F5"/>
          </a:solidFill>
          <a:ln w="8890">
            <a:solidFill>
              <a:srgbClr val="EDF8F5"/>
            </a:solidFill>
            <a:prstDash val="solid"/>
          </a:ln>
        </p:spPr>
        <p:txBody>
          <a:bodyPr/>
          <a:lstStyle/>
          <a:p>
            <a:endParaRPr lang="en-US"/>
          </a:p>
        </p:txBody>
      </p:sp>
      <p:sp>
        <p:nvSpPr>
          <p:cNvPr id="21" name="Shape 19"/>
          <p:cNvSpPr/>
          <p:nvPr/>
        </p:nvSpPr>
        <p:spPr>
          <a:xfrm>
            <a:off x="8302752" y="2432304"/>
            <a:ext cx="365760" cy="365760"/>
          </a:xfrm>
          <a:prstGeom prst="ellipse">
            <a:avLst/>
          </a:prstGeom>
          <a:solidFill>
            <a:srgbClr val="138477"/>
          </a:solidFill>
          <a:ln w="12700">
            <a:solidFill>
              <a:srgbClr val="138477"/>
            </a:solidFill>
            <a:prstDash val="solid"/>
          </a:ln>
        </p:spPr>
        <p:txBody>
          <a:bodyPr/>
          <a:lstStyle/>
          <a:p>
            <a:endParaRPr lang="en-US"/>
          </a:p>
        </p:txBody>
      </p:sp>
      <p:sp>
        <p:nvSpPr>
          <p:cNvPr id="22" name="Text 20"/>
          <p:cNvSpPr/>
          <p:nvPr/>
        </p:nvSpPr>
        <p:spPr>
          <a:xfrm>
            <a:off x="8302752" y="243230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03</a:t>
            </a:r>
            <a:endParaRPr lang="en-US" sz="1300" dirty="0"/>
          </a:p>
        </p:txBody>
      </p:sp>
      <p:sp>
        <p:nvSpPr>
          <p:cNvPr id="23" name="Text 21"/>
          <p:cNvSpPr/>
          <p:nvPr/>
        </p:nvSpPr>
        <p:spPr>
          <a:xfrm>
            <a:off x="8823960" y="2423160"/>
            <a:ext cx="2633472" cy="329184"/>
          </a:xfrm>
          <a:prstGeom prst="rect">
            <a:avLst/>
          </a:prstGeom>
          <a:noFill/>
          <a:ln/>
        </p:spPr>
        <p:txBody>
          <a:bodyPr wrap="square" lIns="0" tIns="0" rIns="0" bIns="0" rtlCol="0" anchor="ctr"/>
          <a:lstStyle/>
          <a:p>
            <a:pPr marL="0" indent="0">
              <a:buNone/>
            </a:pPr>
            <a:r>
              <a:rPr lang="en-US" sz="1900" b="1" dirty="0">
                <a:solidFill>
                  <a:srgbClr val="17233C"/>
                </a:solidFill>
                <a:latin typeface="Segoe UI" pitchFamily="34" charset="0"/>
                <a:ea typeface="Segoe UI" pitchFamily="34" charset="-122"/>
                <a:cs typeface="Segoe UI" pitchFamily="34" charset="-120"/>
              </a:rPr>
              <a:t>Grain + relationships</a:t>
            </a:r>
            <a:endParaRPr lang="en-US" sz="1900" dirty="0"/>
          </a:p>
        </p:txBody>
      </p:sp>
      <p:sp>
        <p:nvSpPr>
          <p:cNvPr id="24" name="Text 22"/>
          <p:cNvSpPr/>
          <p:nvPr/>
        </p:nvSpPr>
        <p:spPr>
          <a:xfrm>
            <a:off x="8302752" y="2926080"/>
            <a:ext cx="3136392" cy="429768"/>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Separate policy snapshots,</a:t>
            </a:r>
            <a:endParaRPr lang="en-US" sz="1500" dirty="0"/>
          </a:p>
          <a:p>
            <a:pPr marL="0" indent="0">
              <a:buNone/>
            </a:pPr>
            <a:r>
              <a:rPr lang="en-US" sz="1500" dirty="0">
                <a:solidFill>
                  <a:srgbClr val="56657B"/>
                </a:solidFill>
                <a:latin typeface="Segoe UI" pitchFamily="34" charset="0"/>
                <a:ea typeface="Segoe UI" pitchFamily="34" charset="-122"/>
                <a:cs typeface="Segoe UI" pitchFamily="34" charset="-120"/>
              </a:rPr>
              <a:t>claims and payment events.</a:t>
            </a:r>
            <a:endParaRPr lang="en-US" sz="1500" dirty="0"/>
          </a:p>
        </p:txBody>
      </p:sp>
      <p:sp>
        <p:nvSpPr>
          <p:cNvPr id="25" name="Shape 23"/>
          <p:cNvSpPr/>
          <p:nvPr/>
        </p:nvSpPr>
        <p:spPr>
          <a:xfrm>
            <a:off x="548640" y="3749040"/>
            <a:ext cx="3502152" cy="1261872"/>
          </a:xfrm>
          <a:prstGeom prst="roundRect">
            <a:avLst>
              <a:gd name="adj" fmla="val 11594"/>
            </a:avLst>
          </a:prstGeom>
          <a:solidFill>
            <a:srgbClr val="EDF3FF"/>
          </a:solidFill>
          <a:ln w="8890">
            <a:solidFill>
              <a:srgbClr val="EDF3FF"/>
            </a:solidFill>
            <a:prstDash val="solid"/>
          </a:ln>
        </p:spPr>
        <p:txBody>
          <a:bodyPr/>
          <a:lstStyle/>
          <a:p>
            <a:endParaRPr lang="en-US"/>
          </a:p>
        </p:txBody>
      </p:sp>
      <p:sp>
        <p:nvSpPr>
          <p:cNvPr id="26" name="Shape 24"/>
          <p:cNvSpPr/>
          <p:nvPr/>
        </p:nvSpPr>
        <p:spPr>
          <a:xfrm>
            <a:off x="731520" y="3913632"/>
            <a:ext cx="365760" cy="365760"/>
          </a:xfrm>
          <a:prstGeom prst="ellipse">
            <a:avLst/>
          </a:prstGeom>
          <a:solidFill>
            <a:srgbClr val="2563EB"/>
          </a:solidFill>
          <a:ln w="12700">
            <a:solidFill>
              <a:srgbClr val="2563EB"/>
            </a:solidFill>
            <a:prstDash val="solid"/>
          </a:ln>
        </p:spPr>
        <p:txBody>
          <a:bodyPr/>
          <a:lstStyle/>
          <a:p>
            <a:endParaRPr lang="en-US"/>
          </a:p>
        </p:txBody>
      </p:sp>
      <p:sp>
        <p:nvSpPr>
          <p:cNvPr id="27" name="Text 25"/>
          <p:cNvSpPr/>
          <p:nvPr/>
        </p:nvSpPr>
        <p:spPr>
          <a:xfrm>
            <a:off x="731520" y="39136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04</a:t>
            </a:r>
            <a:endParaRPr lang="en-US" sz="1300" dirty="0"/>
          </a:p>
        </p:txBody>
      </p:sp>
      <p:sp>
        <p:nvSpPr>
          <p:cNvPr id="28" name="Text 26"/>
          <p:cNvSpPr/>
          <p:nvPr/>
        </p:nvSpPr>
        <p:spPr>
          <a:xfrm>
            <a:off x="1252728" y="3904488"/>
            <a:ext cx="2633472" cy="329184"/>
          </a:xfrm>
          <a:prstGeom prst="rect">
            <a:avLst/>
          </a:prstGeom>
          <a:noFill/>
          <a:ln/>
        </p:spPr>
        <p:txBody>
          <a:bodyPr wrap="square" lIns="0" tIns="0" rIns="0" bIns="0" rtlCol="0" anchor="ctr"/>
          <a:lstStyle/>
          <a:p>
            <a:pPr marL="0" indent="0">
              <a:buNone/>
            </a:pPr>
            <a:r>
              <a:rPr lang="en-US" sz="1900" b="1" dirty="0">
                <a:solidFill>
                  <a:srgbClr val="17233C"/>
                </a:solidFill>
                <a:latin typeface="Segoe UI" pitchFamily="34" charset="0"/>
                <a:ea typeface="Segoe UI" pitchFamily="34" charset="-122"/>
                <a:cs typeface="Segoe UI" pitchFamily="34" charset="-120"/>
              </a:rPr>
              <a:t>Date semantics</a:t>
            </a:r>
            <a:endParaRPr lang="en-US" sz="1900" dirty="0"/>
          </a:p>
        </p:txBody>
      </p:sp>
      <p:sp>
        <p:nvSpPr>
          <p:cNvPr id="29" name="Text 27"/>
          <p:cNvSpPr/>
          <p:nvPr/>
        </p:nvSpPr>
        <p:spPr>
          <a:xfrm>
            <a:off x="731520" y="4407408"/>
            <a:ext cx="3136392" cy="429768"/>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Distinguish as-of, payment,</a:t>
            </a:r>
            <a:endParaRPr lang="en-US" sz="1500" dirty="0"/>
          </a:p>
          <a:p>
            <a:pPr marL="0" indent="0">
              <a:buNone/>
            </a:pPr>
            <a:r>
              <a:rPr lang="en-US" sz="1500" dirty="0">
                <a:solidFill>
                  <a:srgbClr val="56657B"/>
                </a:solidFill>
                <a:latin typeface="Segoe UI" pitchFamily="34" charset="0"/>
                <a:ea typeface="Segoe UI" pitchFamily="34" charset="-122"/>
                <a:cs typeface="Segoe UI" pitchFamily="34" charset="-120"/>
              </a:rPr>
              <a:t>occurrence and closure dates.</a:t>
            </a:r>
            <a:endParaRPr lang="en-US" sz="1500" dirty="0"/>
          </a:p>
        </p:txBody>
      </p:sp>
      <p:sp>
        <p:nvSpPr>
          <p:cNvPr id="30" name="Shape 28"/>
          <p:cNvSpPr/>
          <p:nvPr/>
        </p:nvSpPr>
        <p:spPr>
          <a:xfrm>
            <a:off x="4334256" y="3749040"/>
            <a:ext cx="3502152" cy="1261872"/>
          </a:xfrm>
          <a:prstGeom prst="roundRect">
            <a:avLst>
              <a:gd name="adj" fmla="val 11594"/>
            </a:avLst>
          </a:prstGeom>
          <a:solidFill>
            <a:srgbClr val="F3EFFE"/>
          </a:solidFill>
          <a:ln w="8890">
            <a:solidFill>
              <a:srgbClr val="F3EFFE"/>
            </a:solidFill>
            <a:prstDash val="solid"/>
          </a:ln>
        </p:spPr>
        <p:txBody>
          <a:bodyPr/>
          <a:lstStyle/>
          <a:p>
            <a:endParaRPr lang="en-US"/>
          </a:p>
        </p:txBody>
      </p:sp>
      <p:sp>
        <p:nvSpPr>
          <p:cNvPr id="31" name="Shape 29"/>
          <p:cNvSpPr/>
          <p:nvPr/>
        </p:nvSpPr>
        <p:spPr>
          <a:xfrm>
            <a:off x="4517136" y="3913632"/>
            <a:ext cx="365760" cy="365760"/>
          </a:xfrm>
          <a:prstGeom prst="ellipse">
            <a:avLst/>
          </a:prstGeom>
          <a:solidFill>
            <a:srgbClr val="7655D6"/>
          </a:solidFill>
          <a:ln w="12700">
            <a:solidFill>
              <a:srgbClr val="7655D6"/>
            </a:solidFill>
            <a:prstDash val="solid"/>
          </a:ln>
        </p:spPr>
        <p:txBody>
          <a:bodyPr/>
          <a:lstStyle/>
          <a:p>
            <a:endParaRPr lang="en-US"/>
          </a:p>
        </p:txBody>
      </p:sp>
      <p:sp>
        <p:nvSpPr>
          <p:cNvPr id="32" name="Text 30"/>
          <p:cNvSpPr/>
          <p:nvPr/>
        </p:nvSpPr>
        <p:spPr>
          <a:xfrm>
            <a:off x="4517136" y="39136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05</a:t>
            </a:r>
            <a:endParaRPr lang="en-US" sz="1300" dirty="0"/>
          </a:p>
        </p:txBody>
      </p:sp>
      <p:sp>
        <p:nvSpPr>
          <p:cNvPr id="33" name="Text 31"/>
          <p:cNvSpPr/>
          <p:nvPr/>
        </p:nvSpPr>
        <p:spPr>
          <a:xfrm>
            <a:off x="5038344" y="3904488"/>
            <a:ext cx="2633472" cy="329184"/>
          </a:xfrm>
          <a:prstGeom prst="rect">
            <a:avLst/>
          </a:prstGeom>
          <a:noFill/>
          <a:ln/>
        </p:spPr>
        <p:txBody>
          <a:bodyPr wrap="square" lIns="0" tIns="0" rIns="0" bIns="0" rtlCol="0" anchor="ctr"/>
          <a:lstStyle/>
          <a:p>
            <a:pPr marL="0" indent="0">
              <a:buNone/>
            </a:pPr>
            <a:r>
              <a:rPr lang="en-US" sz="1900" b="1" dirty="0">
                <a:solidFill>
                  <a:srgbClr val="17233C"/>
                </a:solidFill>
                <a:latin typeface="Segoe UI" pitchFamily="34" charset="0"/>
                <a:ea typeface="Segoe UI" pitchFamily="34" charset="-122"/>
                <a:cs typeface="Segoe UI" pitchFamily="34" charset="-120"/>
              </a:rPr>
              <a:t>AI context</a:t>
            </a:r>
            <a:endParaRPr lang="en-US" sz="1900" dirty="0"/>
          </a:p>
        </p:txBody>
      </p:sp>
      <p:sp>
        <p:nvSpPr>
          <p:cNvPr id="34" name="Text 32"/>
          <p:cNvSpPr/>
          <p:nvPr/>
        </p:nvSpPr>
        <p:spPr>
          <a:xfrm>
            <a:off x="4517136" y="4407408"/>
            <a:ext cx="3136392" cy="429768"/>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Curate relevant objects and</a:t>
            </a:r>
            <a:endParaRPr lang="en-US" sz="1500" dirty="0"/>
          </a:p>
          <a:p>
            <a:pPr marL="0" indent="0">
              <a:buNone/>
            </a:pPr>
            <a:r>
              <a:rPr lang="en-US" sz="1500" dirty="0">
                <a:solidFill>
                  <a:srgbClr val="56657B"/>
                </a:solidFill>
                <a:latin typeface="Segoe UI" pitchFamily="34" charset="0"/>
                <a:ea typeface="Segoe UI" pitchFamily="34" charset="-122"/>
                <a:cs typeface="Segoe UI" pitchFamily="34" charset="-120"/>
              </a:rPr>
              <a:t>state analytical defaults.</a:t>
            </a:r>
            <a:endParaRPr lang="en-US" sz="1500" dirty="0"/>
          </a:p>
        </p:txBody>
      </p:sp>
      <p:sp>
        <p:nvSpPr>
          <p:cNvPr id="35" name="Shape 33"/>
          <p:cNvSpPr/>
          <p:nvPr/>
        </p:nvSpPr>
        <p:spPr>
          <a:xfrm>
            <a:off x="8119872" y="3749040"/>
            <a:ext cx="3502152" cy="1261872"/>
          </a:xfrm>
          <a:prstGeom prst="roundRect">
            <a:avLst>
              <a:gd name="adj" fmla="val 11594"/>
            </a:avLst>
          </a:prstGeom>
          <a:solidFill>
            <a:srgbClr val="EDF8F5"/>
          </a:solidFill>
          <a:ln w="8890">
            <a:solidFill>
              <a:srgbClr val="EDF8F5"/>
            </a:solidFill>
            <a:prstDash val="solid"/>
          </a:ln>
        </p:spPr>
        <p:txBody>
          <a:bodyPr/>
          <a:lstStyle/>
          <a:p>
            <a:endParaRPr lang="en-US"/>
          </a:p>
        </p:txBody>
      </p:sp>
      <p:sp>
        <p:nvSpPr>
          <p:cNvPr id="36" name="Shape 34"/>
          <p:cNvSpPr/>
          <p:nvPr/>
        </p:nvSpPr>
        <p:spPr>
          <a:xfrm>
            <a:off x="8302752" y="3913632"/>
            <a:ext cx="365760" cy="365760"/>
          </a:xfrm>
          <a:prstGeom prst="ellipse">
            <a:avLst/>
          </a:prstGeom>
          <a:solidFill>
            <a:srgbClr val="138477"/>
          </a:solidFill>
          <a:ln w="12700">
            <a:solidFill>
              <a:srgbClr val="138477"/>
            </a:solidFill>
            <a:prstDash val="solid"/>
          </a:ln>
        </p:spPr>
        <p:txBody>
          <a:bodyPr/>
          <a:lstStyle/>
          <a:p>
            <a:endParaRPr lang="en-US"/>
          </a:p>
        </p:txBody>
      </p:sp>
      <p:sp>
        <p:nvSpPr>
          <p:cNvPr id="37" name="Text 35"/>
          <p:cNvSpPr/>
          <p:nvPr/>
        </p:nvSpPr>
        <p:spPr>
          <a:xfrm>
            <a:off x="8302752" y="39136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06</a:t>
            </a:r>
            <a:endParaRPr lang="en-US" sz="1300" dirty="0"/>
          </a:p>
        </p:txBody>
      </p:sp>
      <p:sp>
        <p:nvSpPr>
          <p:cNvPr id="38" name="Text 36"/>
          <p:cNvSpPr/>
          <p:nvPr/>
        </p:nvSpPr>
        <p:spPr>
          <a:xfrm>
            <a:off x="8823960" y="3904488"/>
            <a:ext cx="2633472" cy="329184"/>
          </a:xfrm>
          <a:prstGeom prst="rect">
            <a:avLst/>
          </a:prstGeom>
          <a:noFill/>
          <a:ln/>
        </p:spPr>
        <p:txBody>
          <a:bodyPr wrap="square" lIns="0" tIns="0" rIns="0" bIns="0" rtlCol="0" anchor="ctr"/>
          <a:lstStyle/>
          <a:p>
            <a:pPr marL="0" indent="0">
              <a:buNone/>
            </a:pPr>
            <a:r>
              <a:rPr lang="en-US" sz="1900" b="1" dirty="0">
                <a:solidFill>
                  <a:srgbClr val="17233C"/>
                </a:solidFill>
                <a:latin typeface="Segoe UI" pitchFamily="34" charset="0"/>
                <a:ea typeface="Segoe UI" pitchFamily="34" charset="-122"/>
                <a:cs typeface="Segoe UI" pitchFamily="34" charset="-120"/>
              </a:rPr>
              <a:t>Data + security</a:t>
            </a:r>
            <a:endParaRPr lang="en-US" sz="1900" dirty="0"/>
          </a:p>
        </p:txBody>
      </p:sp>
      <p:sp>
        <p:nvSpPr>
          <p:cNvPr id="39" name="Text 37"/>
          <p:cNvSpPr/>
          <p:nvPr/>
        </p:nvSpPr>
        <p:spPr>
          <a:xfrm>
            <a:off x="8302752" y="4407408"/>
            <a:ext cx="3136392" cy="429768"/>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Check freshness, quality and</a:t>
            </a:r>
            <a:endParaRPr lang="en-US" sz="1500" dirty="0"/>
          </a:p>
          <a:p>
            <a:pPr marL="0" indent="0">
              <a:buNone/>
            </a:pPr>
            <a:r>
              <a:rPr lang="en-US" sz="1500" dirty="0">
                <a:solidFill>
                  <a:srgbClr val="56657B"/>
                </a:solidFill>
                <a:latin typeface="Segoe UI" pitchFamily="34" charset="0"/>
                <a:ea typeface="Segoe UI" pitchFamily="34" charset="-122"/>
                <a:cs typeface="Segoe UI" pitchFamily="34" charset="-120"/>
              </a:rPr>
              <a:t>results for the test user role.</a:t>
            </a:r>
            <a:endParaRPr lang="en-US" sz="1500" dirty="0"/>
          </a:p>
        </p:txBody>
      </p:sp>
      <p:sp>
        <p:nvSpPr>
          <p:cNvPr id="40" name="Shape 38"/>
          <p:cNvSpPr/>
          <p:nvPr/>
        </p:nvSpPr>
        <p:spPr>
          <a:xfrm>
            <a:off x="548640" y="5577840"/>
            <a:ext cx="11064240" cy="484632"/>
          </a:xfrm>
          <a:prstGeom prst="roundRect">
            <a:avLst>
              <a:gd name="adj" fmla="val 30189"/>
            </a:avLst>
          </a:prstGeom>
          <a:solidFill>
            <a:srgbClr val="EDF3FF"/>
          </a:solidFill>
          <a:ln w="8890">
            <a:solidFill>
              <a:srgbClr val="EDF3FF"/>
            </a:solidFill>
            <a:prstDash val="solid"/>
          </a:ln>
        </p:spPr>
        <p:txBody>
          <a:bodyPr/>
          <a:lstStyle/>
          <a:p>
            <a:endParaRPr lang="en-US"/>
          </a:p>
        </p:txBody>
      </p:sp>
      <p:sp>
        <p:nvSpPr>
          <p:cNvPr id="41" name="Text 39"/>
          <p:cNvSpPr/>
          <p:nvPr/>
        </p:nvSpPr>
        <p:spPr>
          <a:xfrm>
            <a:off x="758952" y="5650992"/>
            <a:ext cx="10643616" cy="329184"/>
          </a:xfrm>
          <a:prstGeom prst="rect">
            <a:avLst/>
          </a:prstGeom>
          <a:noFill/>
          <a:ln/>
        </p:spPr>
        <p:txBody>
          <a:bodyPr wrap="square" lIns="0" tIns="0" rIns="0" bIns="0" rtlCol="0" anchor="ctr"/>
          <a:lstStyle/>
          <a:p>
            <a:pPr marL="0" indent="0">
              <a:buNone/>
            </a:pPr>
            <a:r>
              <a:rPr lang="en-US" sz="1600" b="1" dirty="0">
                <a:solidFill>
                  <a:srgbClr val="2563EB"/>
                </a:solidFill>
                <a:latin typeface="Segoe UI" pitchFamily="34" charset="0"/>
                <a:ea typeface="Segoe UI" pitchFamily="34" charset="-122"/>
                <a:cs typeface="Segoe UI" pitchFamily="34" charset="-120"/>
              </a:rPr>
              <a:t>Prep data for AI: AI data schema + AI instructions + verified answers where supported.</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3017520" cy="292608"/>
          </a:xfrm>
          <a:prstGeom prst="roundRect">
            <a:avLst>
              <a:gd name="adj" fmla="val 50000"/>
            </a:avLst>
          </a:prstGeom>
          <a:solidFill>
            <a:srgbClr val="F3EFFE"/>
          </a:solidFill>
          <a:ln w="8890">
            <a:solidFill>
              <a:srgbClr val="F3EFFE"/>
            </a:solidFill>
            <a:prstDash val="solid"/>
          </a:ln>
        </p:spPr>
        <p:txBody>
          <a:bodyPr/>
          <a:lstStyle/>
          <a:p>
            <a:endParaRPr lang="en-US"/>
          </a:p>
        </p:txBody>
      </p:sp>
      <p:sp>
        <p:nvSpPr>
          <p:cNvPr id="3" name="Text 1"/>
          <p:cNvSpPr/>
          <p:nvPr/>
        </p:nvSpPr>
        <p:spPr>
          <a:xfrm>
            <a:off x="658368" y="320040"/>
            <a:ext cx="2798064" cy="292608"/>
          </a:xfrm>
          <a:prstGeom prst="rect">
            <a:avLst/>
          </a:prstGeom>
          <a:noFill/>
          <a:ln/>
        </p:spPr>
        <p:txBody>
          <a:bodyPr wrap="square" lIns="0" tIns="0" rIns="0" bIns="0" rtlCol="0" anchor="ctr"/>
          <a:lstStyle/>
          <a:p>
            <a:pPr marL="0" indent="0">
              <a:buNone/>
            </a:pPr>
            <a:r>
              <a:rPr lang="en-US" sz="1000" b="1" dirty="0">
                <a:solidFill>
                  <a:srgbClr val="7655D6"/>
                </a:solidFill>
                <a:latin typeface="Segoe UI" pitchFamily="34" charset="0"/>
                <a:ea typeface="Segoe UI" pitchFamily="34" charset="-122"/>
                <a:cs typeface="Segoe UI" pitchFamily="34" charset="-120"/>
              </a:rPr>
              <a:t>02 | ASSESS</a:t>
            </a:r>
            <a:endParaRPr lang="en-US" sz="1000" dirty="0"/>
          </a:p>
        </p:txBody>
      </p:sp>
      <p:sp>
        <p:nvSpPr>
          <p:cNvPr id="4" name="Text 2"/>
          <p:cNvSpPr/>
          <p:nvPr/>
        </p:nvSpPr>
        <p:spPr>
          <a:xfrm>
            <a:off x="9582912" y="320040"/>
            <a:ext cx="2057400" cy="292608"/>
          </a:xfrm>
          <a:prstGeom prst="rect">
            <a:avLst/>
          </a:prstGeom>
          <a:noFill/>
          <a:ln/>
        </p:spPr>
        <p:txBody>
          <a:bodyPr wrap="square" lIns="0" tIns="0" rIns="0" bIns="0" rtlCol="0" anchor="ctr"/>
          <a:lstStyle/>
          <a:p>
            <a:pPr marL="0" indent="0" algn="r">
              <a:buNone/>
            </a:pPr>
            <a:r>
              <a:rPr lang="en-US" sz="1100" dirty="0">
                <a:solidFill>
                  <a:srgbClr val="56657B"/>
                </a:solidFill>
                <a:latin typeface="Segoe UI" pitchFamily="34" charset="0"/>
                <a:ea typeface="Segoe UI" pitchFamily="34" charset="-122"/>
                <a:cs typeface="Segoe UI" pitchFamily="34" charset="-120"/>
              </a:rPr>
              <a:t>10-25 minutes</a:t>
            </a:r>
            <a:endParaRPr lang="en-US" sz="1100" dirty="0"/>
          </a:p>
        </p:txBody>
      </p:sp>
      <p:sp>
        <p:nvSpPr>
          <p:cNvPr id="5" name="Text 3"/>
          <p:cNvSpPr/>
          <p:nvPr/>
        </p:nvSpPr>
        <p:spPr>
          <a:xfrm>
            <a:off x="548640" y="877824"/>
            <a:ext cx="11064240" cy="621792"/>
          </a:xfrm>
          <a:prstGeom prst="rect">
            <a:avLst/>
          </a:prstGeom>
          <a:noFill/>
          <a:ln/>
        </p:spPr>
        <p:txBody>
          <a:bodyPr wrap="square" lIns="0" tIns="0" rIns="0" bIns="0" rtlCol="0" anchor="ctr"/>
          <a:lstStyle/>
          <a:p>
            <a:pPr marL="0" indent="0">
              <a:buNone/>
            </a:pPr>
            <a:r>
              <a:rPr lang="en-US" sz="3200" b="1" dirty="0">
                <a:solidFill>
                  <a:srgbClr val="17233C"/>
                </a:solidFill>
                <a:latin typeface="Segoe UI" pitchFamily="34" charset="0"/>
                <a:ea typeface="Segoe UI" pitchFamily="34" charset="-122"/>
                <a:cs typeface="Segoe UI" pitchFamily="34" charset="-120"/>
              </a:rPr>
              <a:t>Make readiness visible with an evidence-based scorecard</a:t>
            </a:r>
            <a:endParaRPr lang="en-US" sz="3200" dirty="0"/>
          </a:p>
        </p:txBody>
      </p:sp>
      <p:sp>
        <p:nvSpPr>
          <p:cNvPr id="6" name="Text 4"/>
          <p:cNvSpPr/>
          <p:nvPr/>
        </p:nvSpPr>
        <p:spPr>
          <a:xfrm>
            <a:off x="566928" y="1581912"/>
            <a:ext cx="10927080" cy="502920"/>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An agent drafts the assessment. The model owner validates the findings.</a:t>
            </a:r>
            <a:endParaRPr lang="en-US" sz="1500" dirty="0"/>
          </a:p>
        </p:txBody>
      </p:sp>
      <p:sp>
        <p:nvSpPr>
          <p:cNvPr id="7" name="Text 5"/>
          <p:cNvSpPr/>
          <p:nvPr/>
        </p:nvSpPr>
        <p:spPr>
          <a:xfrm>
            <a:off x="548640" y="6483096"/>
            <a:ext cx="4572000" cy="182880"/>
          </a:xfrm>
          <a:prstGeom prst="rect">
            <a:avLst/>
          </a:prstGeom>
          <a:noFill/>
          <a:ln/>
        </p:spPr>
        <p:txBody>
          <a:bodyPr wrap="square" lIns="0" tIns="0" rIns="0" bIns="0" rtlCol="0" anchor="ctr"/>
          <a:lstStyle/>
          <a:p>
            <a:pPr marL="0" indent="0">
              <a:buNone/>
            </a:pPr>
            <a:r>
              <a:rPr lang="en-US" sz="900" b="1" dirty="0">
                <a:solidFill>
                  <a:srgbClr val="56657B"/>
                </a:solidFill>
                <a:latin typeface="Segoe UI" pitchFamily="34" charset="0"/>
                <a:ea typeface="Segoe UI" pitchFamily="34" charset="-122"/>
                <a:cs typeface="Segoe UI" pitchFamily="34" charset="-120"/>
              </a:rPr>
              <a:t>TALK TO YOUR INSURANCE DATA</a:t>
            </a:r>
            <a:endParaRPr lang="en-US" sz="900" dirty="0"/>
          </a:p>
        </p:txBody>
      </p:sp>
      <p:sp>
        <p:nvSpPr>
          <p:cNvPr id="8" name="Text 6">
            <a:hlinkClick r:id="rId3"/>
          </p:cNvPr>
          <p:cNvSpPr/>
          <p:nvPr/>
        </p:nvSpPr>
        <p:spPr>
          <a:xfrm>
            <a:off x="8138160" y="6464808"/>
            <a:ext cx="2651760" cy="201168"/>
          </a:xfrm>
          <a:prstGeom prst="rect">
            <a:avLst/>
          </a:prstGeom>
          <a:noFill/>
          <a:ln/>
        </p:spPr>
        <p:txBody>
          <a:bodyPr wrap="square" lIns="0" tIns="0" rIns="0" bIns="0" rtlCol="0" anchor="ctr"/>
          <a:lstStyle/>
          <a:p>
            <a:pPr marL="0" indent="0" algn="r">
              <a:buNone/>
            </a:pPr>
            <a:r>
              <a:rPr lang="en-US" sz="900" u="sng" dirty="0">
                <a:solidFill>
                  <a:srgbClr val="56657B"/>
                </a:solidFill>
                <a:latin typeface="Segoe UI" pitchFamily="34" charset="0"/>
                <a:ea typeface="Segoe UI" pitchFamily="34" charset="-122"/>
                <a:cs typeface="Segoe UI" pitchFamily="34" charset="-120"/>
                <a:hlinkClick r:id="rId3">
                  <a:extLst>
                    <a:ext uri="{A12FA001-AC4F-418D-AE19-62706E023703}">
                      <ahyp:hlinkClr xmlns:ahyp="http://schemas.microsoft.com/office/drawing/2018/hyperlinkcolor" val="tx"/>
                    </a:ext>
                  </a:extLst>
                </a:hlinkClick>
              </a:rPr>
              <a:t>Microsoft Learn | source</a:t>
            </a:r>
            <a:endParaRPr lang="en-US" sz="900" dirty="0"/>
          </a:p>
        </p:txBody>
      </p:sp>
      <p:sp>
        <p:nvSpPr>
          <p:cNvPr id="9" name="Text 7"/>
          <p:cNvSpPr/>
          <p:nvPr/>
        </p:nvSpPr>
        <p:spPr>
          <a:xfrm>
            <a:off x="11082528" y="6437376"/>
            <a:ext cx="548640" cy="228600"/>
          </a:xfrm>
          <a:prstGeom prst="rect">
            <a:avLst/>
          </a:prstGeom>
          <a:noFill/>
          <a:ln/>
        </p:spPr>
        <p:txBody>
          <a:bodyPr wrap="square" lIns="0" tIns="0" rIns="0" bIns="0" rtlCol="0" anchor="ctr"/>
          <a:lstStyle/>
          <a:p>
            <a:pPr marL="0" indent="0" algn="r">
              <a:buNone/>
            </a:pPr>
            <a:r>
              <a:rPr lang="en-US" sz="1000" b="1" dirty="0">
                <a:solidFill>
                  <a:srgbClr val="7655D6"/>
                </a:solidFill>
                <a:latin typeface="Segoe UI" pitchFamily="34" charset="0"/>
                <a:ea typeface="Segoe UI" pitchFamily="34" charset="-122"/>
                <a:cs typeface="Segoe UI" pitchFamily="34" charset="-120"/>
              </a:rPr>
              <a:t>07</a:t>
            </a:r>
            <a:endParaRPr lang="en-US" sz="1000" dirty="0"/>
          </a:p>
        </p:txBody>
      </p:sp>
      <p:sp>
        <p:nvSpPr>
          <p:cNvPr id="10" name="Shape 8"/>
          <p:cNvSpPr/>
          <p:nvPr/>
        </p:nvSpPr>
        <p:spPr>
          <a:xfrm>
            <a:off x="548640" y="2148840"/>
            <a:ext cx="4937760" cy="292608"/>
          </a:xfrm>
          <a:prstGeom prst="roundRect">
            <a:avLst>
              <a:gd name="adj" fmla="val 50000"/>
            </a:avLst>
          </a:prstGeom>
          <a:solidFill>
            <a:srgbClr val="FFF5DF"/>
          </a:solidFill>
          <a:ln w="8890">
            <a:solidFill>
              <a:srgbClr val="FFF5DF"/>
            </a:solidFill>
            <a:prstDash val="solid"/>
          </a:ln>
        </p:spPr>
        <p:txBody>
          <a:bodyPr/>
          <a:lstStyle/>
          <a:p>
            <a:endParaRPr lang="en-US"/>
          </a:p>
        </p:txBody>
      </p:sp>
      <p:sp>
        <p:nvSpPr>
          <p:cNvPr id="11" name="Text 9"/>
          <p:cNvSpPr/>
          <p:nvPr/>
        </p:nvSpPr>
        <p:spPr>
          <a:xfrm>
            <a:off x="658368" y="2148840"/>
            <a:ext cx="4718304" cy="292608"/>
          </a:xfrm>
          <a:prstGeom prst="rect">
            <a:avLst/>
          </a:prstGeom>
          <a:noFill/>
          <a:ln/>
        </p:spPr>
        <p:txBody>
          <a:bodyPr wrap="square" lIns="0" tIns="0" rIns="0" bIns="0" rtlCol="0" anchor="ctr"/>
          <a:lstStyle/>
          <a:p>
            <a:pPr marL="0" indent="0">
              <a:buNone/>
            </a:pPr>
            <a:r>
              <a:rPr lang="en-US" sz="1000" b="1" dirty="0">
                <a:solidFill>
                  <a:srgbClr val="9A6000"/>
                </a:solidFill>
                <a:latin typeface="Segoe UI" pitchFamily="34" charset="0"/>
                <a:ea typeface="Segoe UI" pitchFamily="34" charset="-122"/>
                <a:cs typeface="Segoe UI" pitchFamily="34" charset="-120"/>
              </a:rPr>
              <a:t>ILLUSTRATIVE - NOT A MICROSOFT CERTIFICATION</a:t>
            </a:r>
            <a:endParaRPr lang="en-US" sz="1000" dirty="0"/>
          </a:p>
        </p:txBody>
      </p:sp>
      <p:sp>
        <p:nvSpPr>
          <p:cNvPr id="12" name="Shape 10"/>
          <p:cNvSpPr/>
          <p:nvPr/>
        </p:nvSpPr>
        <p:spPr>
          <a:xfrm>
            <a:off x="548640" y="2624328"/>
            <a:ext cx="2624328" cy="402336"/>
          </a:xfrm>
          <a:prstGeom prst="rect">
            <a:avLst/>
          </a:prstGeom>
          <a:solidFill>
            <a:srgbClr val="17233C"/>
          </a:solidFill>
          <a:ln w="8890">
            <a:solidFill>
              <a:srgbClr val="17233C"/>
            </a:solidFill>
            <a:prstDash val="solid"/>
          </a:ln>
        </p:spPr>
        <p:txBody>
          <a:bodyPr/>
          <a:lstStyle/>
          <a:p>
            <a:endParaRPr lang="en-US"/>
          </a:p>
        </p:txBody>
      </p:sp>
      <p:sp>
        <p:nvSpPr>
          <p:cNvPr id="13" name="Text 11"/>
          <p:cNvSpPr/>
          <p:nvPr/>
        </p:nvSpPr>
        <p:spPr>
          <a:xfrm>
            <a:off x="667512" y="2624328"/>
            <a:ext cx="2386584" cy="402336"/>
          </a:xfrm>
          <a:prstGeom prst="rect">
            <a:avLst/>
          </a:prstGeom>
          <a:noFill/>
          <a:ln/>
        </p:spPr>
        <p:txBody>
          <a:bodyPr wrap="square" lIns="0" tIns="0" rIns="0" bIns="0"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Dimension</a:t>
            </a:r>
            <a:endParaRPr lang="en-US" sz="1200" dirty="0"/>
          </a:p>
        </p:txBody>
      </p:sp>
      <p:sp>
        <p:nvSpPr>
          <p:cNvPr id="14" name="Shape 12"/>
          <p:cNvSpPr/>
          <p:nvPr/>
        </p:nvSpPr>
        <p:spPr>
          <a:xfrm>
            <a:off x="3172968" y="2624328"/>
            <a:ext cx="758952" cy="402336"/>
          </a:xfrm>
          <a:prstGeom prst="rect">
            <a:avLst/>
          </a:prstGeom>
          <a:solidFill>
            <a:srgbClr val="17233C"/>
          </a:solidFill>
          <a:ln w="8890">
            <a:solidFill>
              <a:srgbClr val="17233C"/>
            </a:solidFill>
            <a:prstDash val="solid"/>
          </a:ln>
        </p:spPr>
        <p:txBody>
          <a:bodyPr/>
          <a:lstStyle/>
          <a:p>
            <a:endParaRPr lang="en-US"/>
          </a:p>
        </p:txBody>
      </p:sp>
      <p:sp>
        <p:nvSpPr>
          <p:cNvPr id="15" name="Text 13"/>
          <p:cNvSpPr/>
          <p:nvPr/>
        </p:nvSpPr>
        <p:spPr>
          <a:xfrm>
            <a:off x="3291840" y="2624328"/>
            <a:ext cx="521208" cy="402336"/>
          </a:xfrm>
          <a:prstGeom prst="rect">
            <a:avLst/>
          </a:prstGeom>
          <a:noFill/>
          <a:ln/>
        </p:spPr>
        <p:txBody>
          <a:bodyPr wrap="square" lIns="0" tIns="0" rIns="0" bIns="0"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Score</a:t>
            </a:r>
            <a:endParaRPr lang="en-US" sz="1200" dirty="0"/>
          </a:p>
        </p:txBody>
      </p:sp>
      <p:sp>
        <p:nvSpPr>
          <p:cNvPr id="16" name="Shape 14"/>
          <p:cNvSpPr/>
          <p:nvPr/>
        </p:nvSpPr>
        <p:spPr>
          <a:xfrm>
            <a:off x="3931920" y="2624328"/>
            <a:ext cx="3621024" cy="402336"/>
          </a:xfrm>
          <a:prstGeom prst="rect">
            <a:avLst/>
          </a:prstGeom>
          <a:solidFill>
            <a:srgbClr val="17233C"/>
          </a:solidFill>
          <a:ln w="8890">
            <a:solidFill>
              <a:srgbClr val="17233C"/>
            </a:solidFill>
            <a:prstDash val="solid"/>
          </a:ln>
        </p:spPr>
        <p:txBody>
          <a:bodyPr/>
          <a:lstStyle/>
          <a:p>
            <a:endParaRPr lang="en-US"/>
          </a:p>
        </p:txBody>
      </p:sp>
      <p:sp>
        <p:nvSpPr>
          <p:cNvPr id="17" name="Text 15"/>
          <p:cNvSpPr/>
          <p:nvPr/>
        </p:nvSpPr>
        <p:spPr>
          <a:xfrm>
            <a:off x="4050792" y="2624328"/>
            <a:ext cx="3383280" cy="402336"/>
          </a:xfrm>
          <a:prstGeom prst="rect">
            <a:avLst/>
          </a:prstGeom>
          <a:noFill/>
          <a:ln/>
        </p:spPr>
        <p:txBody>
          <a:bodyPr wrap="square" lIns="0" tIns="0" rIns="0" bIns="0"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Evidence to inspect</a:t>
            </a:r>
            <a:endParaRPr lang="en-US" sz="1200" dirty="0"/>
          </a:p>
        </p:txBody>
      </p:sp>
      <p:sp>
        <p:nvSpPr>
          <p:cNvPr id="18" name="Shape 16"/>
          <p:cNvSpPr/>
          <p:nvPr/>
        </p:nvSpPr>
        <p:spPr>
          <a:xfrm>
            <a:off x="7552944" y="2624328"/>
            <a:ext cx="4059936" cy="402336"/>
          </a:xfrm>
          <a:prstGeom prst="rect">
            <a:avLst/>
          </a:prstGeom>
          <a:solidFill>
            <a:srgbClr val="17233C"/>
          </a:solidFill>
          <a:ln w="8890">
            <a:solidFill>
              <a:srgbClr val="17233C"/>
            </a:solidFill>
            <a:prstDash val="solid"/>
          </a:ln>
        </p:spPr>
        <p:txBody>
          <a:bodyPr/>
          <a:lstStyle/>
          <a:p>
            <a:endParaRPr lang="en-US"/>
          </a:p>
        </p:txBody>
      </p:sp>
      <p:sp>
        <p:nvSpPr>
          <p:cNvPr id="19" name="Text 17"/>
          <p:cNvSpPr/>
          <p:nvPr/>
        </p:nvSpPr>
        <p:spPr>
          <a:xfrm>
            <a:off x="7671816" y="2624328"/>
            <a:ext cx="3822192" cy="402336"/>
          </a:xfrm>
          <a:prstGeom prst="rect">
            <a:avLst/>
          </a:prstGeom>
          <a:noFill/>
          <a:ln/>
        </p:spPr>
        <p:txBody>
          <a:bodyPr wrap="square" lIns="0" tIns="0" rIns="0" bIns="0"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Recommended action</a:t>
            </a:r>
            <a:endParaRPr lang="en-US" sz="1200" dirty="0"/>
          </a:p>
        </p:txBody>
      </p:sp>
      <p:sp>
        <p:nvSpPr>
          <p:cNvPr id="20" name="Shape 18"/>
          <p:cNvSpPr/>
          <p:nvPr/>
        </p:nvSpPr>
        <p:spPr>
          <a:xfrm>
            <a:off x="548640" y="3026664"/>
            <a:ext cx="2624328" cy="393192"/>
          </a:xfrm>
          <a:prstGeom prst="rect">
            <a:avLst/>
          </a:prstGeom>
          <a:solidFill>
            <a:srgbClr val="F5F7FB"/>
          </a:solidFill>
          <a:ln w="8890">
            <a:solidFill>
              <a:srgbClr val="F5F7FB"/>
            </a:solidFill>
            <a:prstDash val="solid"/>
          </a:ln>
        </p:spPr>
        <p:txBody>
          <a:bodyPr/>
          <a:lstStyle/>
          <a:p>
            <a:endParaRPr lang="en-US"/>
          </a:p>
        </p:txBody>
      </p:sp>
      <p:sp>
        <p:nvSpPr>
          <p:cNvPr id="21" name="Text 19"/>
          <p:cNvSpPr/>
          <p:nvPr/>
        </p:nvSpPr>
        <p:spPr>
          <a:xfrm>
            <a:off x="667512" y="3054096"/>
            <a:ext cx="2386584" cy="338328"/>
          </a:xfrm>
          <a:prstGeom prst="rect">
            <a:avLst/>
          </a:prstGeom>
          <a:noFill/>
          <a:ln/>
        </p:spPr>
        <p:txBody>
          <a:bodyPr wrap="square" lIns="0" tIns="0" rIns="0" bIns="0" rtlCol="0" anchor="ctr"/>
          <a:lstStyle/>
          <a:p>
            <a:pPr marL="0" indent="0">
              <a:buNone/>
            </a:pPr>
            <a:r>
              <a:rPr lang="en-US" sz="1200" dirty="0">
                <a:solidFill>
                  <a:srgbClr val="17233C"/>
                </a:solidFill>
                <a:latin typeface="Segoe UI" pitchFamily="34" charset="0"/>
                <a:ea typeface="Segoe UI" pitchFamily="34" charset="-122"/>
                <a:cs typeface="Segoe UI" pitchFamily="34" charset="-120"/>
              </a:rPr>
              <a:t>Terminology</a:t>
            </a:r>
            <a:endParaRPr lang="en-US" sz="1200" dirty="0"/>
          </a:p>
        </p:txBody>
      </p:sp>
      <p:sp>
        <p:nvSpPr>
          <p:cNvPr id="22" name="Shape 20"/>
          <p:cNvSpPr/>
          <p:nvPr/>
        </p:nvSpPr>
        <p:spPr>
          <a:xfrm>
            <a:off x="3172968" y="3026664"/>
            <a:ext cx="758952" cy="393192"/>
          </a:xfrm>
          <a:prstGeom prst="rect">
            <a:avLst/>
          </a:prstGeom>
          <a:solidFill>
            <a:srgbClr val="F5F7FB"/>
          </a:solidFill>
          <a:ln w="8890">
            <a:solidFill>
              <a:srgbClr val="F5F7FB"/>
            </a:solidFill>
            <a:prstDash val="solid"/>
          </a:ln>
        </p:spPr>
        <p:txBody>
          <a:bodyPr/>
          <a:lstStyle/>
          <a:p>
            <a:endParaRPr lang="en-US"/>
          </a:p>
        </p:txBody>
      </p:sp>
      <p:sp>
        <p:nvSpPr>
          <p:cNvPr id="23" name="Text 21"/>
          <p:cNvSpPr/>
          <p:nvPr/>
        </p:nvSpPr>
        <p:spPr>
          <a:xfrm>
            <a:off x="3291840" y="3054096"/>
            <a:ext cx="521208" cy="338328"/>
          </a:xfrm>
          <a:prstGeom prst="rect">
            <a:avLst/>
          </a:prstGeom>
          <a:noFill/>
          <a:ln/>
        </p:spPr>
        <p:txBody>
          <a:bodyPr wrap="square" lIns="0" tIns="0" rIns="0" bIns="0" rtlCol="0" anchor="ctr"/>
          <a:lstStyle/>
          <a:p>
            <a:pPr marL="0" indent="0">
              <a:buNone/>
            </a:pPr>
            <a:r>
              <a:rPr lang="en-US" sz="1500" b="1" dirty="0">
                <a:solidFill>
                  <a:srgbClr val="7655D6"/>
                </a:solidFill>
                <a:latin typeface="Segoe UI" pitchFamily="34" charset="0"/>
                <a:ea typeface="Segoe UI" pitchFamily="34" charset="-122"/>
                <a:cs typeface="Segoe UI" pitchFamily="34" charset="-120"/>
              </a:rPr>
              <a:t>1</a:t>
            </a:r>
            <a:endParaRPr lang="en-US" sz="1500" dirty="0"/>
          </a:p>
        </p:txBody>
      </p:sp>
      <p:sp>
        <p:nvSpPr>
          <p:cNvPr id="24" name="Shape 22"/>
          <p:cNvSpPr/>
          <p:nvPr/>
        </p:nvSpPr>
        <p:spPr>
          <a:xfrm>
            <a:off x="3931920" y="3026664"/>
            <a:ext cx="3621024" cy="393192"/>
          </a:xfrm>
          <a:prstGeom prst="rect">
            <a:avLst/>
          </a:prstGeom>
          <a:solidFill>
            <a:srgbClr val="F5F7FB"/>
          </a:solidFill>
          <a:ln w="8890">
            <a:solidFill>
              <a:srgbClr val="F5F7FB"/>
            </a:solidFill>
            <a:prstDash val="solid"/>
          </a:ln>
        </p:spPr>
        <p:txBody>
          <a:bodyPr/>
          <a:lstStyle/>
          <a:p>
            <a:endParaRPr lang="en-US"/>
          </a:p>
        </p:txBody>
      </p:sp>
      <p:sp>
        <p:nvSpPr>
          <p:cNvPr id="25" name="Text 23"/>
          <p:cNvSpPr/>
          <p:nvPr/>
        </p:nvSpPr>
        <p:spPr>
          <a:xfrm>
            <a:off x="4050792" y="3054096"/>
            <a:ext cx="3383280" cy="338328"/>
          </a:xfrm>
          <a:prstGeom prst="rect">
            <a:avLst/>
          </a:prstGeom>
          <a:noFill/>
          <a:ln/>
        </p:spPr>
        <p:txBody>
          <a:bodyPr wrap="square" lIns="0" tIns="0" rIns="0" bIns="0" rtlCol="0" anchor="ctr"/>
          <a:lstStyle/>
          <a:p>
            <a:pPr marL="0" indent="0">
              <a:buNone/>
            </a:pPr>
            <a:r>
              <a:rPr lang="en-US" sz="1200" dirty="0">
                <a:solidFill>
                  <a:srgbClr val="17233C"/>
                </a:solidFill>
                <a:latin typeface="Segoe UI" pitchFamily="34" charset="0"/>
                <a:ea typeface="Segoe UI" pitchFamily="34" charset="-122"/>
                <a:cs typeface="Segoe UI" pitchFamily="34" charset="-120"/>
              </a:rPr>
              <a:t>"Active" and "in force" conflict</a:t>
            </a:r>
            <a:endParaRPr lang="en-US" sz="1200" dirty="0"/>
          </a:p>
        </p:txBody>
      </p:sp>
      <p:sp>
        <p:nvSpPr>
          <p:cNvPr id="26" name="Shape 24"/>
          <p:cNvSpPr/>
          <p:nvPr/>
        </p:nvSpPr>
        <p:spPr>
          <a:xfrm>
            <a:off x="7552944" y="3026664"/>
            <a:ext cx="4059936" cy="393192"/>
          </a:xfrm>
          <a:prstGeom prst="rect">
            <a:avLst/>
          </a:prstGeom>
          <a:solidFill>
            <a:srgbClr val="F5F7FB"/>
          </a:solidFill>
          <a:ln w="8890">
            <a:solidFill>
              <a:srgbClr val="F5F7FB"/>
            </a:solidFill>
            <a:prstDash val="solid"/>
          </a:ln>
        </p:spPr>
        <p:txBody>
          <a:bodyPr/>
          <a:lstStyle/>
          <a:p>
            <a:endParaRPr lang="en-US"/>
          </a:p>
        </p:txBody>
      </p:sp>
      <p:sp>
        <p:nvSpPr>
          <p:cNvPr id="27" name="Text 25"/>
          <p:cNvSpPr/>
          <p:nvPr/>
        </p:nvSpPr>
        <p:spPr>
          <a:xfrm>
            <a:off x="7671816" y="3054096"/>
            <a:ext cx="3822192" cy="338328"/>
          </a:xfrm>
          <a:prstGeom prst="rect">
            <a:avLst/>
          </a:prstGeom>
          <a:noFill/>
          <a:ln/>
        </p:spPr>
        <p:txBody>
          <a:bodyPr wrap="square" lIns="0" tIns="0" rIns="0" bIns="0" rtlCol="0" anchor="ctr"/>
          <a:lstStyle/>
          <a:p>
            <a:pPr marL="0" indent="0">
              <a:buNone/>
            </a:pPr>
            <a:r>
              <a:rPr lang="en-US" sz="1200" dirty="0">
                <a:solidFill>
                  <a:srgbClr val="17233C"/>
                </a:solidFill>
                <a:latin typeface="Segoe UI" pitchFamily="34" charset="0"/>
                <a:ea typeface="Segoe UI" pitchFamily="34" charset="-122"/>
                <a:cs typeface="Segoe UI" pitchFamily="34" charset="-120"/>
              </a:rPr>
              <a:t>Approve one definition + map terms</a:t>
            </a:r>
            <a:endParaRPr lang="en-US" sz="1200" dirty="0"/>
          </a:p>
        </p:txBody>
      </p:sp>
      <p:sp>
        <p:nvSpPr>
          <p:cNvPr id="28" name="Shape 26"/>
          <p:cNvSpPr/>
          <p:nvPr/>
        </p:nvSpPr>
        <p:spPr>
          <a:xfrm>
            <a:off x="548640" y="3419856"/>
            <a:ext cx="2624328" cy="393192"/>
          </a:xfrm>
          <a:prstGeom prst="rect">
            <a:avLst/>
          </a:prstGeom>
          <a:solidFill>
            <a:srgbClr val="FFFFFF"/>
          </a:solidFill>
          <a:ln w="8890">
            <a:solidFill>
              <a:srgbClr val="FFFFFF"/>
            </a:solidFill>
            <a:prstDash val="solid"/>
          </a:ln>
        </p:spPr>
        <p:txBody>
          <a:bodyPr/>
          <a:lstStyle/>
          <a:p>
            <a:endParaRPr lang="en-US"/>
          </a:p>
        </p:txBody>
      </p:sp>
      <p:sp>
        <p:nvSpPr>
          <p:cNvPr id="29" name="Text 27"/>
          <p:cNvSpPr/>
          <p:nvPr/>
        </p:nvSpPr>
        <p:spPr>
          <a:xfrm>
            <a:off x="667512" y="3447288"/>
            <a:ext cx="2386584" cy="338328"/>
          </a:xfrm>
          <a:prstGeom prst="rect">
            <a:avLst/>
          </a:prstGeom>
          <a:noFill/>
          <a:ln/>
        </p:spPr>
        <p:txBody>
          <a:bodyPr wrap="square" lIns="0" tIns="0" rIns="0" bIns="0" rtlCol="0" anchor="ctr"/>
          <a:lstStyle/>
          <a:p>
            <a:pPr marL="0" indent="0">
              <a:buNone/>
            </a:pPr>
            <a:r>
              <a:rPr lang="en-US" sz="1200" dirty="0">
                <a:solidFill>
                  <a:srgbClr val="17233C"/>
                </a:solidFill>
                <a:latin typeface="Segoe UI" pitchFamily="34" charset="0"/>
                <a:ea typeface="Segoe UI" pitchFamily="34" charset="-122"/>
                <a:cs typeface="Segoe UI" pitchFamily="34" charset="-120"/>
              </a:rPr>
              <a:t>Measures</a:t>
            </a:r>
            <a:endParaRPr lang="en-US" sz="1200" dirty="0"/>
          </a:p>
        </p:txBody>
      </p:sp>
      <p:sp>
        <p:nvSpPr>
          <p:cNvPr id="30" name="Shape 28"/>
          <p:cNvSpPr/>
          <p:nvPr/>
        </p:nvSpPr>
        <p:spPr>
          <a:xfrm>
            <a:off x="3172968" y="3419856"/>
            <a:ext cx="758952" cy="393192"/>
          </a:xfrm>
          <a:prstGeom prst="rect">
            <a:avLst/>
          </a:prstGeom>
          <a:solidFill>
            <a:srgbClr val="FFFFFF"/>
          </a:solidFill>
          <a:ln w="8890">
            <a:solidFill>
              <a:srgbClr val="FFFFFF"/>
            </a:solidFill>
            <a:prstDash val="solid"/>
          </a:ln>
        </p:spPr>
        <p:txBody>
          <a:bodyPr/>
          <a:lstStyle/>
          <a:p>
            <a:endParaRPr lang="en-US"/>
          </a:p>
        </p:txBody>
      </p:sp>
      <p:sp>
        <p:nvSpPr>
          <p:cNvPr id="31" name="Text 29"/>
          <p:cNvSpPr/>
          <p:nvPr/>
        </p:nvSpPr>
        <p:spPr>
          <a:xfrm>
            <a:off x="3291840" y="3447288"/>
            <a:ext cx="521208" cy="338328"/>
          </a:xfrm>
          <a:prstGeom prst="rect">
            <a:avLst/>
          </a:prstGeom>
          <a:noFill/>
          <a:ln/>
        </p:spPr>
        <p:txBody>
          <a:bodyPr wrap="square" lIns="0" tIns="0" rIns="0" bIns="0" rtlCol="0" anchor="ctr"/>
          <a:lstStyle/>
          <a:p>
            <a:pPr marL="0" indent="0">
              <a:buNone/>
            </a:pPr>
            <a:r>
              <a:rPr lang="en-US" sz="1500" b="1" dirty="0">
                <a:solidFill>
                  <a:srgbClr val="9A6000"/>
                </a:solidFill>
                <a:latin typeface="Segoe UI" pitchFamily="34" charset="0"/>
                <a:ea typeface="Segoe UI" pitchFamily="34" charset="-122"/>
                <a:cs typeface="Segoe UI" pitchFamily="34" charset="-120"/>
              </a:rPr>
              <a:t>0</a:t>
            </a:r>
            <a:endParaRPr lang="en-US" sz="1500" dirty="0"/>
          </a:p>
        </p:txBody>
      </p:sp>
      <p:sp>
        <p:nvSpPr>
          <p:cNvPr id="32" name="Shape 30"/>
          <p:cNvSpPr/>
          <p:nvPr/>
        </p:nvSpPr>
        <p:spPr>
          <a:xfrm>
            <a:off x="3931920" y="3419856"/>
            <a:ext cx="3621024" cy="393192"/>
          </a:xfrm>
          <a:prstGeom prst="rect">
            <a:avLst/>
          </a:prstGeom>
          <a:solidFill>
            <a:srgbClr val="FFFFFF"/>
          </a:solidFill>
          <a:ln w="8890">
            <a:solidFill>
              <a:srgbClr val="FFFFFF"/>
            </a:solidFill>
            <a:prstDash val="solid"/>
          </a:ln>
        </p:spPr>
        <p:txBody>
          <a:bodyPr/>
          <a:lstStyle/>
          <a:p>
            <a:endParaRPr lang="en-US"/>
          </a:p>
        </p:txBody>
      </p:sp>
      <p:sp>
        <p:nvSpPr>
          <p:cNvPr id="33" name="Text 31"/>
          <p:cNvSpPr/>
          <p:nvPr/>
        </p:nvSpPr>
        <p:spPr>
          <a:xfrm>
            <a:off x="4050792" y="3447288"/>
            <a:ext cx="3383280" cy="338328"/>
          </a:xfrm>
          <a:prstGeom prst="rect">
            <a:avLst/>
          </a:prstGeom>
          <a:noFill/>
          <a:ln/>
        </p:spPr>
        <p:txBody>
          <a:bodyPr wrap="square" lIns="0" tIns="0" rIns="0" bIns="0" rtlCol="0" anchor="ctr"/>
          <a:lstStyle/>
          <a:p>
            <a:pPr marL="0" indent="0">
              <a:buNone/>
            </a:pPr>
            <a:r>
              <a:rPr lang="en-US" sz="1200" dirty="0">
                <a:solidFill>
                  <a:srgbClr val="17233C"/>
                </a:solidFill>
                <a:latin typeface="Segoe UI" pitchFamily="34" charset="0"/>
                <a:ea typeface="Segoe UI" pitchFamily="34" charset="-122"/>
                <a:cs typeface="Segoe UI" pitchFamily="34" charset="-120"/>
              </a:rPr>
              <a:t>Payment basis is undocumented</a:t>
            </a:r>
            <a:endParaRPr lang="en-US" sz="1200" dirty="0"/>
          </a:p>
        </p:txBody>
      </p:sp>
      <p:sp>
        <p:nvSpPr>
          <p:cNvPr id="34" name="Shape 32"/>
          <p:cNvSpPr/>
          <p:nvPr/>
        </p:nvSpPr>
        <p:spPr>
          <a:xfrm>
            <a:off x="7552944" y="3419856"/>
            <a:ext cx="4059936" cy="393192"/>
          </a:xfrm>
          <a:prstGeom prst="rect">
            <a:avLst/>
          </a:prstGeom>
          <a:solidFill>
            <a:srgbClr val="FFFFFF"/>
          </a:solidFill>
          <a:ln w="8890">
            <a:solidFill>
              <a:srgbClr val="FFFFFF"/>
            </a:solidFill>
            <a:prstDash val="solid"/>
          </a:ln>
        </p:spPr>
        <p:txBody>
          <a:bodyPr/>
          <a:lstStyle/>
          <a:p>
            <a:endParaRPr lang="en-US"/>
          </a:p>
        </p:txBody>
      </p:sp>
      <p:sp>
        <p:nvSpPr>
          <p:cNvPr id="35" name="Text 33"/>
          <p:cNvSpPr/>
          <p:nvPr/>
        </p:nvSpPr>
        <p:spPr>
          <a:xfrm>
            <a:off x="7671816" y="3447288"/>
            <a:ext cx="3822192" cy="338328"/>
          </a:xfrm>
          <a:prstGeom prst="rect">
            <a:avLst/>
          </a:prstGeom>
          <a:noFill/>
          <a:ln/>
        </p:spPr>
        <p:txBody>
          <a:bodyPr wrap="square" lIns="0" tIns="0" rIns="0" bIns="0" rtlCol="0" anchor="ctr"/>
          <a:lstStyle/>
          <a:p>
            <a:pPr marL="0" indent="0">
              <a:buNone/>
            </a:pPr>
            <a:r>
              <a:rPr lang="en-US" sz="1200" dirty="0">
                <a:solidFill>
                  <a:srgbClr val="17233C"/>
                </a:solidFill>
                <a:latin typeface="Segoe UI" pitchFamily="34" charset="0"/>
                <a:ea typeface="Segoe UI" pitchFamily="34" charset="-122"/>
                <a:cs typeface="Segoe UI" pitchFamily="34" charset="-120"/>
              </a:rPr>
              <a:t>Validate claims-paid calculation</a:t>
            </a:r>
            <a:endParaRPr lang="en-US" sz="1200" dirty="0"/>
          </a:p>
        </p:txBody>
      </p:sp>
      <p:sp>
        <p:nvSpPr>
          <p:cNvPr id="36" name="Shape 34"/>
          <p:cNvSpPr/>
          <p:nvPr/>
        </p:nvSpPr>
        <p:spPr>
          <a:xfrm>
            <a:off x="548640" y="3813048"/>
            <a:ext cx="2624328" cy="393192"/>
          </a:xfrm>
          <a:prstGeom prst="rect">
            <a:avLst/>
          </a:prstGeom>
          <a:solidFill>
            <a:srgbClr val="F5F7FB"/>
          </a:solidFill>
          <a:ln w="8890">
            <a:solidFill>
              <a:srgbClr val="F5F7FB"/>
            </a:solidFill>
            <a:prstDash val="solid"/>
          </a:ln>
        </p:spPr>
        <p:txBody>
          <a:bodyPr/>
          <a:lstStyle/>
          <a:p>
            <a:endParaRPr lang="en-US"/>
          </a:p>
        </p:txBody>
      </p:sp>
      <p:sp>
        <p:nvSpPr>
          <p:cNvPr id="37" name="Text 35"/>
          <p:cNvSpPr/>
          <p:nvPr/>
        </p:nvSpPr>
        <p:spPr>
          <a:xfrm>
            <a:off x="667512" y="3840480"/>
            <a:ext cx="2386584" cy="338328"/>
          </a:xfrm>
          <a:prstGeom prst="rect">
            <a:avLst/>
          </a:prstGeom>
          <a:noFill/>
          <a:ln/>
        </p:spPr>
        <p:txBody>
          <a:bodyPr wrap="square" lIns="0" tIns="0" rIns="0" bIns="0" rtlCol="0" anchor="ctr"/>
          <a:lstStyle/>
          <a:p>
            <a:pPr marL="0" indent="0">
              <a:buNone/>
            </a:pPr>
            <a:r>
              <a:rPr lang="en-US" sz="1200" dirty="0">
                <a:solidFill>
                  <a:srgbClr val="17233C"/>
                </a:solidFill>
                <a:latin typeface="Segoe UI" pitchFamily="34" charset="0"/>
                <a:ea typeface="Segoe UI" pitchFamily="34" charset="-122"/>
                <a:cs typeface="Segoe UI" pitchFamily="34" charset="-120"/>
              </a:rPr>
              <a:t>Grain + relationships</a:t>
            </a:r>
            <a:endParaRPr lang="en-US" sz="1200" dirty="0"/>
          </a:p>
        </p:txBody>
      </p:sp>
      <p:sp>
        <p:nvSpPr>
          <p:cNvPr id="38" name="Shape 36"/>
          <p:cNvSpPr/>
          <p:nvPr/>
        </p:nvSpPr>
        <p:spPr>
          <a:xfrm>
            <a:off x="3172968" y="3813048"/>
            <a:ext cx="758952" cy="393192"/>
          </a:xfrm>
          <a:prstGeom prst="rect">
            <a:avLst/>
          </a:prstGeom>
          <a:solidFill>
            <a:srgbClr val="F5F7FB"/>
          </a:solidFill>
          <a:ln w="8890">
            <a:solidFill>
              <a:srgbClr val="F5F7FB"/>
            </a:solidFill>
            <a:prstDash val="solid"/>
          </a:ln>
        </p:spPr>
        <p:txBody>
          <a:bodyPr/>
          <a:lstStyle/>
          <a:p>
            <a:endParaRPr lang="en-US"/>
          </a:p>
        </p:txBody>
      </p:sp>
      <p:sp>
        <p:nvSpPr>
          <p:cNvPr id="39" name="Text 37"/>
          <p:cNvSpPr/>
          <p:nvPr/>
        </p:nvSpPr>
        <p:spPr>
          <a:xfrm>
            <a:off x="3291840" y="3840480"/>
            <a:ext cx="521208" cy="338328"/>
          </a:xfrm>
          <a:prstGeom prst="rect">
            <a:avLst/>
          </a:prstGeom>
          <a:noFill/>
          <a:ln/>
        </p:spPr>
        <p:txBody>
          <a:bodyPr wrap="square" lIns="0" tIns="0" rIns="0" bIns="0" rtlCol="0" anchor="ctr"/>
          <a:lstStyle/>
          <a:p>
            <a:pPr marL="0" indent="0">
              <a:buNone/>
            </a:pPr>
            <a:r>
              <a:rPr lang="en-US" sz="1500" b="1" dirty="0">
                <a:solidFill>
                  <a:srgbClr val="7655D6"/>
                </a:solidFill>
                <a:latin typeface="Segoe UI" pitchFamily="34" charset="0"/>
                <a:ea typeface="Segoe UI" pitchFamily="34" charset="-122"/>
                <a:cs typeface="Segoe UI" pitchFamily="34" charset="-120"/>
              </a:rPr>
              <a:t>1</a:t>
            </a:r>
            <a:endParaRPr lang="en-US" sz="1500" dirty="0"/>
          </a:p>
        </p:txBody>
      </p:sp>
      <p:sp>
        <p:nvSpPr>
          <p:cNvPr id="40" name="Shape 38"/>
          <p:cNvSpPr/>
          <p:nvPr/>
        </p:nvSpPr>
        <p:spPr>
          <a:xfrm>
            <a:off x="3931920" y="3813048"/>
            <a:ext cx="3621024" cy="393192"/>
          </a:xfrm>
          <a:prstGeom prst="rect">
            <a:avLst/>
          </a:prstGeom>
          <a:solidFill>
            <a:srgbClr val="F5F7FB"/>
          </a:solidFill>
          <a:ln w="8890">
            <a:solidFill>
              <a:srgbClr val="F5F7FB"/>
            </a:solidFill>
            <a:prstDash val="solid"/>
          </a:ln>
        </p:spPr>
        <p:txBody>
          <a:bodyPr/>
          <a:lstStyle/>
          <a:p>
            <a:endParaRPr lang="en-US"/>
          </a:p>
        </p:txBody>
      </p:sp>
      <p:sp>
        <p:nvSpPr>
          <p:cNvPr id="41" name="Text 39"/>
          <p:cNvSpPr/>
          <p:nvPr/>
        </p:nvSpPr>
        <p:spPr>
          <a:xfrm>
            <a:off x="4050792" y="3840480"/>
            <a:ext cx="3383280" cy="338328"/>
          </a:xfrm>
          <a:prstGeom prst="rect">
            <a:avLst/>
          </a:prstGeom>
          <a:noFill/>
          <a:ln/>
        </p:spPr>
        <p:txBody>
          <a:bodyPr wrap="square" lIns="0" tIns="0" rIns="0" bIns="0" rtlCol="0" anchor="ctr"/>
          <a:lstStyle/>
          <a:p>
            <a:pPr marL="0" indent="0">
              <a:buNone/>
            </a:pPr>
            <a:r>
              <a:rPr lang="en-US" sz="1200" dirty="0">
                <a:solidFill>
                  <a:srgbClr val="17233C"/>
                </a:solidFill>
                <a:latin typeface="Segoe UI" pitchFamily="34" charset="0"/>
                <a:ea typeface="Segoe UI" pitchFamily="34" charset="-122"/>
                <a:cs typeface="Segoe UI" pitchFamily="34" charset="-120"/>
              </a:rPr>
              <a:t>Snapshot grain is not described</a:t>
            </a:r>
            <a:endParaRPr lang="en-US" sz="1200" dirty="0"/>
          </a:p>
        </p:txBody>
      </p:sp>
      <p:sp>
        <p:nvSpPr>
          <p:cNvPr id="42" name="Shape 40"/>
          <p:cNvSpPr/>
          <p:nvPr/>
        </p:nvSpPr>
        <p:spPr>
          <a:xfrm>
            <a:off x="7552944" y="3813048"/>
            <a:ext cx="4059936" cy="393192"/>
          </a:xfrm>
          <a:prstGeom prst="rect">
            <a:avLst/>
          </a:prstGeom>
          <a:solidFill>
            <a:srgbClr val="F5F7FB"/>
          </a:solidFill>
          <a:ln w="8890">
            <a:solidFill>
              <a:srgbClr val="F5F7FB"/>
            </a:solidFill>
            <a:prstDash val="solid"/>
          </a:ln>
        </p:spPr>
        <p:txBody>
          <a:bodyPr/>
          <a:lstStyle/>
          <a:p>
            <a:endParaRPr lang="en-US"/>
          </a:p>
        </p:txBody>
      </p:sp>
      <p:sp>
        <p:nvSpPr>
          <p:cNvPr id="43" name="Text 41"/>
          <p:cNvSpPr/>
          <p:nvPr/>
        </p:nvSpPr>
        <p:spPr>
          <a:xfrm>
            <a:off x="7671816" y="3840480"/>
            <a:ext cx="3822192" cy="338328"/>
          </a:xfrm>
          <a:prstGeom prst="rect">
            <a:avLst/>
          </a:prstGeom>
          <a:noFill/>
          <a:ln/>
        </p:spPr>
        <p:txBody>
          <a:bodyPr wrap="square" lIns="0" tIns="0" rIns="0" bIns="0" rtlCol="0" anchor="ctr"/>
          <a:lstStyle/>
          <a:p>
            <a:pPr marL="0" indent="0">
              <a:buNone/>
            </a:pPr>
            <a:r>
              <a:rPr lang="en-US" sz="1200" dirty="0">
                <a:solidFill>
                  <a:srgbClr val="17233C"/>
                </a:solidFill>
                <a:latin typeface="Segoe UI" pitchFamily="34" charset="0"/>
                <a:ea typeface="Segoe UI" pitchFamily="34" charset="-122"/>
                <a:cs typeface="Segoe UI" pitchFamily="34" charset="-120"/>
              </a:rPr>
              <a:t>Document keys + test propagation</a:t>
            </a:r>
            <a:endParaRPr lang="en-US" sz="1200" dirty="0"/>
          </a:p>
        </p:txBody>
      </p:sp>
      <p:sp>
        <p:nvSpPr>
          <p:cNvPr id="44" name="Shape 42"/>
          <p:cNvSpPr/>
          <p:nvPr/>
        </p:nvSpPr>
        <p:spPr>
          <a:xfrm>
            <a:off x="548640" y="4206240"/>
            <a:ext cx="2624328" cy="393192"/>
          </a:xfrm>
          <a:prstGeom prst="rect">
            <a:avLst/>
          </a:prstGeom>
          <a:solidFill>
            <a:srgbClr val="FFFFFF"/>
          </a:solidFill>
          <a:ln w="8890">
            <a:solidFill>
              <a:srgbClr val="FFFFFF"/>
            </a:solidFill>
            <a:prstDash val="solid"/>
          </a:ln>
        </p:spPr>
        <p:txBody>
          <a:bodyPr/>
          <a:lstStyle/>
          <a:p>
            <a:endParaRPr lang="en-US"/>
          </a:p>
        </p:txBody>
      </p:sp>
      <p:sp>
        <p:nvSpPr>
          <p:cNvPr id="45" name="Text 43"/>
          <p:cNvSpPr/>
          <p:nvPr/>
        </p:nvSpPr>
        <p:spPr>
          <a:xfrm>
            <a:off x="667512" y="4233672"/>
            <a:ext cx="2386584" cy="338328"/>
          </a:xfrm>
          <a:prstGeom prst="rect">
            <a:avLst/>
          </a:prstGeom>
          <a:noFill/>
          <a:ln/>
        </p:spPr>
        <p:txBody>
          <a:bodyPr wrap="square" lIns="0" tIns="0" rIns="0" bIns="0" rtlCol="0" anchor="ctr"/>
          <a:lstStyle/>
          <a:p>
            <a:pPr marL="0" indent="0">
              <a:buNone/>
            </a:pPr>
            <a:r>
              <a:rPr lang="en-US" sz="1200" dirty="0">
                <a:solidFill>
                  <a:srgbClr val="17233C"/>
                </a:solidFill>
                <a:latin typeface="Segoe UI" pitchFamily="34" charset="0"/>
                <a:ea typeface="Segoe UI" pitchFamily="34" charset="-122"/>
                <a:cs typeface="Segoe UI" pitchFamily="34" charset="-120"/>
              </a:rPr>
              <a:t>Date semantics</a:t>
            </a:r>
            <a:endParaRPr lang="en-US" sz="1200" dirty="0"/>
          </a:p>
        </p:txBody>
      </p:sp>
      <p:sp>
        <p:nvSpPr>
          <p:cNvPr id="46" name="Shape 44"/>
          <p:cNvSpPr/>
          <p:nvPr/>
        </p:nvSpPr>
        <p:spPr>
          <a:xfrm>
            <a:off x="3172968" y="4206240"/>
            <a:ext cx="758952" cy="393192"/>
          </a:xfrm>
          <a:prstGeom prst="rect">
            <a:avLst/>
          </a:prstGeom>
          <a:solidFill>
            <a:srgbClr val="FFFFFF"/>
          </a:solidFill>
          <a:ln w="8890">
            <a:solidFill>
              <a:srgbClr val="FFFFFF"/>
            </a:solidFill>
            <a:prstDash val="solid"/>
          </a:ln>
        </p:spPr>
        <p:txBody>
          <a:bodyPr/>
          <a:lstStyle/>
          <a:p>
            <a:endParaRPr lang="en-US"/>
          </a:p>
        </p:txBody>
      </p:sp>
      <p:sp>
        <p:nvSpPr>
          <p:cNvPr id="47" name="Text 45"/>
          <p:cNvSpPr/>
          <p:nvPr/>
        </p:nvSpPr>
        <p:spPr>
          <a:xfrm>
            <a:off x="3291840" y="4233672"/>
            <a:ext cx="521208" cy="338328"/>
          </a:xfrm>
          <a:prstGeom prst="rect">
            <a:avLst/>
          </a:prstGeom>
          <a:noFill/>
          <a:ln/>
        </p:spPr>
        <p:txBody>
          <a:bodyPr wrap="square" lIns="0" tIns="0" rIns="0" bIns="0" rtlCol="0" anchor="ctr"/>
          <a:lstStyle/>
          <a:p>
            <a:pPr marL="0" indent="0">
              <a:buNone/>
            </a:pPr>
            <a:r>
              <a:rPr lang="en-US" sz="1500" b="1" dirty="0">
                <a:solidFill>
                  <a:srgbClr val="9A6000"/>
                </a:solidFill>
                <a:latin typeface="Segoe UI" pitchFamily="34" charset="0"/>
                <a:ea typeface="Segoe UI" pitchFamily="34" charset="-122"/>
                <a:cs typeface="Segoe UI" pitchFamily="34" charset="-120"/>
              </a:rPr>
              <a:t>0</a:t>
            </a:r>
            <a:endParaRPr lang="en-US" sz="1500" dirty="0"/>
          </a:p>
        </p:txBody>
      </p:sp>
      <p:sp>
        <p:nvSpPr>
          <p:cNvPr id="48" name="Shape 46"/>
          <p:cNvSpPr/>
          <p:nvPr/>
        </p:nvSpPr>
        <p:spPr>
          <a:xfrm>
            <a:off x="3931920" y="4206240"/>
            <a:ext cx="3621024" cy="393192"/>
          </a:xfrm>
          <a:prstGeom prst="rect">
            <a:avLst/>
          </a:prstGeom>
          <a:solidFill>
            <a:srgbClr val="FFFFFF"/>
          </a:solidFill>
          <a:ln w="8890">
            <a:solidFill>
              <a:srgbClr val="FFFFFF"/>
            </a:solidFill>
            <a:prstDash val="solid"/>
          </a:ln>
        </p:spPr>
        <p:txBody>
          <a:bodyPr/>
          <a:lstStyle/>
          <a:p>
            <a:endParaRPr lang="en-US"/>
          </a:p>
        </p:txBody>
      </p:sp>
      <p:sp>
        <p:nvSpPr>
          <p:cNvPr id="49" name="Text 47"/>
          <p:cNvSpPr/>
          <p:nvPr/>
        </p:nvSpPr>
        <p:spPr>
          <a:xfrm>
            <a:off x="4050792" y="4233672"/>
            <a:ext cx="3383280" cy="338328"/>
          </a:xfrm>
          <a:prstGeom prst="rect">
            <a:avLst/>
          </a:prstGeom>
          <a:noFill/>
          <a:ln/>
        </p:spPr>
        <p:txBody>
          <a:bodyPr wrap="square" lIns="0" tIns="0" rIns="0" bIns="0" rtlCol="0" anchor="ctr"/>
          <a:lstStyle/>
          <a:p>
            <a:pPr marL="0" indent="0">
              <a:buNone/>
            </a:pPr>
            <a:r>
              <a:rPr lang="en-US" sz="1200" dirty="0">
                <a:solidFill>
                  <a:srgbClr val="17233C"/>
                </a:solidFill>
                <a:latin typeface="Segoe UI" pitchFamily="34" charset="0"/>
                <a:ea typeface="Segoe UI" pitchFamily="34" charset="-122"/>
                <a:cs typeface="Segoe UI" pitchFamily="34" charset="-120"/>
              </a:rPr>
              <a:t>Multiple unexplained date roles</a:t>
            </a:r>
            <a:endParaRPr lang="en-US" sz="1200" dirty="0"/>
          </a:p>
        </p:txBody>
      </p:sp>
      <p:sp>
        <p:nvSpPr>
          <p:cNvPr id="50" name="Shape 48"/>
          <p:cNvSpPr/>
          <p:nvPr/>
        </p:nvSpPr>
        <p:spPr>
          <a:xfrm>
            <a:off x="7552944" y="4206240"/>
            <a:ext cx="4059936" cy="393192"/>
          </a:xfrm>
          <a:prstGeom prst="rect">
            <a:avLst/>
          </a:prstGeom>
          <a:solidFill>
            <a:srgbClr val="FFFFFF"/>
          </a:solidFill>
          <a:ln w="8890">
            <a:solidFill>
              <a:srgbClr val="FFFFFF"/>
            </a:solidFill>
            <a:prstDash val="solid"/>
          </a:ln>
        </p:spPr>
        <p:txBody>
          <a:bodyPr/>
          <a:lstStyle/>
          <a:p>
            <a:endParaRPr lang="en-US"/>
          </a:p>
        </p:txBody>
      </p:sp>
      <p:sp>
        <p:nvSpPr>
          <p:cNvPr id="51" name="Text 49"/>
          <p:cNvSpPr/>
          <p:nvPr/>
        </p:nvSpPr>
        <p:spPr>
          <a:xfrm>
            <a:off x="7671816" y="4233672"/>
            <a:ext cx="3822192" cy="338328"/>
          </a:xfrm>
          <a:prstGeom prst="rect">
            <a:avLst/>
          </a:prstGeom>
          <a:noFill/>
          <a:ln/>
        </p:spPr>
        <p:txBody>
          <a:bodyPr wrap="square" lIns="0" tIns="0" rIns="0" bIns="0" rtlCol="0" anchor="ctr"/>
          <a:lstStyle/>
          <a:p>
            <a:pPr marL="0" indent="0">
              <a:buNone/>
            </a:pPr>
            <a:r>
              <a:rPr lang="en-US" sz="1200" dirty="0">
                <a:solidFill>
                  <a:srgbClr val="17233C"/>
                </a:solidFill>
                <a:latin typeface="Segoe UI" pitchFamily="34" charset="0"/>
                <a:ea typeface="Segoe UI" pitchFamily="34" charset="-122"/>
                <a:cs typeface="Segoe UI" pitchFamily="34" charset="-120"/>
              </a:rPr>
              <a:t>Specify as-of / payment / close date</a:t>
            </a:r>
            <a:endParaRPr lang="en-US" sz="1200" dirty="0"/>
          </a:p>
        </p:txBody>
      </p:sp>
      <p:sp>
        <p:nvSpPr>
          <p:cNvPr id="52" name="Shape 50"/>
          <p:cNvSpPr/>
          <p:nvPr/>
        </p:nvSpPr>
        <p:spPr>
          <a:xfrm>
            <a:off x="548640" y="4599432"/>
            <a:ext cx="2624328" cy="393192"/>
          </a:xfrm>
          <a:prstGeom prst="rect">
            <a:avLst/>
          </a:prstGeom>
          <a:solidFill>
            <a:srgbClr val="F5F7FB"/>
          </a:solidFill>
          <a:ln w="8890">
            <a:solidFill>
              <a:srgbClr val="F5F7FB"/>
            </a:solidFill>
            <a:prstDash val="solid"/>
          </a:ln>
        </p:spPr>
        <p:txBody>
          <a:bodyPr/>
          <a:lstStyle/>
          <a:p>
            <a:endParaRPr lang="en-US"/>
          </a:p>
        </p:txBody>
      </p:sp>
      <p:sp>
        <p:nvSpPr>
          <p:cNvPr id="53" name="Text 51"/>
          <p:cNvSpPr/>
          <p:nvPr/>
        </p:nvSpPr>
        <p:spPr>
          <a:xfrm>
            <a:off x="667512" y="4626864"/>
            <a:ext cx="2386584" cy="338328"/>
          </a:xfrm>
          <a:prstGeom prst="rect">
            <a:avLst/>
          </a:prstGeom>
          <a:noFill/>
          <a:ln/>
        </p:spPr>
        <p:txBody>
          <a:bodyPr wrap="square" lIns="0" tIns="0" rIns="0" bIns="0" rtlCol="0" anchor="ctr"/>
          <a:lstStyle/>
          <a:p>
            <a:pPr marL="0" indent="0">
              <a:buNone/>
            </a:pPr>
            <a:r>
              <a:rPr lang="en-US" sz="1200" dirty="0">
                <a:solidFill>
                  <a:srgbClr val="17233C"/>
                </a:solidFill>
                <a:latin typeface="Segoe UI" pitchFamily="34" charset="0"/>
                <a:ea typeface="Segoe UI" pitchFamily="34" charset="-122"/>
                <a:cs typeface="Segoe UI" pitchFamily="34" charset="-120"/>
              </a:rPr>
              <a:t>AI context</a:t>
            </a:r>
            <a:endParaRPr lang="en-US" sz="1200" dirty="0"/>
          </a:p>
        </p:txBody>
      </p:sp>
      <p:sp>
        <p:nvSpPr>
          <p:cNvPr id="54" name="Shape 52"/>
          <p:cNvSpPr/>
          <p:nvPr/>
        </p:nvSpPr>
        <p:spPr>
          <a:xfrm>
            <a:off x="3172968" y="4599432"/>
            <a:ext cx="758952" cy="393192"/>
          </a:xfrm>
          <a:prstGeom prst="rect">
            <a:avLst/>
          </a:prstGeom>
          <a:solidFill>
            <a:srgbClr val="F5F7FB"/>
          </a:solidFill>
          <a:ln w="8890">
            <a:solidFill>
              <a:srgbClr val="F5F7FB"/>
            </a:solidFill>
            <a:prstDash val="solid"/>
          </a:ln>
        </p:spPr>
        <p:txBody>
          <a:bodyPr/>
          <a:lstStyle/>
          <a:p>
            <a:endParaRPr lang="en-US"/>
          </a:p>
        </p:txBody>
      </p:sp>
      <p:sp>
        <p:nvSpPr>
          <p:cNvPr id="55" name="Text 53"/>
          <p:cNvSpPr/>
          <p:nvPr/>
        </p:nvSpPr>
        <p:spPr>
          <a:xfrm>
            <a:off x="3291840" y="4626864"/>
            <a:ext cx="521208" cy="338328"/>
          </a:xfrm>
          <a:prstGeom prst="rect">
            <a:avLst/>
          </a:prstGeom>
          <a:noFill/>
          <a:ln/>
        </p:spPr>
        <p:txBody>
          <a:bodyPr wrap="square" lIns="0" tIns="0" rIns="0" bIns="0" rtlCol="0" anchor="ctr"/>
          <a:lstStyle/>
          <a:p>
            <a:pPr marL="0" indent="0">
              <a:buNone/>
            </a:pPr>
            <a:r>
              <a:rPr lang="en-US" sz="1500" b="1" dirty="0">
                <a:solidFill>
                  <a:srgbClr val="7655D6"/>
                </a:solidFill>
                <a:latin typeface="Segoe UI" pitchFamily="34" charset="0"/>
                <a:ea typeface="Segoe UI" pitchFamily="34" charset="-122"/>
                <a:cs typeface="Segoe UI" pitchFamily="34" charset="-120"/>
              </a:rPr>
              <a:t>1</a:t>
            </a:r>
            <a:endParaRPr lang="en-US" sz="1500" dirty="0"/>
          </a:p>
        </p:txBody>
      </p:sp>
      <p:sp>
        <p:nvSpPr>
          <p:cNvPr id="56" name="Shape 54"/>
          <p:cNvSpPr/>
          <p:nvPr/>
        </p:nvSpPr>
        <p:spPr>
          <a:xfrm>
            <a:off x="3931920" y="4599432"/>
            <a:ext cx="3621024" cy="393192"/>
          </a:xfrm>
          <a:prstGeom prst="rect">
            <a:avLst/>
          </a:prstGeom>
          <a:solidFill>
            <a:srgbClr val="F5F7FB"/>
          </a:solidFill>
          <a:ln w="8890">
            <a:solidFill>
              <a:srgbClr val="F5F7FB"/>
            </a:solidFill>
            <a:prstDash val="solid"/>
          </a:ln>
        </p:spPr>
        <p:txBody>
          <a:bodyPr/>
          <a:lstStyle/>
          <a:p>
            <a:endParaRPr lang="en-US"/>
          </a:p>
        </p:txBody>
      </p:sp>
      <p:sp>
        <p:nvSpPr>
          <p:cNvPr id="57" name="Text 55"/>
          <p:cNvSpPr/>
          <p:nvPr/>
        </p:nvSpPr>
        <p:spPr>
          <a:xfrm>
            <a:off x="4050792" y="4626864"/>
            <a:ext cx="3383280" cy="338328"/>
          </a:xfrm>
          <a:prstGeom prst="rect">
            <a:avLst/>
          </a:prstGeom>
          <a:noFill/>
          <a:ln/>
        </p:spPr>
        <p:txBody>
          <a:bodyPr wrap="square" lIns="0" tIns="0" rIns="0" bIns="0" rtlCol="0" anchor="ctr"/>
          <a:lstStyle/>
          <a:p>
            <a:pPr marL="0" indent="0">
              <a:buNone/>
            </a:pPr>
            <a:r>
              <a:rPr lang="en-US" sz="1200" dirty="0">
                <a:solidFill>
                  <a:srgbClr val="17233C"/>
                </a:solidFill>
                <a:latin typeface="Segoe UI" pitchFamily="34" charset="0"/>
                <a:ea typeface="Segoe UI" pitchFamily="34" charset="-122"/>
                <a:cs typeface="Segoe UI" pitchFamily="34" charset="-120"/>
              </a:rPr>
              <a:t>No curated AI object selection</a:t>
            </a:r>
            <a:endParaRPr lang="en-US" sz="1200" dirty="0"/>
          </a:p>
        </p:txBody>
      </p:sp>
      <p:sp>
        <p:nvSpPr>
          <p:cNvPr id="58" name="Shape 56"/>
          <p:cNvSpPr/>
          <p:nvPr/>
        </p:nvSpPr>
        <p:spPr>
          <a:xfrm>
            <a:off x="7552944" y="4599432"/>
            <a:ext cx="4059936" cy="393192"/>
          </a:xfrm>
          <a:prstGeom prst="rect">
            <a:avLst/>
          </a:prstGeom>
          <a:solidFill>
            <a:srgbClr val="F5F7FB"/>
          </a:solidFill>
          <a:ln w="8890">
            <a:solidFill>
              <a:srgbClr val="F5F7FB"/>
            </a:solidFill>
            <a:prstDash val="solid"/>
          </a:ln>
        </p:spPr>
        <p:txBody>
          <a:bodyPr/>
          <a:lstStyle/>
          <a:p>
            <a:endParaRPr lang="en-US"/>
          </a:p>
        </p:txBody>
      </p:sp>
      <p:sp>
        <p:nvSpPr>
          <p:cNvPr id="59" name="Text 57"/>
          <p:cNvSpPr/>
          <p:nvPr/>
        </p:nvSpPr>
        <p:spPr>
          <a:xfrm>
            <a:off x="7671816" y="4626864"/>
            <a:ext cx="3822192" cy="338328"/>
          </a:xfrm>
          <a:prstGeom prst="rect">
            <a:avLst/>
          </a:prstGeom>
          <a:noFill/>
          <a:ln/>
        </p:spPr>
        <p:txBody>
          <a:bodyPr wrap="square" lIns="0" tIns="0" rIns="0" bIns="0" rtlCol="0" anchor="ctr"/>
          <a:lstStyle/>
          <a:p>
            <a:pPr marL="0" indent="0">
              <a:buNone/>
            </a:pPr>
            <a:r>
              <a:rPr lang="en-US" sz="1200" dirty="0">
                <a:solidFill>
                  <a:srgbClr val="17233C"/>
                </a:solidFill>
                <a:latin typeface="Segoe UI" pitchFamily="34" charset="0"/>
                <a:ea typeface="Segoe UI" pitchFamily="34" charset="-122"/>
                <a:cs typeface="Segoe UI" pitchFamily="34" charset="-120"/>
              </a:rPr>
              <a:t>Curate schema + add instructions</a:t>
            </a:r>
            <a:endParaRPr lang="en-US" sz="1200" dirty="0"/>
          </a:p>
        </p:txBody>
      </p:sp>
      <p:sp>
        <p:nvSpPr>
          <p:cNvPr id="60" name="Shape 58"/>
          <p:cNvSpPr/>
          <p:nvPr/>
        </p:nvSpPr>
        <p:spPr>
          <a:xfrm>
            <a:off x="548640" y="4992624"/>
            <a:ext cx="2624328" cy="393192"/>
          </a:xfrm>
          <a:prstGeom prst="rect">
            <a:avLst/>
          </a:prstGeom>
          <a:solidFill>
            <a:srgbClr val="FFFFFF"/>
          </a:solidFill>
          <a:ln w="8890">
            <a:solidFill>
              <a:srgbClr val="FFFFFF"/>
            </a:solidFill>
            <a:prstDash val="solid"/>
          </a:ln>
        </p:spPr>
        <p:txBody>
          <a:bodyPr/>
          <a:lstStyle/>
          <a:p>
            <a:endParaRPr lang="en-US"/>
          </a:p>
        </p:txBody>
      </p:sp>
      <p:sp>
        <p:nvSpPr>
          <p:cNvPr id="61" name="Text 59"/>
          <p:cNvSpPr/>
          <p:nvPr/>
        </p:nvSpPr>
        <p:spPr>
          <a:xfrm>
            <a:off x="667512" y="5020056"/>
            <a:ext cx="2386584" cy="338328"/>
          </a:xfrm>
          <a:prstGeom prst="rect">
            <a:avLst/>
          </a:prstGeom>
          <a:noFill/>
          <a:ln/>
        </p:spPr>
        <p:txBody>
          <a:bodyPr wrap="square" lIns="0" tIns="0" rIns="0" bIns="0" rtlCol="0" anchor="ctr"/>
          <a:lstStyle/>
          <a:p>
            <a:pPr marL="0" indent="0">
              <a:buNone/>
            </a:pPr>
            <a:r>
              <a:rPr lang="en-US" sz="1200" dirty="0">
                <a:solidFill>
                  <a:srgbClr val="17233C"/>
                </a:solidFill>
                <a:latin typeface="Segoe UI" pitchFamily="34" charset="0"/>
                <a:ea typeface="Segoe UI" pitchFamily="34" charset="-122"/>
                <a:cs typeface="Segoe UI" pitchFamily="34" charset="-120"/>
              </a:rPr>
              <a:t>Data + security</a:t>
            </a:r>
            <a:endParaRPr lang="en-US" sz="1200" dirty="0"/>
          </a:p>
        </p:txBody>
      </p:sp>
      <p:sp>
        <p:nvSpPr>
          <p:cNvPr id="62" name="Shape 60"/>
          <p:cNvSpPr/>
          <p:nvPr/>
        </p:nvSpPr>
        <p:spPr>
          <a:xfrm>
            <a:off x="3172968" y="4992624"/>
            <a:ext cx="758952" cy="393192"/>
          </a:xfrm>
          <a:prstGeom prst="rect">
            <a:avLst/>
          </a:prstGeom>
          <a:solidFill>
            <a:srgbClr val="FFFFFF"/>
          </a:solidFill>
          <a:ln w="8890">
            <a:solidFill>
              <a:srgbClr val="FFFFFF"/>
            </a:solidFill>
            <a:prstDash val="solid"/>
          </a:ln>
        </p:spPr>
        <p:txBody>
          <a:bodyPr/>
          <a:lstStyle/>
          <a:p>
            <a:endParaRPr lang="en-US"/>
          </a:p>
        </p:txBody>
      </p:sp>
      <p:sp>
        <p:nvSpPr>
          <p:cNvPr id="63" name="Text 61"/>
          <p:cNvSpPr/>
          <p:nvPr/>
        </p:nvSpPr>
        <p:spPr>
          <a:xfrm>
            <a:off x="3291840" y="5020056"/>
            <a:ext cx="521208" cy="338328"/>
          </a:xfrm>
          <a:prstGeom prst="rect">
            <a:avLst/>
          </a:prstGeom>
          <a:noFill/>
          <a:ln/>
        </p:spPr>
        <p:txBody>
          <a:bodyPr wrap="square" lIns="0" tIns="0" rIns="0" bIns="0" rtlCol="0" anchor="ctr"/>
          <a:lstStyle/>
          <a:p>
            <a:pPr marL="0" indent="0">
              <a:buNone/>
            </a:pPr>
            <a:r>
              <a:rPr lang="en-US" sz="1500" b="1" dirty="0">
                <a:solidFill>
                  <a:srgbClr val="7655D6"/>
                </a:solidFill>
                <a:latin typeface="Segoe UI" pitchFamily="34" charset="0"/>
                <a:ea typeface="Segoe UI" pitchFamily="34" charset="-122"/>
                <a:cs typeface="Segoe UI" pitchFamily="34" charset="-120"/>
              </a:rPr>
              <a:t>2</a:t>
            </a:r>
            <a:endParaRPr lang="en-US" sz="1500" dirty="0"/>
          </a:p>
        </p:txBody>
      </p:sp>
      <p:sp>
        <p:nvSpPr>
          <p:cNvPr id="64" name="Shape 62"/>
          <p:cNvSpPr/>
          <p:nvPr/>
        </p:nvSpPr>
        <p:spPr>
          <a:xfrm>
            <a:off x="3931920" y="4992624"/>
            <a:ext cx="3621024" cy="393192"/>
          </a:xfrm>
          <a:prstGeom prst="rect">
            <a:avLst/>
          </a:prstGeom>
          <a:solidFill>
            <a:srgbClr val="FFFFFF"/>
          </a:solidFill>
          <a:ln w="8890">
            <a:solidFill>
              <a:srgbClr val="FFFFFF"/>
            </a:solidFill>
            <a:prstDash val="solid"/>
          </a:ln>
        </p:spPr>
        <p:txBody>
          <a:bodyPr/>
          <a:lstStyle/>
          <a:p>
            <a:endParaRPr lang="en-US"/>
          </a:p>
        </p:txBody>
      </p:sp>
      <p:sp>
        <p:nvSpPr>
          <p:cNvPr id="65" name="Text 63"/>
          <p:cNvSpPr/>
          <p:nvPr/>
        </p:nvSpPr>
        <p:spPr>
          <a:xfrm>
            <a:off x="4050792" y="5020056"/>
            <a:ext cx="3383280" cy="338328"/>
          </a:xfrm>
          <a:prstGeom prst="rect">
            <a:avLst/>
          </a:prstGeom>
          <a:noFill/>
          <a:ln/>
        </p:spPr>
        <p:txBody>
          <a:bodyPr wrap="square" lIns="0" tIns="0" rIns="0" bIns="0" rtlCol="0" anchor="ctr"/>
          <a:lstStyle/>
          <a:p>
            <a:pPr marL="0" indent="0">
              <a:buNone/>
            </a:pPr>
            <a:r>
              <a:rPr lang="en-US" sz="1200" dirty="0">
                <a:solidFill>
                  <a:srgbClr val="17233C"/>
                </a:solidFill>
                <a:latin typeface="Segoe UI" pitchFamily="34" charset="0"/>
                <a:ea typeface="Segoe UI" pitchFamily="34" charset="-122"/>
                <a:cs typeface="Segoe UI" pitchFamily="34" charset="-120"/>
              </a:rPr>
              <a:t>Freshness + role tests have evidence</a:t>
            </a:r>
            <a:endParaRPr lang="en-US" sz="1200" dirty="0"/>
          </a:p>
        </p:txBody>
      </p:sp>
      <p:sp>
        <p:nvSpPr>
          <p:cNvPr id="66" name="Shape 64"/>
          <p:cNvSpPr/>
          <p:nvPr/>
        </p:nvSpPr>
        <p:spPr>
          <a:xfrm>
            <a:off x="7552944" y="4992624"/>
            <a:ext cx="4059936" cy="393192"/>
          </a:xfrm>
          <a:prstGeom prst="rect">
            <a:avLst/>
          </a:prstGeom>
          <a:solidFill>
            <a:srgbClr val="FFFFFF"/>
          </a:solidFill>
          <a:ln w="8890">
            <a:solidFill>
              <a:srgbClr val="FFFFFF"/>
            </a:solidFill>
            <a:prstDash val="solid"/>
          </a:ln>
        </p:spPr>
        <p:txBody>
          <a:bodyPr/>
          <a:lstStyle/>
          <a:p>
            <a:endParaRPr lang="en-US"/>
          </a:p>
        </p:txBody>
      </p:sp>
      <p:sp>
        <p:nvSpPr>
          <p:cNvPr id="67" name="Text 65"/>
          <p:cNvSpPr/>
          <p:nvPr/>
        </p:nvSpPr>
        <p:spPr>
          <a:xfrm>
            <a:off x="7671816" y="5020056"/>
            <a:ext cx="3822192" cy="338328"/>
          </a:xfrm>
          <a:prstGeom prst="rect">
            <a:avLst/>
          </a:prstGeom>
          <a:noFill/>
          <a:ln/>
        </p:spPr>
        <p:txBody>
          <a:bodyPr wrap="square" lIns="0" tIns="0" rIns="0" bIns="0" rtlCol="0" anchor="ctr"/>
          <a:lstStyle/>
          <a:p>
            <a:pPr marL="0" indent="0">
              <a:buNone/>
            </a:pPr>
            <a:r>
              <a:rPr lang="en-US" sz="1200" dirty="0">
                <a:solidFill>
                  <a:srgbClr val="17233C"/>
                </a:solidFill>
                <a:latin typeface="Segoe UI" pitchFamily="34" charset="0"/>
                <a:ea typeface="Segoe UI" pitchFamily="34" charset="-122"/>
                <a:cs typeface="Segoe UI" pitchFamily="34" charset="-120"/>
              </a:rPr>
              <a:t>Retain checks as release gates</a:t>
            </a:r>
            <a:endParaRPr lang="en-US" sz="1200" dirty="0"/>
          </a:p>
        </p:txBody>
      </p:sp>
      <p:sp>
        <p:nvSpPr>
          <p:cNvPr id="68" name="Text 66"/>
          <p:cNvSpPr/>
          <p:nvPr/>
        </p:nvSpPr>
        <p:spPr>
          <a:xfrm>
            <a:off x="594360" y="5632704"/>
            <a:ext cx="1600200" cy="466344"/>
          </a:xfrm>
          <a:prstGeom prst="rect">
            <a:avLst/>
          </a:prstGeom>
          <a:noFill/>
          <a:ln/>
        </p:spPr>
        <p:txBody>
          <a:bodyPr wrap="square" lIns="0" tIns="0" rIns="0" bIns="0" rtlCol="0" anchor="ctr"/>
          <a:lstStyle/>
          <a:p>
            <a:pPr marL="0" indent="0">
              <a:buNone/>
            </a:pPr>
            <a:r>
              <a:rPr lang="en-US" sz="3000" b="1" dirty="0">
                <a:solidFill>
                  <a:srgbClr val="7655D6"/>
                </a:solidFill>
                <a:latin typeface="Segoe UI" pitchFamily="34" charset="0"/>
                <a:ea typeface="Segoe UI" pitchFamily="34" charset="-122"/>
                <a:cs typeface="Segoe UI" pitchFamily="34" charset="-120"/>
              </a:rPr>
              <a:t>5 / 12</a:t>
            </a:r>
            <a:endParaRPr lang="en-US" sz="3000" dirty="0"/>
          </a:p>
        </p:txBody>
      </p:sp>
      <p:sp>
        <p:nvSpPr>
          <p:cNvPr id="69" name="Text 67"/>
          <p:cNvSpPr/>
          <p:nvPr/>
        </p:nvSpPr>
        <p:spPr>
          <a:xfrm>
            <a:off x="2514600" y="5596128"/>
            <a:ext cx="8887968" cy="548640"/>
          </a:xfrm>
          <a:prstGeom prst="rect">
            <a:avLst/>
          </a:prstGeom>
          <a:noFill/>
          <a:ln/>
        </p:spPr>
        <p:txBody>
          <a:bodyPr wrap="square" lIns="0" tIns="0" rIns="0" bIns="0" rtlCol="0" anchor="ctr"/>
          <a:lstStyle/>
          <a:p>
            <a:pPr marL="0" indent="0">
              <a:buNone/>
            </a:pPr>
            <a:r>
              <a:rPr lang="en-US" sz="1400" dirty="0">
                <a:solidFill>
                  <a:srgbClr val="56657B"/>
                </a:solidFill>
                <a:latin typeface="Segoe UI" pitchFamily="34" charset="0"/>
                <a:ea typeface="Segoe UI" pitchFamily="34" charset="-122"/>
                <a:cs typeface="Segoe UI" pitchFamily="34" charset="-120"/>
              </a:rPr>
              <a:t>Demo rubric: 0 = gap   |   1 = partial   |   2 = evidenced</a:t>
            </a:r>
            <a:endParaRPr lang="en-US" sz="1400" dirty="0"/>
          </a:p>
          <a:p>
            <a:pPr marL="0" indent="0">
              <a:buNone/>
            </a:pPr>
            <a:r>
              <a:rPr lang="en-US" sz="1400" dirty="0">
                <a:solidFill>
                  <a:srgbClr val="56657B"/>
                </a:solidFill>
                <a:latin typeface="Segoe UI" pitchFamily="34" charset="0"/>
                <a:ea typeface="Segoe UI" pitchFamily="34" charset="-122"/>
                <a:cs typeface="Segoe UI" pitchFamily="34" charset="-120"/>
              </a:rPr>
              <a:t>Untested = not assessed. Never treat a high total as an accuracy guarantee.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3017520" cy="292608"/>
          </a:xfrm>
          <a:prstGeom prst="roundRect">
            <a:avLst>
              <a:gd name="adj" fmla="val 50000"/>
            </a:avLst>
          </a:prstGeom>
          <a:solidFill>
            <a:srgbClr val="F3EFFE"/>
          </a:solidFill>
          <a:ln w="8890">
            <a:solidFill>
              <a:srgbClr val="F3EFFE"/>
            </a:solidFill>
            <a:prstDash val="solid"/>
          </a:ln>
        </p:spPr>
        <p:txBody>
          <a:bodyPr/>
          <a:lstStyle/>
          <a:p>
            <a:endParaRPr lang="en-US"/>
          </a:p>
        </p:txBody>
      </p:sp>
      <p:sp>
        <p:nvSpPr>
          <p:cNvPr id="3" name="Text 1"/>
          <p:cNvSpPr/>
          <p:nvPr/>
        </p:nvSpPr>
        <p:spPr>
          <a:xfrm>
            <a:off x="658368" y="320040"/>
            <a:ext cx="2798064" cy="292608"/>
          </a:xfrm>
          <a:prstGeom prst="rect">
            <a:avLst/>
          </a:prstGeom>
          <a:noFill/>
          <a:ln/>
        </p:spPr>
        <p:txBody>
          <a:bodyPr wrap="square" lIns="0" tIns="0" rIns="0" bIns="0" rtlCol="0" anchor="ctr"/>
          <a:lstStyle/>
          <a:p>
            <a:pPr marL="0" indent="0">
              <a:buNone/>
            </a:pPr>
            <a:r>
              <a:rPr lang="en-US" sz="1000" b="1" dirty="0">
                <a:solidFill>
                  <a:srgbClr val="7655D6"/>
                </a:solidFill>
                <a:latin typeface="Segoe UI" pitchFamily="34" charset="0"/>
                <a:ea typeface="Segoe UI" pitchFamily="34" charset="-122"/>
                <a:cs typeface="Segoe UI" pitchFamily="34" charset="-120"/>
              </a:rPr>
              <a:t>02 | ASSESS</a:t>
            </a:r>
            <a:endParaRPr lang="en-US" sz="1000" dirty="0"/>
          </a:p>
        </p:txBody>
      </p:sp>
      <p:sp>
        <p:nvSpPr>
          <p:cNvPr id="4" name="Text 2"/>
          <p:cNvSpPr/>
          <p:nvPr/>
        </p:nvSpPr>
        <p:spPr>
          <a:xfrm>
            <a:off x="9582912" y="320040"/>
            <a:ext cx="2057400" cy="292608"/>
          </a:xfrm>
          <a:prstGeom prst="rect">
            <a:avLst/>
          </a:prstGeom>
          <a:noFill/>
          <a:ln/>
        </p:spPr>
        <p:txBody>
          <a:bodyPr wrap="square" lIns="0" tIns="0" rIns="0" bIns="0" rtlCol="0" anchor="ctr"/>
          <a:lstStyle/>
          <a:p>
            <a:pPr marL="0" indent="0" algn="r">
              <a:buNone/>
            </a:pPr>
            <a:r>
              <a:rPr lang="en-US" sz="1100" dirty="0">
                <a:solidFill>
                  <a:srgbClr val="56657B"/>
                </a:solidFill>
                <a:latin typeface="Segoe UI" pitchFamily="34" charset="0"/>
                <a:ea typeface="Segoe UI" pitchFamily="34" charset="-122"/>
                <a:cs typeface="Segoe UI" pitchFamily="34" charset="-120"/>
              </a:rPr>
              <a:t>10-25 minutes</a:t>
            </a:r>
            <a:endParaRPr lang="en-US" sz="1100" dirty="0"/>
          </a:p>
        </p:txBody>
      </p:sp>
      <p:sp>
        <p:nvSpPr>
          <p:cNvPr id="5" name="Text 3"/>
          <p:cNvSpPr/>
          <p:nvPr/>
        </p:nvSpPr>
        <p:spPr>
          <a:xfrm>
            <a:off x="548640" y="877824"/>
            <a:ext cx="11064240" cy="621792"/>
          </a:xfrm>
          <a:prstGeom prst="rect">
            <a:avLst/>
          </a:prstGeom>
          <a:noFill/>
          <a:ln/>
        </p:spPr>
        <p:txBody>
          <a:bodyPr wrap="square" lIns="0" tIns="0" rIns="0" bIns="0" rtlCol="0" anchor="ctr"/>
          <a:lstStyle/>
          <a:p>
            <a:pPr marL="0" indent="0">
              <a:buNone/>
            </a:pPr>
            <a:r>
              <a:rPr lang="en-US" sz="3200" b="1" dirty="0">
                <a:solidFill>
                  <a:srgbClr val="17233C"/>
                </a:solidFill>
                <a:latin typeface="Segoe UI" pitchFamily="34" charset="0"/>
                <a:ea typeface="Segoe UI" pitchFamily="34" charset="-122"/>
                <a:cs typeface="Segoe UI" pitchFamily="34" charset="-120"/>
              </a:rPr>
              <a:t>Live demo: ask the agent to assess, not to guess</a:t>
            </a:r>
            <a:endParaRPr lang="en-US" sz="3200" dirty="0"/>
          </a:p>
        </p:txBody>
      </p:sp>
      <p:sp>
        <p:nvSpPr>
          <p:cNvPr id="6" name="Text 4"/>
          <p:cNvSpPr/>
          <p:nvPr/>
        </p:nvSpPr>
        <p:spPr>
          <a:xfrm>
            <a:off x="566928" y="1581912"/>
            <a:ext cx="10927080" cy="502920"/>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Start read-only. Turn metadata and question failures into an actionable backlog.</a:t>
            </a:r>
            <a:endParaRPr lang="en-US" sz="1500" dirty="0"/>
          </a:p>
        </p:txBody>
      </p:sp>
      <p:sp>
        <p:nvSpPr>
          <p:cNvPr id="7" name="Text 5"/>
          <p:cNvSpPr/>
          <p:nvPr/>
        </p:nvSpPr>
        <p:spPr>
          <a:xfrm>
            <a:off x="548640" y="6483096"/>
            <a:ext cx="4572000" cy="182880"/>
          </a:xfrm>
          <a:prstGeom prst="rect">
            <a:avLst/>
          </a:prstGeom>
          <a:noFill/>
          <a:ln/>
        </p:spPr>
        <p:txBody>
          <a:bodyPr wrap="square" lIns="0" tIns="0" rIns="0" bIns="0" rtlCol="0" anchor="ctr"/>
          <a:lstStyle/>
          <a:p>
            <a:pPr marL="0" indent="0">
              <a:buNone/>
            </a:pPr>
            <a:r>
              <a:rPr lang="en-US" sz="900" b="1" dirty="0">
                <a:solidFill>
                  <a:srgbClr val="56657B"/>
                </a:solidFill>
                <a:latin typeface="Segoe UI" pitchFamily="34" charset="0"/>
                <a:ea typeface="Segoe UI" pitchFamily="34" charset="-122"/>
                <a:cs typeface="Segoe UI" pitchFamily="34" charset="-120"/>
              </a:rPr>
              <a:t>TALK TO YOUR INSURANCE DATA</a:t>
            </a:r>
            <a:endParaRPr lang="en-US" sz="900" dirty="0"/>
          </a:p>
        </p:txBody>
      </p:sp>
      <p:sp>
        <p:nvSpPr>
          <p:cNvPr id="8" name="Text 6">
            <a:hlinkClick r:id="rId3"/>
          </p:cNvPr>
          <p:cNvSpPr/>
          <p:nvPr/>
        </p:nvSpPr>
        <p:spPr>
          <a:xfrm>
            <a:off x="8138160" y="6464808"/>
            <a:ext cx="2651760" cy="201168"/>
          </a:xfrm>
          <a:prstGeom prst="rect">
            <a:avLst/>
          </a:prstGeom>
          <a:noFill/>
          <a:ln/>
        </p:spPr>
        <p:txBody>
          <a:bodyPr wrap="square" lIns="0" tIns="0" rIns="0" bIns="0" rtlCol="0" anchor="ctr"/>
          <a:lstStyle/>
          <a:p>
            <a:pPr marL="0" indent="0" algn="r">
              <a:buNone/>
            </a:pPr>
            <a:r>
              <a:rPr lang="en-US" sz="900" u="sng" dirty="0">
                <a:solidFill>
                  <a:srgbClr val="56657B"/>
                </a:solidFill>
                <a:latin typeface="Segoe UI" pitchFamily="34" charset="0"/>
                <a:ea typeface="Segoe UI" pitchFamily="34" charset="-122"/>
                <a:cs typeface="Segoe UI" pitchFamily="34" charset="-120"/>
                <a:hlinkClick r:id="rId3">
                  <a:extLst>
                    <a:ext uri="{A12FA001-AC4F-418D-AE19-62706E023703}">
                      <ahyp:hlinkClr xmlns:ahyp="http://schemas.microsoft.com/office/drawing/2018/hyperlinkcolor" val="tx"/>
                    </a:ext>
                  </a:extLst>
                </a:hlinkClick>
              </a:rPr>
              <a:t>Microsoft Learn | source</a:t>
            </a:r>
            <a:endParaRPr lang="en-US" sz="900" dirty="0"/>
          </a:p>
        </p:txBody>
      </p:sp>
      <p:sp>
        <p:nvSpPr>
          <p:cNvPr id="9" name="Text 7"/>
          <p:cNvSpPr/>
          <p:nvPr/>
        </p:nvSpPr>
        <p:spPr>
          <a:xfrm>
            <a:off x="11082528" y="6437376"/>
            <a:ext cx="548640" cy="228600"/>
          </a:xfrm>
          <a:prstGeom prst="rect">
            <a:avLst/>
          </a:prstGeom>
          <a:noFill/>
          <a:ln/>
        </p:spPr>
        <p:txBody>
          <a:bodyPr wrap="square" lIns="0" tIns="0" rIns="0" bIns="0" rtlCol="0" anchor="ctr"/>
          <a:lstStyle/>
          <a:p>
            <a:pPr marL="0" indent="0" algn="r">
              <a:buNone/>
            </a:pPr>
            <a:r>
              <a:rPr lang="en-US" sz="1000" b="1" dirty="0">
                <a:solidFill>
                  <a:srgbClr val="7655D6"/>
                </a:solidFill>
                <a:latin typeface="Segoe UI" pitchFamily="34" charset="0"/>
                <a:ea typeface="Segoe UI" pitchFamily="34" charset="-122"/>
                <a:cs typeface="Segoe UI" pitchFamily="34" charset="-120"/>
              </a:rPr>
              <a:t>08</a:t>
            </a:r>
            <a:endParaRPr lang="en-US" sz="1000" dirty="0"/>
          </a:p>
        </p:txBody>
      </p:sp>
      <p:sp>
        <p:nvSpPr>
          <p:cNvPr id="10" name="Shape 8"/>
          <p:cNvSpPr/>
          <p:nvPr/>
        </p:nvSpPr>
        <p:spPr>
          <a:xfrm>
            <a:off x="603504" y="2414016"/>
            <a:ext cx="438912" cy="438912"/>
          </a:xfrm>
          <a:prstGeom prst="ellipse">
            <a:avLst/>
          </a:prstGeom>
          <a:solidFill>
            <a:srgbClr val="2563EB"/>
          </a:solidFill>
          <a:ln w="12700">
            <a:solidFill>
              <a:srgbClr val="2563EB"/>
            </a:solidFill>
            <a:prstDash val="solid"/>
          </a:ln>
        </p:spPr>
        <p:txBody>
          <a:bodyPr/>
          <a:lstStyle/>
          <a:p>
            <a:endParaRPr lang="en-US"/>
          </a:p>
        </p:txBody>
      </p:sp>
      <p:sp>
        <p:nvSpPr>
          <p:cNvPr id="11" name="Text 9"/>
          <p:cNvSpPr/>
          <p:nvPr/>
        </p:nvSpPr>
        <p:spPr>
          <a:xfrm>
            <a:off x="603504" y="2414016"/>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12" name="Text 10"/>
          <p:cNvSpPr/>
          <p:nvPr/>
        </p:nvSpPr>
        <p:spPr>
          <a:xfrm>
            <a:off x="1271016" y="2295144"/>
            <a:ext cx="3931920" cy="329184"/>
          </a:xfrm>
          <a:prstGeom prst="rect">
            <a:avLst/>
          </a:prstGeom>
          <a:noFill/>
          <a:ln/>
        </p:spPr>
        <p:txBody>
          <a:bodyPr wrap="square" lIns="0" tIns="0" rIns="0" bIns="0" rtlCol="0" anchor="ctr"/>
          <a:lstStyle/>
          <a:p>
            <a:pPr marL="0" indent="0">
              <a:buNone/>
            </a:pPr>
            <a:r>
              <a:rPr lang="en-US" sz="2100" b="1" dirty="0">
                <a:solidFill>
                  <a:srgbClr val="17233C"/>
                </a:solidFill>
                <a:latin typeface="Segoe UI" pitchFamily="34" charset="0"/>
                <a:ea typeface="Segoe UI" pitchFamily="34" charset="-122"/>
                <a:cs typeface="Segoe UI" pitchFamily="34" charset="-120"/>
              </a:rPr>
              <a:t>Inspect</a:t>
            </a:r>
            <a:endParaRPr lang="en-US" sz="2100" dirty="0"/>
          </a:p>
        </p:txBody>
      </p:sp>
      <p:sp>
        <p:nvSpPr>
          <p:cNvPr id="13" name="Text 11"/>
          <p:cNvSpPr/>
          <p:nvPr/>
        </p:nvSpPr>
        <p:spPr>
          <a:xfrm>
            <a:off x="1271016" y="2697480"/>
            <a:ext cx="4206240" cy="466344"/>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Names, descriptions, DAX, relationships,</a:t>
            </a:r>
            <a:endParaRPr lang="en-US" sz="1500" dirty="0"/>
          </a:p>
          <a:p>
            <a:pPr marL="0" indent="0">
              <a:buNone/>
            </a:pPr>
            <a:r>
              <a:rPr lang="en-US" sz="1500" dirty="0">
                <a:solidFill>
                  <a:srgbClr val="56657B"/>
                </a:solidFill>
                <a:latin typeface="Segoe UI" pitchFamily="34" charset="0"/>
                <a:ea typeface="Segoe UI" pitchFamily="34" charset="-122"/>
                <a:cs typeface="Segoe UI" pitchFamily="34" charset="-120"/>
              </a:rPr>
              <a:t>date roles and accessible AI settings.</a:t>
            </a:r>
            <a:endParaRPr lang="en-US" sz="1500" dirty="0"/>
          </a:p>
        </p:txBody>
      </p:sp>
      <p:sp>
        <p:nvSpPr>
          <p:cNvPr id="14" name="Shape 12"/>
          <p:cNvSpPr/>
          <p:nvPr/>
        </p:nvSpPr>
        <p:spPr>
          <a:xfrm>
            <a:off x="603504" y="3383280"/>
            <a:ext cx="438912" cy="438912"/>
          </a:xfrm>
          <a:prstGeom prst="ellipse">
            <a:avLst/>
          </a:prstGeom>
          <a:solidFill>
            <a:srgbClr val="7655D6"/>
          </a:solidFill>
          <a:ln w="12700">
            <a:solidFill>
              <a:srgbClr val="7655D6"/>
            </a:solidFill>
            <a:prstDash val="solid"/>
          </a:ln>
        </p:spPr>
        <p:txBody>
          <a:bodyPr/>
          <a:lstStyle/>
          <a:p>
            <a:endParaRPr lang="en-US"/>
          </a:p>
        </p:txBody>
      </p:sp>
      <p:sp>
        <p:nvSpPr>
          <p:cNvPr id="15" name="Text 13"/>
          <p:cNvSpPr/>
          <p:nvPr/>
        </p:nvSpPr>
        <p:spPr>
          <a:xfrm>
            <a:off x="603504" y="3383280"/>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16" name="Text 14"/>
          <p:cNvSpPr/>
          <p:nvPr/>
        </p:nvSpPr>
        <p:spPr>
          <a:xfrm>
            <a:off x="1271016" y="3264408"/>
            <a:ext cx="3931920" cy="329184"/>
          </a:xfrm>
          <a:prstGeom prst="rect">
            <a:avLst/>
          </a:prstGeom>
          <a:noFill/>
          <a:ln/>
        </p:spPr>
        <p:txBody>
          <a:bodyPr wrap="square" lIns="0" tIns="0" rIns="0" bIns="0" rtlCol="0" anchor="ctr"/>
          <a:lstStyle/>
          <a:p>
            <a:pPr marL="0" indent="0">
              <a:buNone/>
            </a:pPr>
            <a:r>
              <a:rPr lang="en-US" sz="2100" b="1" dirty="0">
                <a:solidFill>
                  <a:srgbClr val="17233C"/>
                </a:solidFill>
                <a:latin typeface="Segoe UI" pitchFamily="34" charset="0"/>
                <a:ea typeface="Segoe UI" pitchFamily="34" charset="-122"/>
                <a:cs typeface="Segoe UI" pitchFamily="34" charset="-120"/>
              </a:rPr>
              <a:t>Score</a:t>
            </a:r>
            <a:endParaRPr lang="en-US" sz="2100" dirty="0"/>
          </a:p>
        </p:txBody>
      </p:sp>
      <p:sp>
        <p:nvSpPr>
          <p:cNvPr id="17" name="Text 15"/>
          <p:cNvSpPr/>
          <p:nvPr/>
        </p:nvSpPr>
        <p:spPr>
          <a:xfrm>
            <a:off x="1271016" y="3666744"/>
            <a:ext cx="4206240" cy="466344"/>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Apply the 0-2 rubric; attach evidence.</a:t>
            </a:r>
            <a:endParaRPr lang="en-US" sz="1500" dirty="0"/>
          </a:p>
          <a:p>
            <a:pPr marL="0" indent="0">
              <a:buNone/>
            </a:pPr>
            <a:r>
              <a:rPr lang="en-US" sz="1500" dirty="0">
                <a:solidFill>
                  <a:srgbClr val="56657B"/>
                </a:solidFill>
                <a:latin typeface="Segoe UI" pitchFamily="34" charset="0"/>
                <a:ea typeface="Segoe UI" pitchFamily="34" charset="-122"/>
                <a:cs typeface="Segoe UI" pitchFamily="34" charset="-120"/>
              </a:rPr>
              <a:t>Mark unavailable checks as not assessed.</a:t>
            </a:r>
            <a:endParaRPr lang="en-US" sz="1500" dirty="0"/>
          </a:p>
        </p:txBody>
      </p:sp>
      <p:sp>
        <p:nvSpPr>
          <p:cNvPr id="18" name="Shape 16"/>
          <p:cNvSpPr/>
          <p:nvPr/>
        </p:nvSpPr>
        <p:spPr>
          <a:xfrm>
            <a:off x="603504" y="4352544"/>
            <a:ext cx="438912" cy="438912"/>
          </a:xfrm>
          <a:prstGeom prst="ellipse">
            <a:avLst/>
          </a:prstGeom>
          <a:solidFill>
            <a:srgbClr val="138477"/>
          </a:solidFill>
          <a:ln w="12700">
            <a:solidFill>
              <a:srgbClr val="138477"/>
            </a:solidFill>
            <a:prstDash val="solid"/>
          </a:ln>
        </p:spPr>
        <p:txBody>
          <a:bodyPr/>
          <a:lstStyle/>
          <a:p>
            <a:endParaRPr lang="en-US"/>
          </a:p>
        </p:txBody>
      </p:sp>
      <p:sp>
        <p:nvSpPr>
          <p:cNvPr id="19" name="Text 17"/>
          <p:cNvSpPr/>
          <p:nvPr/>
        </p:nvSpPr>
        <p:spPr>
          <a:xfrm>
            <a:off x="603504" y="4352544"/>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20" name="Text 18"/>
          <p:cNvSpPr/>
          <p:nvPr/>
        </p:nvSpPr>
        <p:spPr>
          <a:xfrm>
            <a:off x="1271016" y="4233672"/>
            <a:ext cx="3931920" cy="329184"/>
          </a:xfrm>
          <a:prstGeom prst="rect">
            <a:avLst/>
          </a:prstGeom>
          <a:noFill/>
          <a:ln/>
        </p:spPr>
        <p:txBody>
          <a:bodyPr wrap="square" lIns="0" tIns="0" rIns="0" bIns="0" rtlCol="0" anchor="ctr"/>
          <a:lstStyle/>
          <a:p>
            <a:pPr marL="0" indent="0">
              <a:buNone/>
            </a:pPr>
            <a:r>
              <a:rPr lang="en-US" sz="2100" b="1" dirty="0">
                <a:solidFill>
                  <a:srgbClr val="17233C"/>
                </a:solidFill>
                <a:latin typeface="Segoe UI" pitchFamily="34" charset="0"/>
                <a:ea typeface="Segoe UI" pitchFamily="34" charset="-122"/>
                <a:cs typeface="Segoe UI" pitchFamily="34" charset="-120"/>
              </a:rPr>
              <a:t>Recommend</a:t>
            </a:r>
            <a:endParaRPr lang="en-US" sz="2100" dirty="0"/>
          </a:p>
        </p:txBody>
      </p:sp>
      <p:sp>
        <p:nvSpPr>
          <p:cNvPr id="21" name="Text 19"/>
          <p:cNvSpPr/>
          <p:nvPr/>
        </p:nvSpPr>
        <p:spPr>
          <a:xfrm>
            <a:off x="1271016" y="4636008"/>
            <a:ext cx="4206240" cy="466344"/>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Rank fixes by question impact and risk.</a:t>
            </a:r>
            <a:endParaRPr lang="en-US" sz="1500" dirty="0"/>
          </a:p>
          <a:p>
            <a:pPr marL="0" indent="0">
              <a:buNone/>
            </a:pPr>
            <a:r>
              <a:rPr lang="en-US" sz="1500" dirty="0">
                <a:solidFill>
                  <a:srgbClr val="56657B"/>
                </a:solidFill>
                <a:latin typeface="Segoe UI" pitchFamily="34" charset="0"/>
                <a:ea typeface="Segoe UI" pitchFamily="34" charset="-122"/>
                <a:cs typeface="Segoe UI" pitchFamily="34" charset="-120"/>
              </a:rPr>
              <a:t>Return an owner + acceptance test per fix.</a:t>
            </a:r>
            <a:endParaRPr lang="en-US" sz="1500" dirty="0"/>
          </a:p>
        </p:txBody>
      </p:sp>
      <p:sp>
        <p:nvSpPr>
          <p:cNvPr id="22" name="Shape 20"/>
          <p:cNvSpPr/>
          <p:nvPr/>
        </p:nvSpPr>
        <p:spPr>
          <a:xfrm>
            <a:off x="5961888" y="2267712"/>
            <a:ext cx="5650992" cy="3118104"/>
          </a:xfrm>
          <a:prstGeom prst="roundRect">
            <a:avLst>
              <a:gd name="adj" fmla="val 4692"/>
            </a:avLst>
          </a:prstGeom>
          <a:solidFill>
            <a:srgbClr val="F5F7FB"/>
          </a:solidFill>
          <a:ln w="8890">
            <a:solidFill>
              <a:srgbClr val="F5F7FB"/>
            </a:solidFill>
            <a:prstDash val="solid"/>
          </a:ln>
        </p:spPr>
        <p:txBody>
          <a:bodyPr/>
          <a:lstStyle/>
          <a:p>
            <a:endParaRPr lang="en-US"/>
          </a:p>
        </p:txBody>
      </p:sp>
      <p:sp>
        <p:nvSpPr>
          <p:cNvPr id="23" name="Text 21"/>
          <p:cNvSpPr/>
          <p:nvPr/>
        </p:nvSpPr>
        <p:spPr>
          <a:xfrm>
            <a:off x="6181344" y="2496312"/>
            <a:ext cx="5212080" cy="438912"/>
          </a:xfrm>
          <a:prstGeom prst="rect">
            <a:avLst/>
          </a:prstGeom>
          <a:noFill/>
          <a:ln/>
        </p:spPr>
        <p:txBody>
          <a:bodyPr wrap="square" lIns="0" tIns="0" rIns="0" bIns="0" rtlCol="0" anchor="ctr"/>
          <a:lstStyle/>
          <a:p>
            <a:pPr marL="0" indent="0">
              <a:buNone/>
            </a:pPr>
            <a:r>
              <a:rPr lang="en-US" sz="2100" b="1" dirty="0">
                <a:solidFill>
                  <a:srgbClr val="17233C"/>
                </a:solidFill>
                <a:latin typeface="Segoe UI" pitchFamily="34" charset="0"/>
                <a:ea typeface="Segoe UI" pitchFamily="34" charset="-122"/>
                <a:cs typeface="Segoe UI" pitchFamily="34" charset="-120"/>
              </a:rPr>
              <a:t>Inspect the model-level AI context</a:t>
            </a:r>
            <a:endParaRPr lang="en-US" sz="2100" dirty="0"/>
          </a:p>
        </p:txBody>
      </p:sp>
      <p:pic>
        <p:nvPicPr>
          <p:cNvPr id="24" name="Image 0" descr="C:\Users\amolmanocha\.scout\copilot\session-state\afe90b7c-2043-402c-a646-d0ac16db2852\files\ai-data-schema-detail.png"/>
          <p:cNvPicPr>
            <a:picLocks noChangeAspect="1"/>
          </p:cNvPicPr>
          <p:nvPr/>
        </p:nvPicPr>
        <p:blipFill>
          <a:blip r:embed="rId4"/>
          <a:stretch>
            <a:fillRect/>
          </a:stretch>
        </p:blipFill>
        <p:spPr>
          <a:xfrm>
            <a:off x="6181344" y="3035808"/>
            <a:ext cx="2505456" cy="2063966"/>
          </a:xfrm>
          <a:prstGeom prst="rect">
            <a:avLst/>
          </a:prstGeom>
        </p:spPr>
      </p:pic>
      <p:sp>
        <p:nvSpPr>
          <p:cNvPr id="25" name="Text 22"/>
          <p:cNvSpPr/>
          <p:nvPr/>
        </p:nvSpPr>
        <p:spPr>
          <a:xfrm>
            <a:off x="9061704" y="3209544"/>
            <a:ext cx="2212848" cy="1627632"/>
          </a:xfrm>
          <a:prstGeom prst="rect">
            <a:avLst/>
          </a:prstGeom>
          <a:noFill/>
          <a:ln/>
        </p:spPr>
        <p:txBody>
          <a:bodyPr wrap="square" lIns="0" tIns="0" rIns="0" bIns="0" rtlCol="0" anchor="ctr"/>
          <a:lstStyle/>
          <a:p>
            <a:pPr marL="0" indent="0">
              <a:buNone/>
            </a:pPr>
            <a:r>
              <a:rPr lang="en-US" sz="1700" dirty="0">
                <a:solidFill>
                  <a:srgbClr val="56657B"/>
                </a:solidFill>
                <a:latin typeface="Segoe UI" pitchFamily="34" charset="0"/>
                <a:ea typeface="Segoe UI" pitchFamily="34" charset="-122"/>
                <a:cs typeface="Segoe UI" pitchFamily="34" charset="-120"/>
              </a:rPr>
              <a:t>Curate relevant</a:t>
            </a:r>
            <a:endParaRPr lang="en-US" sz="1700" dirty="0"/>
          </a:p>
          <a:p>
            <a:pPr marL="0" indent="0">
              <a:buNone/>
            </a:pPr>
            <a:r>
              <a:rPr lang="en-US" sz="1700" dirty="0">
                <a:solidFill>
                  <a:srgbClr val="56657B"/>
                </a:solidFill>
                <a:latin typeface="Segoe UI" pitchFamily="34" charset="0"/>
                <a:ea typeface="Segoe UI" pitchFamily="34" charset="-122"/>
                <a:cs typeface="Segoe UI" pitchFamily="34" charset="-120"/>
              </a:rPr>
              <a:t>tables and fields.</a:t>
            </a:r>
            <a:endParaRPr lang="en-US" sz="1700" dirty="0"/>
          </a:p>
          <a:p>
            <a:pPr marL="0" indent="0">
              <a:buNone/>
            </a:pPr>
            <a:endParaRPr lang="en-US" sz="1700" dirty="0"/>
          </a:p>
          <a:p>
            <a:pPr marL="0" indent="0">
              <a:buNone/>
            </a:pPr>
            <a:r>
              <a:rPr lang="en-US" sz="1700" dirty="0">
                <a:solidFill>
                  <a:srgbClr val="56657B"/>
                </a:solidFill>
                <a:latin typeface="Segoe UI" pitchFamily="34" charset="0"/>
                <a:ea typeface="Segoe UI" pitchFamily="34" charset="-122"/>
                <a:cs typeface="Segoe UI" pitchFamily="34" charset="-120"/>
              </a:rPr>
              <a:t>Include measure</a:t>
            </a:r>
            <a:endParaRPr lang="en-US" sz="1700" dirty="0"/>
          </a:p>
          <a:p>
            <a:pPr marL="0" indent="0">
              <a:buNone/>
            </a:pPr>
            <a:r>
              <a:rPr lang="en-US" sz="1700" dirty="0">
                <a:solidFill>
                  <a:srgbClr val="56657B"/>
                </a:solidFill>
                <a:latin typeface="Segoe UI" pitchFamily="34" charset="0"/>
                <a:ea typeface="Segoe UI" pitchFamily="34" charset="-122"/>
                <a:cs typeface="Segoe UI" pitchFamily="34" charset="-120"/>
              </a:rPr>
              <a:t>dependencies.</a:t>
            </a:r>
            <a:endParaRPr lang="en-US" sz="1700" dirty="0"/>
          </a:p>
        </p:txBody>
      </p:sp>
      <p:sp>
        <p:nvSpPr>
          <p:cNvPr id="26" name="Text 23"/>
          <p:cNvSpPr/>
          <p:nvPr/>
        </p:nvSpPr>
        <p:spPr>
          <a:xfrm>
            <a:off x="6181344" y="5175504"/>
            <a:ext cx="5212080" cy="192024"/>
          </a:xfrm>
          <a:prstGeom prst="rect">
            <a:avLst/>
          </a:prstGeom>
          <a:noFill/>
          <a:ln/>
        </p:spPr>
        <p:txBody>
          <a:bodyPr wrap="square" lIns="0" tIns="0" rIns="0" bIns="0" rtlCol="0" anchor="ctr"/>
          <a:lstStyle/>
          <a:p>
            <a:pPr marL="0" indent="0">
              <a:buNone/>
            </a:pPr>
            <a:r>
              <a:rPr lang="en-US" sz="1000" dirty="0">
                <a:solidFill>
                  <a:srgbClr val="56657B"/>
                </a:solidFill>
                <a:latin typeface="Segoe UI" pitchFamily="34" charset="0"/>
                <a:ea typeface="Segoe UI" pitchFamily="34" charset="-122"/>
                <a:cs typeface="Segoe UI" pitchFamily="34" charset="-120"/>
              </a:rPr>
              <a:t>Microsoft Learn example (retail model) | AI schema selection</a:t>
            </a:r>
            <a:endParaRPr lang="en-US" sz="1000" dirty="0"/>
          </a:p>
        </p:txBody>
      </p:sp>
      <p:sp>
        <p:nvSpPr>
          <p:cNvPr id="27" name="Shape 24"/>
          <p:cNvSpPr/>
          <p:nvPr/>
        </p:nvSpPr>
        <p:spPr>
          <a:xfrm>
            <a:off x="548640" y="5715000"/>
            <a:ext cx="11064240" cy="484632"/>
          </a:xfrm>
          <a:prstGeom prst="roundRect">
            <a:avLst>
              <a:gd name="adj" fmla="val 30189"/>
            </a:avLst>
          </a:prstGeom>
          <a:solidFill>
            <a:srgbClr val="EDF3FF"/>
          </a:solidFill>
          <a:ln w="8890">
            <a:solidFill>
              <a:srgbClr val="EDF3FF"/>
            </a:solidFill>
            <a:prstDash val="solid"/>
          </a:ln>
        </p:spPr>
        <p:txBody>
          <a:bodyPr/>
          <a:lstStyle/>
          <a:p>
            <a:endParaRPr lang="en-US"/>
          </a:p>
        </p:txBody>
      </p:sp>
      <p:sp>
        <p:nvSpPr>
          <p:cNvPr id="28" name="Text 25"/>
          <p:cNvSpPr/>
          <p:nvPr/>
        </p:nvSpPr>
        <p:spPr>
          <a:xfrm>
            <a:off x="758952" y="5788152"/>
            <a:ext cx="10643616" cy="329184"/>
          </a:xfrm>
          <a:prstGeom prst="rect">
            <a:avLst/>
          </a:prstGeom>
          <a:noFill/>
          <a:ln/>
        </p:spPr>
        <p:txBody>
          <a:bodyPr wrap="square" lIns="0" tIns="0" rIns="0" bIns="0" rtlCol="0" anchor="ctr"/>
          <a:lstStyle/>
          <a:p>
            <a:pPr marL="0" indent="0">
              <a:buNone/>
            </a:pPr>
            <a:r>
              <a:rPr lang="en-US" sz="1600" b="1" dirty="0">
                <a:solidFill>
                  <a:srgbClr val="2563EB"/>
                </a:solidFill>
                <a:latin typeface="Segoe UI" pitchFamily="34" charset="0"/>
                <a:ea typeface="Segoe UI" pitchFamily="34" charset="-122"/>
                <a:cs typeface="Segoe UI" pitchFamily="34" charset="-120"/>
              </a:rPr>
              <a:t>Deliverable: readiness scorecard + prioritized change plan + retest criteria</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3017520" cy="292608"/>
          </a:xfrm>
          <a:prstGeom prst="roundRect">
            <a:avLst>
              <a:gd name="adj" fmla="val 50000"/>
            </a:avLst>
          </a:prstGeom>
          <a:solidFill>
            <a:srgbClr val="F3EFFE"/>
          </a:solidFill>
          <a:ln w="8890">
            <a:solidFill>
              <a:srgbClr val="F3EFFE"/>
            </a:solidFill>
            <a:prstDash val="solid"/>
          </a:ln>
        </p:spPr>
        <p:txBody>
          <a:bodyPr/>
          <a:lstStyle/>
          <a:p>
            <a:endParaRPr lang="en-US"/>
          </a:p>
        </p:txBody>
      </p:sp>
      <p:sp>
        <p:nvSpPr>
          <p:cNvPr id="3" name="Text 1"/>
          <p:cNvSpPr/>
          <p:nvPr/>
        </p:nvSpPr>
        <p:spPr>
          <a:xfrm>
            <a:off x="658368" y="320040"/>
            <a:ext cx="2798064" cy="292608"/>
          </a:xfrm>
          <a:prstGeom prst="rect">
            <a:avLst/>
          </a:prstGeom>
          <a:noFill/>
          <a:ln/>
        </p:spPr>
        <p:txBody>
          <a:bodyPr wrap="square" lIns="0" tIns="0" rIns="0" bIns="0" rtlCol="0" anchor="ctr"/>
          <a:lstStyle/>
          <a:p>
            <a:pPr marL="0" indent="0">
              <a:buNone/>
            </a:pPr>
            <a:r>
              <a:rPr lang="en-US" sz="1000" b="1" dirty="0">
                <a:solidFill>
                  <a:srgbClr val="7655D6"/>
                </a:solidFill>
                <a:latin typeface="Segoe UI" pitchFamily="34" charset="0"/>
                <a:ea typeface="Segoe UI" pitchFamily="34" charset="-122"/>
                <a:cs typeface="Segoe UI" pitchFamily="34" charset="-120"/>
              </a:rPr>
              <a:t>03 | PRIORITIZE</a:t>
            </a:r>
            <a:endParaRPr lang="en-US" sz="1000" dirty="0"/>
          </a:p>
        </p:txBody>
      </p:sp>
      <p:sp>
        <p:nvSpPr>
          <p:cNvPr id="4" name="Text 2"/>
          <p:cNvSpPr/>
          <p:nvPr/>
        </p:nvSpPr>
        <p:spPr>
          <a:xfrm>
            <a:off x="9582912" y="320040"/>
            <a:ext cx="2057400" cy="292608"/>
          </a:xfrm>
          <a:prstGeom prst="rect">
            <a:avLst/>
          </a:prstGeom>
          <a:noFill/>
          <a:ln/>
        </p:spPr>
        <p:txBody>
          <a:bodyPr wrap="square" lIns="0" tIns="0" rIns="0" bIns="0" rtlCol="0" anchor="ctr"/>
          <a:lstStyle/>
          <a:p>
            <a:pPr marL="0" indent="0" algn="r">
              <a:buNone/>
            </a:pPr>
            <a:r>
              <a:rPr lang="en-US" sz="1100" dirty="0">
                <a:solidFill>
                  <a:srgbClr val="56657B"/>
                </a:solidFill>
                <a:latin typeface="Segoe UI" pitchFamily="34" charset="0"/>
                <a:ea typeface="Segoe UI" pitchFamily="34" charset="-122"/>
                <a:cs typeface="Segoe UI" pitchFamily="34" charset="-120"/>
              </a:rPr>
              <a:t>25-30 minutes</a:t>
            </a:r>
            <a:endParaRPr lang="en-US" sz="1100" dirty="0"/>
          </a:p>
        </p:txBody>
      </p:sp>
      <p:sp>
        <p:nvSpPr>
          <p:cNvPr id="5" name="Text 3"/>
          <p:cNvSpPr/>
          <p:nvPr/>
        </p:nvSpPr>
        <p:spPr>
          <a:xfrm>
            <a:off x="548640" y="877824"/>
            <a:ext cx="11064240" cy="621792"/>
          </a:xfrm>
          <a:prstGeom prst="rect">
            <a:avLst/>
          </a:prstGeom>
          <a:noFill/>
          <a:ln/>
        </p:spPr>
        <p:txBody>
          <a:bodyPr wrap="square" lIns="0" tIns="0" rIns="0" bIns="0" rtlCol="0" anchor="ctr"/>
          <a:lstStyle/>
          <a:p>
            <a:pPr marL="0" indent="0">
              <a:buNone/>
            </a:pPr>
            <a:r>
              <a:rPr lang="en-US" sz="3200" b="1" dirty="0">
                <a:solidFill>
                  <a:srgbClr val="17233C"/>
                </a:solidFill>
                <a:latin typeface="Segoe UI" pitchFamily="34" charset="0"/>
                <a:ea typeface="Segoe UI" pitchFamily="34" charset="-122"/>
                <a:cs typeface="Segoe UI" pitchFamily="34" charset="-120"/>
              </a:rPr>
              <a:t>Turn each finding into a business decision</a:t>
            </a:r>
            <a:endParaRPr lang="en-US" sz="3200" dirty="0"/>
          </a:p>
        </p:txBody>
      </p:sp>
      <p:sp>
        <p:nvSpPr>
          <p:cNvPr id="6" name="Text 4"/>
          <p:cNvSpPr/>
          <p:nvPr/>
        </p:nvSpPr>
        <p:spPr>
          <a:xfrm>
            <a:off x="566928" y="1581912"/>
            <a:ext cx="10927080" cy="502920"/>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Illustrative findings: confirm them against the live scorecard before approving edits.</a:t>
            </a:r>
            <a:endParaRPr lang="en-US" sz="1500" dirty="0"/>
          </a:p>
        </p:txBody>
      </p:sp>
      <p:sp>
        <p:nvSpPr>
          <p:cNvPr id="7" name="Text 5"/>
          <p:cNvSpPr/>
          <p:nvPr/>
        </p:nvSpPr>
        <p:spPr>
          <a:xfrm>
            <a:off x="548640" y="6483096"/>
            <a:ext cx="4572000" cy="182880"/>
          </a:xfrm>
          <a:prstGeom prst="rect">
            <a:avLst/>
          </a:prstGeom>
          <a:noFill/>
          <a:ln/>
        </p:spPr>
        <p:txBody>
          <a:bodyPr wrap="square" lIns="0" tIns="0" rIns="0" bIns="0" rtlCol="0" anchor="ctr"/>
          <a:lstStyle/>
          <a:p>
            <a:pPr marL="0" indent="0">
              <a:buNone/>
            </a:pPr>
            <a:r>
              <a:rPr lang="en-US" sz="900" b="1" dirty="0">
                <a:solidFill>
                  <a:srgbClr val="56657B"/>
                </a:solidFill>
                <a:latin typeface="Segoe UI" pitchFamily="34" charset="0"/>
                <a:ea typeface="Segoe UI" pitchFamily="34" charset="-122"/>
                <a:cs typeface="Segoe UI" pitchFamily="34" charset="-120"/>
              </a:rPr>
              <a:t>TALK TO YOUR INSURANCE DATA</a:t>
            </a:r>
            <a:endParaRPr lang="en-US" sz="900" dirty="0"/>
          </a:p>
        </p:txBody>
      </p:sp>
      <p:sp>
        <p:nvSpPr>
          <p:cNvPr id="8" name="Text 6"/>
          <p:cNvSpPr/>
          <p:nvPr/>
        </p:nvSpPr>
        <p:spPr>
          <a:xfrm>
            <a:off x="11082528" y="6437376"/>
            <a:ext cx="548640" cy="228600"/>
          </a:xfrm>
          <a:prstGeom prst="rect">
            <a:avLst/>
          </a:prstGeom>
          <a:noFill/>
          <a:ln/>
        </p:spPr>
        <p:txBody>
          <a:bodyPr wrap="square" lIns="0" tIns="0" rIns="0" bIns="0" rtlCol="0" anchor="ctr"/>
          <a:lstStyle/>
          <a:p>
            <a:pPr marL="0" indent="0" algn="r">
              <a:buNone/>
            </a:pPr>
            <a:r>
              <a:rPr lang="en-US" sz="1000" b="1" dirty="0">
                <a:solidFill>
                  <a:srgbClr val="7655D6"/>
                </a:solidFill>
                <a:latin typeface="Segoe UI" pitchFamily="34" charset="0"/>
                <a:ea typeface="Segoe UI" pitchFamily="34" charset="-122"/>
                <a:cs typeface="Segoe UI" pitchFamily="34" charset="-120"/>
              </a:rPr>
              <a:t>09</a:t>
            </a:r>
            <a:endParaRPr lang="en-US" sz="1000" dirty="0"/>
          </a:p>
        </p:txBody>
      </p:sp>
      <p:sp>
        <p:nvSpPr>
          <p:cNvPr id="9" name="Shape 7"/>
          <p:cNvSpPr/>
          <p:nvPr/>
        </p:nvSpPr>
        <p:spPr>
          <a:xfrm>
            <a:off x="548640" y="2286000"/>
            <a:ext cx="3502152" cy="3090672"/>
          </a:xfrm>
          <a:prstGeom prst="roundRect">
            <a:avLst>
              <a:gd name="adj" fmla="val 4734"/>
            </a:avLst>
          </a:prstGeom>
          <a:solidFill>
            <a:srgbClr val="EDF3FF"/>
          </a:solidFill>
          <a:ln w="8890">
            <a:solidFill>
              <a:srgbClr val="EDF3FF"/>
            </a:solidFill>
            <a:prstDash val="solid"/>
          </a:ln>
        </p:spPr>
        <p:txBody>
          <a:bodyPr/>
          <a:lstStyle/>
          <a:p>
            <a:endParaRPr lang="en-US"/>
          </a:p>
        </p:txBody>
      </p:sp>
      <p:sp>
        <p:nvSpPr>
          <p:cNvPr id="10" name="Shape 8"/>
          <p:cNvSpPr/>
          <p:nvPr/>
        </p:nvSpPr>
        <p:spPr>
          <a:xfrm>
            <a:off x="758952" y="2505456"/>
            <a:ext cx="3081528" cy="292608"/>
          </a:xfrm>
          <a:prstGeom prst="roundRect">
            <a:avLst>
              <a:gd name="adj" fmla="val 50000"/>
            </a:avLst>
          </a:prstGeom>
          <a:solidFill>
            <a:srgbClr val="FFFFFF"/>
          </a:solidFill>
          <a:ln w="8890">
            <a:solidFill>
              <a:srgbClr val="FFFFFF"/>
            </a:solidFill>
            <a:prstDash val="solid"/>
          </a:ln>
        </p:spPr>
        <p:txBody>
          <a:bodyPr/>
          <a:lstStyle/>
          <a:p>
            <a:endParaRPr lang="en-US"/>
          </a:p>
        </p:txBody>
      </p:sp>
      <p:sp>
        <p:nvSpPr>
          <p:cNvPr id="11" name="Text 9"/>
          <p:cNvSpPr/>
          <p:nvPr/>
        </p:nvSpPr>
        <p:spPr>
          <a:xfrm>
            <a:off x="868680" y="2505456"/>
            <a:ext cx="2862072" cy="292608"/>
          </a:xfrm>
          <a:prstGeom prst="rect">
            <a:avLst/>
          </a:prstGeom>
          <a:noFill/>
          <a:ln/>
        </p:spPr>
        <p:txBody>
          <a:bodyPr wrap="square" lIns="0" tIns="0" rIns="0" bIns="0" rtlCol="0" anchor="ctr"/>
          <a:lstStyle/>
          <a:p>
            <a:pPr marL="0" indent="0">
              <a:buNone/>
            </a:pPr>
            <a:r>
              <a:rPr lang="en-US" sz="1000" b="1" dirty="0">
                <a:solidFill>
                  <a:srgbClr val="2563EB"/>
                </a:solidFill>
                <a:latin typeface="Segoe UI" pitchFamily="34" charset="0"/>
                <a:ea typeface="Segoe UI" pitchFamily="34" charset="-122"/>
                <a:cs typeface="Segoe UI" pitchFamily="34" charset="-120"/>
              </a:rPr>
              <a:t>TERMINOLOGY</a:t>
            </a:r>
            <a:endParaRPr lang="en-US" sz="1000" dirty="0"/>
          </a:p>
        </p:txBody>
      </p:sp>
      <p:sp>
        <p:nvSpPr>
          <p:cNvPr id="12" name="Text 10"/>
          <p:cNvSpPr/>
          <p:nvPr/>
        </p:nvSpPr>
        <p:spPr>
          <a:xfrm>
            <a:off x="758952" y="3099816"/>
            <a:ext cx="3081528" cy="731520"/>
          </a:xfrm>
          <a:prstGeom prst="rect">
            <a:avLst/>
          </a:prstGeom>
          <a:noFill/>
          <a:ln/>
        </p:spPr>
        <p:txBody>
          <a:bodyPr wrap="square" lIns="0" tIns="0" rIns="0" bIns="0" rtlCol="0" anchor="ctr"/>
          <a:lstStyle/>
          <a:p>
            <a:pPr marL="0" indent="0">
              <a:buNone/>
            </a:pPr>
            <a:r>
              <a:rPr lang="en-US" sz="2400" b="1" dirty="0">
                <a:solidFill>
                  <a:srgbClr val="17233C"/>
                </a:solidFill>
                <a:latin typeface="Segoe UI" pitchFamily="34" charset="0"/>
                <a:ea typeface="Segoe UI" pitchFamily="34" charset="-122"/>
                <a:cs typeface="Segoe UI" pitchFamily="34" charset="-120"/>
              </a:rPr>
              <a:t>"Active" is ambiguous</a:t>
            </a:r>
            <a:endParaRPr lang="en-US" sz="2400" dirty="0"/>
          </a:p>
        </p:txBody>
      </p:sp>
      <p:sp>
        <p:nvSpPr>
          <p:cNvPr id="13" name="Text 11"/>
          <p:cNvSpPr/>
          <p:nvPr/>
        </p:nvSpPr>
        <p:spPr>
          <a:xfrm>
            <a:off x="758952" y="4023360"/>
            <a:ext cx="3081528" cy="786384"/>
          </a:xfrm>
          <a:prstGeom prst="rect">
            <a:avLst/>
          </a:prstGeom>
          <a:noFill/>
          <a:ln/>
        </p:spPr>
        <p:txBody>
          <a:bodyPr wrap="square" lIns="0" tIns="0" rIns="0" bIns="0" rtlCol="0" anchor="ctr"/>
          <a:lstStyle/>
          <a:p>
            <a:pPr marL="0" indent="0">
              <a:buNone/>
            </a:pPr>
            <a:r>
              <a:rPr lang="en-US" sz="1700" dirty="0">
                <a:solidFill>
                  <a:srgbClr val="56657B"/>
                </a:solidFill>
                <a:latin typeface="Segoe UI" pitchFamily="34" charset="0"/>
                <a:ea typeface="Segoe UI" pitchFamily="34" charset="-122"/>
                <a:cs typeface="Segoe UI" pitchFamily="34" charset="-120"/>
              </a:rPr>
              <a:t>Decide what qualifies as in force</a:t>
            </a:r>
            <a:endParaRPr lang="en-US" sz="1700" dirty="0"/>
          </a:p>
          <a:p>
            <a:pPr marL="0" indent="0">
              <a:buNone/>
            </a:pPr>
            <a:r>
              <a:rPr lang="en-US" sz="1700" dirty="0">
                <a:solidFill>
                  <a:srgbClr val="56657B"/>
                </a:solidFill>
                <a:latin typeface="Segoe UI" pitchFamily="34" charset="0"/>
                <a:ea typeface="Segoe UI" pitchFamily="34" charset="-122"/>
                <a:cs typeface="Segoe UI" pitchFamily="34" charset="-120"/>
              </a:rPr>
              <a:t>at a specified snapshot date.</a:t>
            </a:r>
            <a:endParaRPr lang="en-US" sz="1700" dirty="0"/>
          </a:p>
        </p:txBody>
      </p:sp>
      <p:sp>
        <p:nvSpPr>
          <p:cNvPr id="14" name="Text 12"/>
          <p:cNvSpPr/>
          <p:nvPr/>
        </p:nvSpPr>
        <p:spPr>
          <a:xfrm>
            <a:off x="758952" y="5010912"/>
            <a:ext cx="3081528" cy="237744"/>
          </a:xfrm>
          <a:prstGeom prst="rect">
            <a:avLst/>
          </a:prstGeom>
          <a:noFill/>
          <a:ln/>
        </p:spPr>
        <p:txBody>
          <a:bodyPr wrap="square" lIns="0" tIns="0" rIns="0" bIns="0" rtlCol="0" anchor="ctr"/>
          <a:lstStyle/>
          <a:p>
            <a:pPr marL="0" indent="0">
              <a:buNone/>
            </a:pPr>
            <a:r>
              <a:rPr lang="en-US" sz="1300" b="1" dirty="0">
                <a:solidFill>
                  <a:srgbClr val="2563EB"/>
                </a:solidFill>
                <a:latin typeface="Segoe UI" pitchFamily="34" charset="0"/>
                <a:ea typeface="Segoe UI" pitchFamily="34" charset="-122"/>
                <a:cs typeface="Segoe UI" pitchFamily="34" charset="-120"/>
              </a:rPr>
              <a:t>Owner: business SME</a:t>
            </a:r>
            <a:endParaRPr lang="en-US" sz="1300" dirty="0"/>
          </a:p>
        </p:txBody>
      </p:sp>
      <p:sp>
        <p:nvSpPr>
          <p:cNvPr id="15" name="Shape 13"/>
          <p:cNvSpPr/>
          <p:nvPr/>
        </p:nvSpPr>
        <p:spPr>
          <a:xfrm>
            <a:off x="4334256" y="2286000"/>
            <a:ext cx="3502152" cy="3090672"/>
          </a:xfrm>
          <a:prstGeom prst="roundRect">
            <a:avLst>
              <a:gd name="adj" fmla="val 4734"/>
            </a:avLst>
          </a:prstGeom>
          <a:solidFill>
            <a:srgbClr val="F3EFFE"/>
          </a:solidFill>
          <a:ln w="8890">
            <a:solidFill>
              <a:srgbClr val="F3EFFE"/>
            </a:solidFill>
            <a:prstDash val="solid"/>
          </a:ln>
        </p:spPr>
        <p:txBody>
          <a:bodyPr/>
          <a:lstStyle/>
          <a:p>
            <a:endParaRPr lang="en-US"/>
          </a:p>
        </p:txBody>
      </p:sp>
      <p:sp>
        <p:nvSpPr>
          <p:cNvPr id="16" name="Shape 14"/>
          <p:cNvSpPr/>
          <p:nvPr/>
        </p:nvSpPr>
        <p:spPr>
          <a:xfrm>
            <a:off x="4544568" y="2505456"/>
            <a:ext cx="3081528" cy="292608"/>
          </a:xfrm>
          <a:prstGeom prst="roundRect">
            <a:avLst>
              <a:gd name="adj" fmla="val 50000"/>
            </a:avLst>
          </a:prstGeom>
          <a:solidFill>
            <a:srgbClr val="FFFFFF"/>
          </a:solidFill>
          <a:ln w="8890">
            <a:solidFill>
              <a:srgbClr val="FFFFFF"/>
            </a:solidFill>
            <a:prstDash val="solid"/>
          </a:ln>
        </p:spPr>
        <p:txBody>
          <a:bodyPr/>
          <a:lstStyle/>
          <a:p>
            <a:endParaRPr lang="en-US"/>
          </a:p>
        </p:txBody>
      </p:sp>
      <p:sp>
        <p:nvSpPr>
          <p:cNvPr id="17" name="Text 15"/>
          <p:cNvSpPr/>
          <p:nvPr/>
        </p:nvSpPr>
        <p:spPr>
          <a:xfrm>
            <a:off x="4654296" y="2505456"/>
            <a:ext cx="2862072" cy="292608"/>
          </a:xfrm>
          <a:prstGeom prst="rect">
            <a:avLst/>
          </a:prstGeom>
          <a:noFill/>
          <a:ln/>
        </p:spPr>
        <p:txBody>
          <a:bodyPr wrap="square" lIns="0" tIns="0" rIns="0" bIns="0" rtlCol="0" anchor="ctr"/>
          <a:lstStyle/>
          <a:p>
            <a:pPr marL="0" indent="0">
              <a:buNone/>
            </a:pPr>
            <a:r>
              <a:rPr lang="en-US" sz="1000" b="1" dirty="0">
                <a:solidFill>
                  <a:srgbClr val="7655D6"/>
                </a:solidFill>
                <a:latin typeface="Segoe UI" pitchFamily="34" charset="0"/>
                <a:ea typeface="Segoe UI" pitchFamily="34" charset="-122"/>
                <a:cs typeface="Segoe UI" pitchFamily="34" charset="-120"/>
              </a:rPr>
              <a:t>MEASURES</a:t>
            </a:r>
            <a:endParaRPr lang="en-US" sz="1000" dirty="0"/>
          </a:p>
        </p:txBody>
      </p:sp>
      <p:sp>
        <p:nvSpPr>
          <p:cNvPr id="18" name="Text 16"/>
          <p:cNvSpPr/>
          <p:nvPr/>
        </p:nvSpPr>
        <p:spPr>
          <a:xfrm>
            <a:off x="4544568" y="3099816"/>
            <a:ext cx="3081528" cy="731520"/>
          </a:xfrm>
          <a:prstGeom prst="rect">
            <a:avLst/>
          </a:prstGeom>
          <a:noFill/>
          <a:ln/>
        </p:spPr>
        <p:txBody>
          <a:bodyPr wrap="square" lIns="0" tIns="0" rIns="0" bIns="0" rtlCol="0" anchor="ctr"/>
          <a:lstStyle/>
          <a:p>
            <a:pPr marL="0" indent="0">
              <a:buNone/>
            </a:pPr>
            <a:r>
              <a:rPr lang="en-US" sz="2400" b="1" dirty="0">
                <a:solidFill>
                  <a:srgbClr val="17233C"/>
                </a:solidFill>
                <a:latin typeface="Segoe UI" pitchFamily="34" charset="0"/>
                <a:ea typeface="Segoe UI" pitchFamily="34" charset="-122"/>
                <a:cs typeface="Segoe UI" pitchFamily="34" charset="-120"/>
              </a:rPr>
              <a:t>"Claims paid" has no contract</a:t>
            </a:r>
            <a:endParaRPr lang="en-US" sz="2400" dirty="0"/>
          </a:p>
        </p:txBody>
      </p:sp>
      <p:sp>
        <p:nvSpPr>
          <p:cNvPr id="19" name="Text 17"/>
          <p:cNvSpPr/>
          <p:nvPr/>
        </p:nvSpPr>
        <p:spPr>
          <a:xfrm>
            <a:off x="4544568" y="4023360"/>
            <a:ext cx="3081528" cy="786384"/>
          </a:xfrm>
          <a:prstGeom prst="rect">
            <a:avLst/>
          </a:prstGeom>
          <a:noFill/>
          <a:ln/>
        </p:spPr>
        <p:txBody>
          <a:bodyPr wrap="square" lIns="0" tIns="0" rIns="0" bIns="0" rtlCol="0" anchor="ctr"/>
          <a:lstStyle/>
          <a:p>
            <a:pPr marL="0" indent="0">
              <a:buNone/>
            </a:pPr>
            <a:r>
              <a:rPr lang="en-US" sz="1700" dirty="0">
                <a:solidFill>
                  <a:srgbClr val="56657B"/>
                </a:solidFill>
                <a:latin typeface="Segoe UI" pitchFamily="34" charset="0"/>
                <a:ea typeface="Segoe UI" pitchFamily="34" charset="-122"/>
                <a:cs typeface="Segoe UI" pitchFamily="34" charset="-120"/>
              </a:rPr>
              <a:t>Approve payment-date basis,</a:t>
            </a:r>
            <a:endParaRPr lang="en-US" sz="1700" dirty="0"/>
          </a:p>
          <a:p>
            <a:pPr marL="0" indent="0">
              <a:buNone/>
            </a:pPr>
            <a:r>
              <a:rPr lang="en-US" sz="1700" dirty="0">
                <a:solidFill>
                  <a:srgbClr val="56657B"/>
                </a:solidFill>
                <a:latin typeface="Segoe UI" pitchFamily="34" charset="0"/>
                <a:ea typeface="Segoe UI" pitchFamily="34" charset="-122"/>
                <a:cs typeface="Segoe UI" pitchFamily="34" charset="-120"/>
              </a:rPr>
              <a:t>net/gross treatment and units.</a:t>
            </a:r>
            <a:endParaRPr lang="en-US" sz="1700" dirty="0"/>
          </a:p>
        </p:txBody>
      </p:sp>
      <p:sp>
        <p:nvSpPr>
          <p:cNvPr id="20" name="Text 18"/>
          <p:cNvSpPr/>
          <p:nvPr/>
        </p:nvSpPr>
        <p:spPr>
          <a:xfrm>
            <a:off x="4544568" y="5010912"/>
            <a:ext cx="3081528" cy="237744"/>
          </a:xfrm>
          <a:prstGeom prst="rect">
            <a:avLst/>
          </a:prstGeom>
          <a:noFill/>
          <a:ln/>
        </p:spPr>
        <p:txBody>
          <a:bodyPr wrap="square" lIns="0" tIns="0" rIns="0" bIns="0" rtlCol="0" anchor="ctr"/>
          <a:lstStyle/>
          <a:p>
            <a:pPr marL="0" indent="0">
              <a:buNone/>
            </a:pPr>
            <a:r>
              <a:rPr lang="en-US" sz="1300" b="1" dirty="0">
                <a:solidFill>
                  <a:srgbClr val="7655D6"/>
                </a:solidFill>
                <a:latin typeface="Segoe UI" pitchFamily="34" charset="0"/>
                <a:ea typeface="Segoe UI" pitchFamily="34" charset="-122"/>
                <a:cs typeface="Segoe UI" pitchFamily="34" charset="-120"/>
              </a:rPr>
              <a:t>Owner: claims / finance</a:t>
            </a:r>
            <a:endParaRPr lang="en-US" sz="1300" dirty="0"/>
          </a:p>
        </p:txBody>
      </p:sp>
      <p:sp>
        <p:nvSpPr>
          <p:cNvPr id="21" name="Shape 19"/>
          <p:cNvSpPr/>
          <p:nvPr/>
        </p:nvSpPr>
        <p:spPr>
          <a:xfrm>
            <a:off x="8119872" y="2286000"/>
            <a:ext cx="3502152" cy="3090672"/>
          </a:xfrm>
          <a:prstGeom prst="roundRect">
            <a:avLst>
              <a:gd name="adj" fmla="val 4734"/>
            </a:avLst>
          </a:prstGeom>
          <a:solidFill>
            <a:srgbClr val="EDF8F5"/>
          </a:solidFill>
          <a:ln w="8890">
            <a:solidFill>
              <a:srgbClr val="EDF8F5"/>
            </a:solidFill>
            <a:prstDash val="solid"/>
          </a:ln>
        </p:spPr>
        <p:txBody>
          <a:bodyPr/>
          <a:lstStyle/>
          <a:p>
            <a:endParaRPr lang="en-US"/>
          </a:p>
        </p:txBody>
      </p:sp>
      <p:sp>
        <p:nvSpPr>
          <p:cNvPr id="22" name="Shape 20"/>
          <p:cNvSpPr/>
          <p:nvPr/>
        </p:nvSpPr>
        <p:spPr>
          <a:xfrm>
            <a:off x="8330184" y="2505456"/>
            <a:ext cx="3081528" cy="292608"/>
          </a:xfrm>
          <a:prstGeom prst="roundRect">
            <a:avLst>
              <a:gd name="adj" fmla="val 50000"/>
            </a:avLst>
          </a:prstGeom>
          <a:solidFill>
            <a:srgbClr val="FFFFFF"/>
          </a:solidFill>
          <a:ln w="8890">
            <a:solidFill>
              <a:srgbClr val="FFFFFF"/>
            </a:solidFill>
            <a:prstDash val="solid"/>
          </a:ln>
        </p:spPr>
        <p:txBody>
          <a:bodyPr/>
          <a:lstStyle/>
          <a:p>
            <a:endParaRPr lang="en-US"/>
          </a:p>
        </p:txBody>
      </p:sp>
      <p:sp>
        <p:nvSpPr>
          <p:cNvPr id="23" name="Text 21"/>
          <p:cNvSpPr/>
          <p:nvPr/>
        </p:nvSpPr>
        <p:spPr>
          <a:xfrm>
            <a:off x="8439912" y="2505456"/>
            <a:ext cx="2862072" cy="292608"/>
          </a:xfrm>
          <a:prstGeom prst="rect">
            <a:avLst/>
          </a:prstGeom>
          <a:noFill/>
          <a:ln/>
        </p:spPr>
        <p:txBody>
          <a:bodyPr wrap="square" lIns="0" tIns="0" rIns="0" bIns="0" rtlCol="0" anchor="ctr"/>
          <a:lstStyle/>
          <a:p>
            <a:pPr marL="0" indent="0">
              <a:buNone/>
            </a:pPr>
            <a:r>
              <a:rPr lang="en-US" sz="1000" b="1" dirty="0">
                <a:solidFill>
                  <a:srgbClr val="138477"/>
                </a:solidFill>
                <a:latin typeface="Segoe UI" pitchFamily="34" charset="0"/>
                <a:ea typeface="Segoe UI" pitchFamily="34" charset="-122"/>
                <a:cs typeface="Segoe UI" pitchFamily="34" charset="-120"/>
              </a:rPr>
              <a:t>MODEL CONTEXT</a:t>
            </a:r>
            <a:endParaRPr lang="en-US" sz="1000" dirty="0"/>
          </a:p>
        </p:txBody>
      </p:sp>
      <p:sp>
        <p:nvSpPr>
          <p:cNvPr id="24" name="Text 22"/>
          <p:cNvSpPr/>
          <p:nvPr/>
        </p:nvSpPr>
        <p:spPr>
          <a:xfrm>
            <a:off x="8330184" y="3099816"/>
            <a:ext cx="3081528" cy="731520"/>
          </a:xfrm>
          <a:prstGeom prst="rect">
            <a:avLst/>
          </a:prstGeom>
          <a:noFill/>
          <a:ln/>
        </p:spPr>
        <p:txBody>
          <a:bodyPr wrap="square" lIns="0" tIns="0" rIns="0" bIns="0" rtlCol="0" anchor="ctr"/>
          <a:lstStyle/>
          <a:p>
            <a:pPr marL="0" indent="0">
              <a:buNone/>
            </a:pPr>
            <a:r>
              <a:rPr lang="en-US" sz="2400" b="1" dirty="0">
                <a:solidFill>
                  <a:srgbClr val="17233C"/>
                </a:solidFill>
                <a:latin typeface="Segoe UI" pitchFamily="34" charset="0"/>
                <a:ea typeface="Segoe UI" pitchFamily="34" charset="-122"/>
                <a:cs typeface="Segoe UI" pitchFamily="34" charset="-120"/>
              </a:rPr>
              <a:t>Date choices are unclear</a:t>
            </a:r>
            <a:endParaRPr lang="en-US" sz="2400" dirty="0"/>
          </a:p>
        </p:txBody>
      </p:sp>
      <p:sp>
        <p:nvSpPr>
          <p:cNvPr id="25" name="Text 23"/>
          <p:cNvSpPr/>
          <p:nvPr/>
        </p:nvSpPr>
        <p:spPr>
          <a:xfrm>
            <a:off x="8330184" y="4023360"/>
            <a:ext cx="3081528" cy="786384"/>
          </a:xfrm>
          <a:prstGeom prst="rect">
            <a:avLst/>
          </a:prstGeom>
          <a:noFill/>
          <a:ln/>
        </p:spPr>
        <p:txBody>
          <a:bodyPr wrap="square" lIns="0" tIns="0" rIns="0" bIns="0" rtlCol="0" anchor="ctr"/>
          <a:lstStyle/>
          <a:p>
            <a:pPr marL="0" indent="0">
              <a:buNone/>
            </a:pPr>
            <a:r>
              <a:rPr lang="en-US" sz="1700" dirty="0">
                <a:solidFill>
                  <a:srgbClr val="56657B"/>
                </a:solidFill>
                <a:latin typeface="Segoe UI" pitchFamily="34" charset="0"/>
                <a:ea typeface="Segoe UI" pitchFamily="34" charset="-122"/>
                <a:cs typeface="Segoe UI" pitchFamily="34" charset="-120"/>
              </a:rPr>
              <a:t>Name date roles and state</a:t>
            </a:r>
            <a:endParaRPr lang="en-US" sz="1700" dirty="0"/>
          </a:p>
          <a:p>
            <a:pPr marL="0" indent="0">
              <a:buNone/>
            </a:pPr>
            <a:r>
              <a:rPr lang="en-US" sz="1700" dirty="0">
                <a:solidFill>
                  <a:srgbClr val="56657B"/>
                </a:solidFill>
                <a:latin typeface="Segoe UI" pitchFamily="34" charset="0"/>
                <a:ea typeface="Segoe UI" pitchFamily="34" charset="-122"/>
                <a:cs typeface="Segoe UI" pitchFamily="34" charset="-120"/>
              </a:rPr>
              <a:t>when the agent should clarify.</a:t>
            </a:r>
            <a:endParaRPr lang="en-US" sz="1700" dirty="0"/>
          </a:p>
        </p:txBody>
      </p:sp>
      <p:sp>
        <p:nvSpPr>
          <p:cNvPr id="26" name="Text 24"/>
          <p:cNvSpPr/>
          <p:nvPr/>
        </p:nvSpPr>
        <p:spPr>
          <a:xfrm>
            <a:off x="8330184" y="5010912"/>
            <a:ext cx="3081528" cy="237744"/>
          </a:xfrm>
          <a:prstGeom prst="rect">
            <a:avLst/>
          </a:prstGeom>
          <a:noFill/>
          <a:ln/>
        </p:spPr>
        <p:txBody>
          <a:bodyPr wrap="square" lIns="0" tIns="0" rIns="0" bIns="0" rtlCol="0" anchor="ctr"/>
          <a:lstStyle/>
          <a:p>
            <a:pPr marL="0" indent="0">
              <a:buNone/>
            </a:pPr>
            <a:r>
              <a:rPr lang="en-US" sz="1300" b="1" dirty="0">
                <a:solidFill>
                  <a:srgbClr val="138477"/>
                </a:solidFill>
                <a:latin typeface="Segoe UI" pitchFamily="34" charset="0"/>
                <a:ea typeface="Segoe UI" pitchFamily="34" charset="-122"/>
                <a:cs typeface="Segoe UI" pitchFamily="34" charset="-120"/>
              </a:rPr>
              <a:t>Owner: model owner</a:t>
            </a:r>
            <a:endParaRPr lang="en-US" sz="1300" dirty="0"/>
          </a:p>
        </p:txBody>
      </p:sp>
      <p:sp>
        <p:nvSpPr>
          <p:cNvPr id="27" name="Shape 25"/>
          <p:cNvSpPr/>
          <p:nvPr/>
        </p:nvSpPr>
        <p:spPr>
          <a:xfrm>
            <a:off x="548640" y="5715000"/>
            <a:ext cx="11064240" cy="484632"/>
          </a:xfrm>
          <a:prstGeom prst="roundRect">
            <a:avLst>
              <a:gd name="adj" fmla="val 30189"/>
            </a:avLst>
          </a:prstGeom>
          <a:solidFill>
            <a:srgbClr val="EDF3FF"/>
          </a:solidFill>
          <a:ln w="8890">
            <a:solidFill>
              <a:srgbClr val="EDF3FF"/>
            </a:solidFill>
            <a:prstDash val="solid"/>
          </a:ln>
        </p:spPr>
        <p:txBody>
          <a:bodyPr/>
          <a:lstStyle/>
          <a:p>
            <a:endParaRPr lang="en-US"/>
          </a:p>
        </p:txBody>
      </p:sp>
      <p:sp>
        <p:nvSpPr>
          <p:cNvPr id="28" name="Text 26"/>
          <p:cNvSpPr/>
          <p:nvPr/>
        </p:nvSpPr>
        <p:spPr>
          <a:xfrm>
            <a:off x="758952" y="5788152"/>
            <a:ext cx="10643616" cy="329184"/>
          </a:xfrm>
          <a:prstGeom prst="rect">
            <a:avLst/>
          </a:prstGeom>
          <a:noFill/>
          <a:ln/>
        </p:spPr>
        <p:txBody>
          <a:bodyPr wrap="square" lIns="0" tIns="0" rIns="0" bIns="0" rtlCol="0" anchor="ctr"/>
          <a:lstStyle/>
          <a:p>
            <a:pPr marL="0" indent="0">
              <a:buNone/>
            </a:pPr>
            <a:r>
              <a:rPr lang="en-US" sz="1600" b="1" dirty="0">
                <a:solidFill>
                  <a:srgbClr val="2563EB"/>
                </a:solidFill>
                <a:latin typeface="Segoe UI" pitchFamily="34" charset="0"/>
                <a:ea typeface="Segoe UI" pitchFamily="34" charset="-122"/>
                <a:cs typeface="Segoe UI" pitchFamily="34" charset="-120"/>
              </a:rPr>
              <a:t>A clearer description cannot compensate for an incorrect business definition.</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3017520" cy="292608"/>
          </a:xfrm>
          <a:prstGeom prst="roundRect">
            <a:avLst>
              <a:gd name="adj" fmla="val 50000"/>
            </a:avLst>
          </a:prstGeom>
          <a:solidFill>
            <a:srgbClr val="F3EFFE"/>
          </a:solidFill>
          <a:ln w="8890">
            <a:solidFill>
              <a:srgbClr val="F3EFFE"/>
            </a:solidFill>
            <a:prstDash val="solid"/>
          </a:ln>
        </p:spPr>
        <p:txBody>
          <a:bodyPr/>
          <a:lstStyle/>
          <a:p>
            <a:endParaRPr lang="en-US"/>
          </a:p>
        </p:txBody>
      </p:sp>
      <p:sp>
        <p:nvSpPr>
          <p:cNvPr id="3" name="Text 1"/>
          <p:cNvSpPr/>
          <p:nvPr/>
        </p:nvSpPr>
        <p:spPr>
          <a:xfrm>
            <a:off x="658368" y="320040"/>
            <a:ext cx="2798064" cy="292608"/>
          </a:xfrm>
          <a:prstGeom prst="rect">
            <a:avLst/>
          </a:prstGeom>
          <a:noFill/>
          <a:ln/>
        </p:spPr>
        <p:txBody>
          <a:bodyPr wrap="square" lIns="0" tIns="0" rIns="0" bIns="0" rtlCol="0" anchor="ctr"/>
          <a:lstStyle/>
          <a:p>
            <a:pPr marL="0" indent="0">
              <a:buNone/>
            </a:pPr>
            <a:r>
              <a:rPr lang="en-US" sz="1000" b="1" dirty="0">
                <a:solidFill>
                  <a:srgbClr val="7655D6"/>
                </a:solidFill>
                <a:latin typeface="Segoe UI" pitchFamily="34" charset="0"/>
                <a:ea typeface="Segoe UI" pitchFamily="34" charset="-122"/>
                <a:cs typeface="Segoe UI" pitchFamily="34" charset="-120"/>
              </a:rPr>
              <a:t>03 | PRIORITIZE</a:t>
            </a:r>
            <a:endParaRPr lang="en-US" sz="1000" dirty="0"/>
          </a:p>
        </p:txBody>
      </p:sp>
      <p:sp>
        <p:nvSpPr>
          <p:cNvPr id="4" name="Text 2"/>
          <p:cNvSpPr/>
          <p:nvPr/>
        </p:nvSpPr>
        <p:spPr>
          <a:xfrm>
            <a:off x="9582912" y="320040"/>
            <a:ext cx="2057400" cy="292608"/>
          </a:xfrm>
          <a:prstGeom prst="rect">
            <a:avLst/>
          </a:prstGeom>
          <a:noFill/>
          <a:ln/>
        </p:spPr>
        <p:txBody>
          <a:bodyPr wrap="square" lIns="0" tIns="0" rIns="0" bIns="0" rtlCol="0" anchor="ctr"/>
          <a:lstStyle/>
          <a:p>
            <a:pPr marL="0" indent="0" algn="r">
              <a:buNone/>
            </a:pPr>
            <a:r>
              <a:rPr lang="en-US" sz="1100" dirty="0">
                <a:solidFill>
                  <a:srgbClr val="56657B"/>
                </a:solidFill>
                <a:latin typeface="Segoe UI" pitchFamily="34" charset="0"/>
                <a:ea typeface="Segoe UI" pitchFamily="34" charset="-122"/>
                <a:cs typeface="Segoe UI" pitchFamily="34" charset="-120"/>
              </a:rPr>
              <a:t>25-30 minutes</a:t>
            </a:r>
            <a:endParaRPr lang="en-US" sz="1100" dirty="0"/>
          </a:p>
        </p:txBody>
      </p:sp>
      <p:sp>
        <p:nvSpPr>
          <p:cNvPr id="5" name="Text 3"/>
          <p:cNvSpPr/>
          <p:nvPr/>
        </p:nvSpPr>
        <p:spPr>
          <a:xfrm>
            <a:off x="548640" y="877824"/>
            <a:ext cx="11064240" cy="621792"/>
          </a:xfrm>
          <a:prstGeom prst="rect">
            <a:avLst/>
          </a:prstGeom>
          <a:noFill/>
          <a:ln/>
        </p:spPr>
        <p:txBody>
          <a:bodyPr wrap="square" lIns="0" tIns="0" rIns="0" bIns="0" rtlCol="0" anchor="ctr"/>
          <a:lstStyle/>
          <a:p>
            <a:pPr marL="0" indent="0">
              <a:buNone/>
            </a:pPr>
            <a:r>
              <a:rPr lang="en-US" sz="3200" b="1" dirty="0">
                <a:solidFill>
                  <a:srgbClr val="17233C"/>
                </a:solidFill>
                <a:latin typeface="Segoe UI" pitchFamily="34" charset="0"/>
                <a:ea typeface="Segoe UI" pitchFamily="34" charset="-122"/>
                <a:cs typeface="Segoe UI" pitchFamily="34" charset="-120"/>
              </a:rPr>
              <a:t>Prioritize by answer impact, then change risk</a:t>
            </a:r>
            <a:endParaRPr lang="en-US" sz="3200" dirty="0"/>
          </a:p>
        </p:txBody>
      </p:sp>
      <p:sp>
        <p:nvSpPr>
          <p:cNvPr id="6" name="Text 4"/>
          <p:cNvSpPr/>
          <p:nvPr/>
        </p:nvSpPr>
        <p:spPr>
          <a:xfrm>
            <a:off x="566928" y="1581912"/>
            <a:ext cx="10927080" cy="502920"/>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Choose a small, safe improvement set that fits the remaining 10-minute demo.</a:t>
            </a:r>
            <a:endParaRPr lang="en-US" sz="1500" dirty="0"/>
          </a:p>
        </p:txBody>
      </p:sp>
      <p:sp>
        <p:nvSpPr>
          <p:cNvPr id="7" name="Text 5"/>
          <p:cNvSpPr/>
          <p:nvPr/>
        </p:nvSpPr>
        <p:spPr>
          <a:xfrm>
            <a:off x="548640" y="6483096"/>
            <a:ext cx="4572000" cy="182880"/>
          </a:xfrm>
          <a:prstGeom prst="rect">
            <a:avLst/>
          </a:prstGeom>
          <a:noFill/>
          <a:ln/>
        </p:spPr>
        <p:txBody>
          <a:bodyPr wrap="square" lIns="0" tIns="0" rIns="0" bIns="0" rtlCol="0" anchor="ctr"/>
          <a:lstStyle/>
          <a:p>
            <a:pPr marL="0" indent="0">
              <a:buNone/>
            </a:pPr>
            <a:r>
              <a:rPr lang="en-US" sz="900" b="1" dirty="0">
                <a:solidFill>
                  <a:srgbClr val="56657B"/>
                </a:solidFill>
                <a:latin typeface="Segoe UI" pitchFamily="34" charset="0"/>
                <a:ea typeface="Segoe UI" pitchFamily="34" charset="-122"/>
                <a:cs typeface="Segoe UI" pitchFamily="34" charset="-120"/>
              </a:rPr>
              <a:t>TALK TO YOUR INSURANCE DATA</a:t>
            </a:r>
            <a:endParaRPr lang="en-US" sz="900" dirty="0"/>
          </a:p>
        </p:txBody>
      </p:sp>
      <p:sp>
        <p:nvSpPr>
          <p:cNvPr id="8" name="Text 6"/>
          <p:cNvSpPr/>
          <p:nvPr/>
        </p:nvSpPr>
        <p:spPr>
          <a:xfrm>
            <a:off x="11082528" y="6437376"/>
            <a:ext cx="548640" cy="228600"/>
          </a:xfrm>
          <a:prstGeom prst="rect">
            <a:avLst/>
          </a:prstGeom>
          <a:noFill/>
          <a:ln/>
        </p:spPr>
        <p:txBody>
          <a:bodyPr wrap="square" lIns="0" tIns="0" rIns="0" bIns="0" rtlCol="0" anchor="ctr"/>
          <a:lstStyle/>
          <a:p>
            <a:pPr marL="0" indent="0" algn="r">
              <a:buNone/>
            </a:pPr>
            <a:r>
              <a:rPr lang="en-US" sz="1000" b="1" dirty="0">
                <a:solidFill>
                  <a:srgbClr val="7655D6"/>
                </a:solidFill>
                <a:latin typeface="Segoe UI" pitchFamily="34" charset="0"/>
                <a:ea typeface="Segoe UI" pitchFamily="34" charset="-122"/>
                <a:cs typeface="Segoe UI" pitchFamily="34" charset="-120"/>
              </a:rPr>
              <a:t>10</a:t>
            </a:r>
            <a:endParaRPr lang="en-US" sz="1000" dirty="0"/>
          </a:p>
        </p:txBody>
      </p:sp>
      <p:sp>
        <p:nvSpPr>
          <p:cNvPr id="9" name="Shape 7"/>
          <p:cNvSpPr/>
          <p:nvPr/>
        </p:nvSpPr>
        <p:spPr>
          <a:xfrm>
            <a:off x="548640" y="2322576"/>
            <a:ext cx="3502152" cy="3090672"/>
          </a:xfrm>
          <a:prstGeom prst="roundRect">
            <a:avLst>
              <a:gd name="adj" fmla="val 4734"/>
            </a:avLst>
          </a:prstGeom>
          <a:solidFill>
            <a:srgbClr val="EDF3FF"/>
          </a:solidFill>
          <a:ln w="8890">
            <a:solidFill>
              <a:srgbClr val="EDF3FF"/>
            </a:solidFill>
            <a:prstDash val="solid"/>
          </a:ln>
        </p:spPr>
        <p:txBody>
          <a:bodyPr/>
          <a:lstStyle/>
          <a:p>
            <a:endParaRPr lang="en-US"/>
          </a:p>
        </p:txBody>
      </p:sp>
      <p:sp>
        <p:nvSpPr>
          <p:cNvPr id="10" name="Shape 8"/>
          <p:cNvSpPr/>
          <p:nvPr/>
        </p:nvSpPr>
        <p:spPr>
          <a:xfrm>
            <a:off x="749808" y="2542032"/>
            <a:ext cx="420624" cy="420624"/>
          </a:xfrm>
          <a:prstGeom prst="ellipse">
            <a:avLst/>
          </a:prstGeom>
          <a:solidFill>
            <a:srgbClr val="2563EB"/>
          </a:solidFill>
          <a:ln w="12700">
            <a:solidFill>
              <a:srgbClr val="2563EB"/>
            </a:solidFill>
            <a:prstDash val="solid"/>
          </a:ln>
        </p:spPr>
        <p:txBody>
          <a:bodyPr/>
          <a:lstStyle/>
          <a:p>
            <a:endParaRPr lang="en-US"/>
          </a:p>
        </p:txBody>
      </p:sp>
      <p:sp>
        <p:nvSpPr>
          <p:cNvPr id="11" name="Text 9"/>
          <p:cNvSpPr/>
          <p:nvPr/>
        </p:nvSpPr>
        <p:spPr>
          <a:xfrm>
            <a:off x="749808" y="254203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12" name="Text 10"/>
          <p:cNvSpPr/>
          <p:nvPr/>
        </p:nvSpPr>
        <p:spPr>
          <a:xfrm>
            <a:off x="749808" y="3127248"/>
            <a:ext cx="3099816" cy="576072"/>
          </a:xfrm>
          <a:prstGeom prst="rect">
            <a:avLst/>
          </a:prstGeom>
          <a:noFill/>
          <a:ln/>
        </p:spPr>
        <p:txBody>
          <a:bodyPr wrap="square" lIns="0" tIns="0" rIns="0" bIns="0" rtlCol="0" anchor="ctr"/>
          <a:lstStyle/>
          <a:p>
            <a:pPr marL="0" indent="0">
              <a:buNone/>
            </a:pPr>
            <a:r>
              <a:rPr lang="en-US" sz="2100" b="1" dirty="0">
                <a:solidFill>
                  <a:srgbClr val="17233C"/>
                </a:solidFill>
                <a:latin typeface="Segoe UI" pitchFamily="34" charset="0"/>
                <a:ea typeface="Segoe UI" pitchFamily="34" charset="-122"/>
                <a:cs typeface="Segoe UI" pitchFamily="34" charset="-120"/>
              </a:rPr>
              <a:t>NOW | Demo scope</a:t>
            </a:r>
            <a:endParaRPr lang="en-US" sz="2100" dirty="0"/>
          </a:p>
        </p:txBody>
      </p:sp>
      <p:sp>
        <p:nvSpPr>
          <p:cNvPr id="13" name="Text 11"/>
          <p:cNvSpPr/>
          <p:nvPr/>
        </p:nvSpPr>
        <p:spPr>
          <a:xfrm>
            <a:off x="749808" y="3813048"/>
            <a:ext cx="3099816" cy="1408176"/>
          </a:xfrm>
          <a:prstGeom prst="rect">
            <a:avLst/>
          </a:prstGeom>
          <a:noFill/>
          <a:ln/>
        </p:spPr>
        <p:txBody>
          <a:bodyPr wrap="square" lIns="0" tIns="0" rIns="0" bIns="0" rtlCol="0" anchor="t"/>
          <a:lstStyle/>
          <a:p>
            <a:pPr marL="0" indent="0">
              <a:buNone/>
            </a:pPr>
            <a:r>
              <a:rPr lang="en-US" sz="1700" dirty="0">
                <a:solidFill>
                  <a:srgbClr val="56657B"/>
                </a:solidFill>
                <a:latin typeface="Segoe UI" pitchFamily="34" charset="0"/>
                <a:ea typeface="Segoe UI" pitchFamily="34" charset="-122"/>
                <a:cs typeface="Segoe UI" pitchFamily="34" charset="-120"/>
              </a:rPr>
              <a:t>Clarify ambiguous terminology.</a:t>
            </a:r>
            <a:endParaRPr lang="en-US" sz="1700" dirty="0"/>
          </a:p>
          <a:p>
            <a:pPr marL="0" indent="0">
              <a:buNone/>
            </a:pPr>
            <a:endParaRPr lang="en-US" sz="1700" dirty="0"/>
          </a:p>
          <a:p>
            <a:pPr marL="0" indent="0">
              <a:buNone/>
            </a:pPr>
            <a:r>
              <a:rPr lang="en-US" sz="1700" dirty="0">
                <a:solidFill>
                  <a:srgbClr val="56657B"/>
                </a:solidFill>
                <a:latin typeface="Segoe UI" pitchFamily="34" charset="0"/>
                <a:ea typeface="Segoe UI" pitchFamily="34" charset="-122"/>
                <a:cs typeface="Segoe UI" pitchFamily="34" charset="-120"/>
              </a:rPr>
              <a:t>Add approved descriptions and fix one validated measure if needed.</a:t>
            </a:r>
            <a:endParaRPr lang="en-US" sz="1700" dirty="0"/>
          </a:p>
        </p:txBody>
      </p:sp>
      <p:sp>
        <p:nvSpPr>
          <p:cNvPr id="14" name="Shape 12"/>
          <p:cNvSpPr/>
          <p:nvPr/>
        </p:nvSpPr>
        <p:spPr>
          <a:xfrm>
            <a:off x="4334256" y="2322576"/>
            <a:ext cx="3502152" cy="3090672"/>
          </a:xfrm>
          <a:prstGeom prst="roundRect">
            <a:avLst>
              <a:gd name="adj" fmla="val 4734"/>
            </a:avLst>
          </a:prstGeom>
          <a:solidFill>
            <a:srgbClr val="F3EFFE"/>
          </a:solidFill>
          <a:ln w="8890">
            <a:solidFill>
              <a:srgbClr val="F3EFFE"/>
            </a:solidFill>
            <a:prstDash val="solid"/>
          </a:ln>
        </p:spPr>
        <p:txBody>
          <a:bodyPr/>
          <a:lstStyle/>
          <a:p>
            <a:endParaRPr lang="en-US"/>
          </a:p>
        </p:txBody>
      </p:sp>
      <p:sp>
        <p:nvSpPr>
          <p:cNvPr id="15" name="Shape 13"/>
          <p:cNvSpPr/>
          <p:nvPr/>
        </p:nvSpPr>
        <p:spPr>
          <a:xfrm>
            <a:off x="4535424" y="2542032"/>
            <a:ext cx="420624" cy="420624"/>
          </a:xfrm>
          <a:prstGeom prst="ellipse">
            <a:avLst/>
          </a:prstGeom>
          <a:solidFill>
            <a:srgbClr val="7655D6"/>
          </a:solidFill>
          <a:ln w="12700">
            <a:solidFill>
              <a:srgbClr val="7655D6"/>
            </a:solidFill>
            <a:prstDash val="solid"/>
          </a:ln>
        </p:spPr>
        <p:txBody>
          <a:bodyPr/>
          <a:lstStyle/>
          <a:p>
            <a:endParaRPr lang="en-US"/>
          </a:p>
        </p:txBody>
      </p:sp>
      <p:sp>
        <p:nvSpPr>
          <p:cNvPr id="16" name="Text 14"/>
          <p:cNvSpPr/>
          <p:nvPr/>
        </p:nvSpPr>
        <p:spPr>
          <a:xfrm>
            <a:off x="4535424" y="254203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17" name="Text 15"/>
          <p:cNvSpPr/>
          <p:nvPr/>
        </p:nvSpPr>
        <p:spPr>
          <a:xfrm>
            <a:off x="4535424" y="3127248"/>
            <a:ext cx="3099816" cy="576072"/>
          </a:xfrm>
          <a:prstGeom prst="rect">
            <a:avLst/>
          </a:prstGeom>
          <a:noFill/>
          <a:ln/>
        </p:spPr>
        <p:txBody>
          <a:bodyPr wrap="square" lIns="0" tIns="0" rIns="0" bIns="0" rtlCol="0" anchor="ctr"/>
          <a:lstStyle/>
          <a:p>
            <a:pPr marL="0" indent="0">
              <a:buNone/>
            </a:pPr>
            <a:r>
              <a:rPr lang="en-US" sz="2100" b="1" dirty="0">
                <a:solidFill>
                  <a:srgbClr val="17233C"/>
                </a:solidFill>
                <a:latin typeface="Segoe UI" pitchFamily="34" charset="0"/>
                <a:ea typeface="Segoe UI" pitchFamily="34" charset="-122"/>
                <a:cs typeface="Segoe UI" pitchFamily="34" charset="-120"/>
              </a:rPr>
              <a:t>NEXT | Model context</a:t>
            </a:r>
            <a:endParaRPr lang="en-US" sz="2100" dirty="0"/>
          </a:p>
        </p:txBody>
      </p:sp>
      <p:sp>
        <p:nvSpPr>
          <p:cNvPr id="18" name="Text 16"/>
          <p:cNvSpPr/>
          <p:nvPr/>
        </p:nvSpPr>
        <p:spPr>
          <a:xfrm>
            <a:off x="4535424" y="3813048"/>
            <a:ext cx="3099816" cy="1408176"/>
          </a:xfrm>
          <a:prstGeom prst="rect">
            <a:avLst/>
          </a:prstGeom>
          <a:noFill/>
          <a:ln/>
        </p:spPr>
        <p:txBody>
          <a:bodyPr wrap="square" lIns="0" tIns="0" rIns="0" bIns="0" rtlCol="0" anchor="t"/>
          <a:lstStyle/>
          <a:p>
            <a:pPr marL="0" indent="0">
              <a:buNone/>
            </a:pPr>
            <a:r>
              <a:rPr lang="en-US" sz="1700" dirty="0">
                <a:solidFill>
                  <a:srgbClr val="56657B"/>
                </a:solidFill>
                <a:latin typeface="Segoe UI" pitchFamily="34" charset="0"/>
                <a:ea typeface="Segoe UI" pitchFamily="34" charset="-122"/>
                <a:cs typeface="Segoe UI" pitchFamily="34" charset="-120"/>
              </a:rPr>
              <a:t>Curate the AI data schema.</a:t>
            </a:r>
            <a:endParaRPr lang="en-US" sz="1700" dirty="0"/>
          </a:p>
          <a:p>
            <a:pPr marL="0" indent="0">
              <a:buNone/>
            </a:pPr>
            <a:endParaRPr lang="en-US" sz="1700" dirty="0"/>
          </a:p>
          <a:p>
            <a:pPr marL="0" indent="0">
              <a:buNone/>
            </a:pPr>
            <a:r>
              <a:rPr lang="en-US" sz="1700" dirty="0">
                <a:solidFill>
                  <a:srgbClr val="56657B"/>
                </a:solidFill>
                <a:latin typeface="Segoe UI" pitchFamily="34" charset="0"/>
                <a:ea typeface="Segoe UI" pitchFamily="34" charset="-122"/>
                <a:cs typeface="Segoe UI" pitchFamily="34" charset="-120"/>
              </a:rPr>
              <a:t>Add model-level AI instructions and test important question variants.</a:t>
            </a:r>
            <a:endParaRPr lang="en-US" sz="1700" dirty="0"/>
          </a:p>
        </p:txBody>
      </p:sp>
      <p:sp>
        <p:nvSpPr>
          <p:cNvPr id="19" name="Shape 17"/>
          <p:cNvSpPr/>
          <p:nvPr/>
        </p:nvSpPr>
        <p:spPr>
          <a:xfrm>
            <a:off x="8119872" y="2322576"/>
            <a:ext cx="3493008" cy="3090672"/>
          </a:xfrm>
          <a:prstGeom prst="roundRect">
            <a:avLst>
              <a:gd name="adj" fmla="val 4734"/>
            </a:avLst>
          </a:prstGeom>
          <a:solidFill>
            <a:srgbClr val="EDF8F5"/>
          </a:solidFill>
          <a:ln w="8890">
            <a:solidFill>
              <a:srgbClr val="EDF8F5"/>
            </a:solidFill>
            <a:prstDash val="solid"/>
          </a:ln>
        </p:spPr>
        <p:txBody>
          <a:bodyPr/>
          <a:lstStyle/>
          <a:p>
            <a:endParaRPr lang="en-US"/>
          </a:p>
        </p:txBody>
      </p:sp>
      <p:sp>
        <p:nvSpPr>
          <p:cNvPr id="20" name="Shape 18"/>
          <p:cNvSpPr/>
          <p:nvPr/>
        </p:nvSpPr>
        <p:spPr>
          <a:xfrm>
            <a:off x="8321040" y="2542032"/>
            <a:ext cx="420624" cy="420624"/>
          </a:xfrm>
          <a:prstGeom prst="ellipse">
            <a:avLst/>
          </a:prstGeom>
          <a:solidFill>
            <a:srgbClr val="138477"/>
          </a:solidFill>
          <a:ln w="12700">
            <a:solidFill>
              <a:srgbClr val="138477"/>
            </a:solidFill>
            <a:prstDash val="solid"/>
          </a:ln>
        </p:spPr>
        <p:txBody>
          <a:bodyPr/>
          <a:lstStyle/>
          <a:p>
            <a:endParaRPr lang="en-US"/>
          </a:p>
        </p:txBody>
      </p:sp>
      <p:sp>
        <p:nvSpPr>
          <p:cNvPr id="21" name="Text 19"/>
          <p:cNvSpPr/>
          <p:nvPr/>
        </p:nvSpPr>
        <p:spPr>
          <a:xfrm>
            <a:off x="8321040" y="254203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22" name="Text 20"/>
          <p:cNvSpPr/>
          <p:nvPr/>
        </p:nvSpPr>
        <p:spPr>
          <a:xfrm>
            <a:off x="8321040" y="3127248"/>
            <a:ext cx="3090672" cy="576072"/>
          </a:xfrm>
          <a:prstGeom prst="rect">
            <a:avLst/>
          </a:prstGeom>
          <a:noFill/>
          <a:ln/>
        </p:spPr>
        <p:txBody>
          <a:bodyPr wrap="square" lIns="0" tIns="0" rIns="0" bIns="0" rtlCol="0" anchor="ctr"/>
          <a:lstStyle/>
          <a:p>
            <a:pPr marL="0" indent="0">
              <a:buNone/>
            </a:pPr>
            <a:r>
              <a:rPr lang="en-US" sz="2100" b="1" dirty="0">
                <a:solidFill>
                  <a:srgbClr val="17233C"/>
                </a:solidFill>
                <a:latin typeface="Segoe UI" pitchFamily="34" charset="0"/>
                <a:ea typeface="Segoe UI" pitchFamily="34" charset="-122"/>
                <a:cs typeface="Segoe UI" pitchFamily="34" charset="-120"/>
              </a:rPr>
              <a:t>LATER | Structural work</a:t>
            </a:r>
            <a:endParaRPr lang="en-US" sz="2100" dirty="0"/>
          </a:p>
        </p:txBody>
      </p:sp>
      <p:sp>
        <p:nvSpPr>
          <p:cNvPr id="23" name="Text 21"/>
          <p:cNvSpPr/>
          <p:nvPr/>
        </p:nvSpPr>
        <p:spPr>
          <a:xfrm>
            <a:off x="8321040" y="3813048"/>
            <a:ext cx="3090672" cy="1408176"/>
          </a:xfrm>
          <a:prstGeom prst="rect">
            <a:avLst/>
          </a:prstGeom>
          <a:noFill/>
          <a:ln/>
        </p:spPr>
        <p:txBody>
          <a:bodyPr wrap="square" lIns="0" tIns="0" rIns="0" bIns="0" rtlCol="0" anchor="t"/>
          <a:lstStyle/>
          <a:p>
            <a:pPr marL="0" indent="0">
              <a:buNone/>
            </a:pPr>
            <a:r>
              <a:rPr lang="en-US" sz="1700" dirty="0">
                <a:solidFill>
                  <a:srgbClr val="56657B"/>
                </a:solidFill>
                <a:latin typeface="Segoe UI" pitchFamily="34" charset="0"/>
                <a:ea typeface="Segoe UI" pitchFamily="34" charset="-122"/>
                <a:cs typeface="Segoe UI" pitchFamily="34" charset="-120"/>
              </a:rPr>
              <a:t>Plan relationship, grain or source-data changes.</a:t>
            </a:r>
            <a:endParaRPr lang="en-US" sz="1700" dirty="0"/>
          </a:p>
          <a:p>
            <a:pPr marL="0" indent="0">
              <a:buNone/>
            </a:pPr>
            <a:endParaRPr lang="en-US" sz="1700" dirty="0"/>
          </a:p>
          <a:p>
            <a:pPr marL="0" indent="0">
              <a:buNone/>
            </a:pPr>
            <a:r>
              <a:rPr lang="en-US" sz="1700" dirty="0">
                <a:solidFill>
                  <a:srgbClr val="56657B"/>
                </a:solidFill>
                <a:latin typeface="Segoe UI" pitchFamily="34" charset="0"/>
                <a:ea typeface="Segoe UI" pitchFamily="34" charset="-122"/>
                <a:cs typeface="Segoe UI" pitchFamily="34" charset="-120"/>
              </a:rPr>
              <a:t>Regression-test dependencies before release.</a:t>
            </a:r>
            <a:endParaRPr lang="en-US" sz="1700" dirty="0"/>
          </a:p>
        </p:txBody>
      </p:sp>
      <p:sp>
        <p:nvSpPr>
          <p:cNvPr id="24" name="Shape 22"/>
          <p:cNvSpPr/>
          <p:nvPr/>
        </p:nvSpPr>
        <p:spPr>
          <a:xfrm>
            <a:off x="548640" y="5715000"/>
            <a:ext cx="11064240" cy="484632"/>
          </a:xfrm>
          <a:prstGeom prst="roundRect">
            <a:avLst>
              <a:gd name="adj" fmla="val 30189"/>
            </a:avLst>
          </a:prstGeom>
          <a:solidFill>
            <a:srgbClr val="EDF3FF"/>
          </a:solidFill>
          <a:ln w="8890">
            <a:solidFill>
              <a:srgbClr val="EDF3FF"/>
            </a:solidFill>
            <a:prstDash val="solid"/>
          </a:ln>
        </p:spPr>
        <p:txBody>
          <a:bodyPr/>
          <a:lstStyle/>
          <a:p>
            <a:endParaRPr lang="en-US"/>
          </a:p>
        </p:txBody>
      </p:sp>
      <p:sp>
        <p:nvSpPr>
          <p:cNvPr id="25" name="Text 23"/>
          <p:cNvSpPr/>
          <p:nvPr/>
        </p:nvSpPr>
        <p:spPr>
          <a:xfrm>
            <a:off x="758952" y="5788152"/>
            <a:ext cx="10643616" cy="329184"/>
          </a:xfrm>
          <a:prstGeom prst="rect">
            <a:avLst/>
          </a:prstGeom>
          <a:noFill/>
          <a:ln/>
        </p:spPr>
        <p:txBody>
          <a:bodyPr wrap="square" lIns="0" tIns="0" rIns="0" bIns="0" rtlCol="0" anchor="ctr"/>
          <a:lstStyle/>
          <a:p>
            <a:pPr marL="0" indent="0">
              <a:buNone/>
            </a:pPr>
            <a:r>
              <a:rPr lang="en-US" sz="1600" b="1" dirty="0">
                <a:solidFill>
                  <a:srgbClr val="2563EB"/>
                </a:solidFill>
                <a:latin typeface="Segoe UI" pitchFamily="34" charset="0"/>
                <a:ea typeface="Segoe UI" pitchFamily="34" charset="-122"/>
                <a:cs typeface="Segoe UI" pitchFamily="34" charset="-120"/>
              </a:rPr>
              <a:t>Release blockers override priority: incorrect calculations, missing data, or failed security tests.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3017520" cy="292608"/>
          </a:xfrm>
          <a:prstGeom prst="roundRect">
            <a:avLst>
              <a:gd name="adj" fmla="val 50000"/>
            </a:avLst>
          </a:prstGeom>
          <a:solidFill>
            <a:srgbClr val="F3EFFE"/>
          </a:solidFill>
          <a:ln w="8890">
            <a:solidFill>
              <a:srgbClr val="F3EFFE"/>
            </a:solidFill>
            <a:prstDash val="solid"/>
          </a:ln>
        </p:spPr>
        <p:txBody>
          <a:bodyPr/>
          <a:lstStyle/>
          <a:p>
            <a:endParaRPr lang="en-US"/>
          </a:p>
        </p:txBody>
      </p:sp>
      <p:sp>
        <p:nvSpPr>
          <p:cNvPr id="3" name="Text 1"/>
          <p:cNvSpPr/>
          <p:nvPr/>
        </p:nvSpPr>
        <p:spPr>
          <a:xfrm>
            <a:off x="658368" y="320040"/>
            <a:ext cx="2798064" cy="292608"/>
          </a:xfrm>
          <a:prstGeom prst="rect">
            <a:avLst/>
          </a:prstGeom>
          <a:noFill/>
          <a:ln/>
        </p:spPr>
        <p:txBody>
          <a:bodyPr wrap="square" lIns="0" tIns="0" rIns="0" bIns="0" rtlCol="0" anchor="ctr"/>
          <a:lstStyle/>
          <a:p>
            <a:pPr marL="0" indent="0">
              <a:buNone/>
            </a:pPr>
            <a:r>
              <a:rPr lang="en-US" sz="1000" b="1" dirty="0">
                <a:solidFill>
                  <a:srgbClr val="7655D6"/>
                </a:solidFill>
                <a:latin typeface="Segoe UI" pitchFamily="34" charset="0"/>
                <a:ea typeface="Segoe UI" pitchFamily="34" charset="-122"/>
                <a:cs typeface="Segoe UI" pitchFamily="34" charset="-120"/>
              </a:rPr>
              <a:t>04 | IMPROVE + RETEST</a:t>
            </a:r>
            <a:endParaRPr lang="en-US" sz="1000" dirty="0"/>
          </a:p>
        </p:txBody>
      </p:sp>
      <p:sp>
        <p:nvSpPr>
          <p:cNvPr id="4" name="Text 2"/>
          <p:cNvSpPr/>
          <p:nvPr/>
        </p:nvSpPr>
        <p:spPr>
          <a:xfrm>
            <a:off x="9582912" y="320040"/>
            <a:ext cx="2057400" cy="292608"/>
          </a:xfrm>
          <a:prstGeom prst="rect">
            <a:avLst/>
          </a:prstGeom>
          <a:noFill/>
          <a:ln/>
        </p:spPr>
        <p:txBody>
          <a:bodyPr wrap="square" lIns="0" tIns="0" rIns="0" bIns="0" rtlCol="0" anchor="ctr"/>
          <a:lstStyle/>
          <a:p>
            <a:pPr marL="0" indent="0" algn="r">
              <a:buNone/>
            </a:pPr>
            <a:r>
              <a:rPr lang="en-US" sz="1100" dirty="0">
                <a:solidFill>
                  <a:srgbClr val="56657B"/>
                </a:solidFill>
                <a:latin typeface="Segoe UI" pitchFamily="34" charset="0"/>
                <a:ea typeface="Segoe UI" pitchFamily="34" charset="-122"/>
                <a:cs typeface="Segoe UI" pitchFamily="34" charset="-120"/>
              </a:rPr>
              <a:t>30-40 minutes</a:t>
            </a:r>
            <a:endParaRPr lang="en-US" sz="1100" dirty="0"/>
          </a:p>
        </p:txBody>
      </p:sp>
      <p:sp>
        <p:nvSpPr>
          <p:cNvPr id="5" name="Text 3"/>
          <p:cNvSpPr/>
          <p:nvPr/>
        </p:nvSpPr>
        <p:spPr>
          <a:xfrm>
            <a:off x="548640" y="877824"/>
            <a:ext cx="11064240" cy="621792"/>
          </a:xfrm>
          <a:prstGeom prst="rect">
            <a:avLst/>
          </a:prstGeom>
          <a:noFill/>
          <a:ln/>
        </p:spPr>
        <p:txBody>
          <a:bodyPr wrap="square" lIns="0" tIns="0" rIns="0" bIns="0" rtlCol="0" anchor="ctr"/>
          <a:lstStyle/>
          <a:p>
            <a:pPr marL="0" indent="0">
              <a:buNone/>
            </a:pPr>
            <a:r>
              <a:rPr lang="en-US" sz="3200" b="1" dirty="0">
                <a:solidFill>
                  <a:srgbClr val="17233C"/>
                </a:solidFill>
                <a:latin typeface="Segoe UI" pitchFamily="34" charset="0"/>
                <a:ea typeface="Segoe UI" pitchFamily="34" charset="-122"/>
                <a:cs typeface="Segoe UI" pitchFamily="34" charset="-120"/>
              </a:rPr>
              <a:t>Use an editing agent, with a controlled change path</a:t>
            </a:r>
            <a:endParaRPr lang="en-US" sz="3200" dirty="0"/>
          </a:p>
        </p:txBody>
      </p:sp>
      <p:sp>
        <p:nvSpPr>
          <p:cNvPr id="6" name="Text 4"/>
          <p:cNvSpPr/>
          <p:nvPr/>
        </p:nvSpPr>
        <p:spPr>
          <a:xfrm>
            <a:off x="566928" y="1581912"/>
            <a:ext cx="10927080" cy="502920"/>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The agent proposes and applies model edits. The owner remains accountable.</a:t>
            </a:r>
            <a:endParaRPr lang="en-US" sz="1500" dirty="0"/>
          </a:p>
        </p:txBody>
      </p:sp>
      <p:sp>
        <p:nvSpPr>
          <p:cNvPr id="7" name="Text 5"/>
          <p:cNvSpPr/>
          <p:nvPr/>
        </p:nvSpPr>
        <p:spPr>
          <a:xfrm>
            <a:off x="548640" y="6483096"/>
            <a:ext cx="4572000" cy="182880"/>
          </a:xfrm>
          <a:prstGeom prst="rect">
            <a:avLst/>
          </a:prstGeom>
          <a:noFill/>
          <a:ln/>
        </p:spPr>
        <p:txBody>
          <a:bodyPr wrap="square" lIns="0" tIns="0" rIns="0" bIns="0" rtlCol="0" anchor="ctr"/>
          <a:lstStyle/>
          <a:p>
            <a:pPr marL="0" indent="0">
              <a:buNone/>
            </a:pPr>
            <a:r>
              <a:rPr lang="en-US" sz="900" b="1" dirty="0">
                <a:solidFill>
                  <a:srgbClr val="56657B"/>
                </a:solidFill>
                <a:latin typeface="Segoe UI" pitchFamily="34" charset="0"/>
                <a:ea typeface="Segoe UI" pitchFamily="34" charset="-122"/>
                <a:cs typeface="Segoe UI" pitchFamily="34" charset="-120"/>
              </a:rPr>
              <a:t>TALK TO YOUR INSURANCE DATA</a:t>
            </a:r>
            <a:endParaRPr lang="en-US" sz="900" dirty="0"/>
          </a:p>
        </p:txBody>
      </p:sp>
      <p:sp>
        <p:nvSpPr>
          <p:cNvPr id="8" name="Text 6">
            <a:hlinkClick r:id="rId3"/>
          </p:cNvPr>
          <p:cNvSpPr/>
          <p:nvPr/>
        </p:nvSpPr>
        <p:spPr>
          <a:xfrm>
            <a:off x="8138160" y="6464808"/>
            <a:ext cx="2651760" cy="201168"/>
          </a:xfrm>
          <a:prstGeom prst="rect">
            <a:avLst/>
          </a:prstGeom>
          <a:noFill/>
          <a:ln/>
        </p:spPr>
        <p:txBody>
          <a:bodyPr wrap="square" lIns="0" tIns="0" rIns="0" bIns="0" rtlCol="0" anchor="ctr"/>
          <a:lstStyle/>
          <a:p>
            <a:pPr marL="0" indent="0" algn="r">
              <a:buNone/>
            </a:pPr>
            <a:r>
              <a:rPr lang="en-US" sz="900" u="sng" dirty="0">
                <a:solidFill>
                  <a:srgbClr val="56657B"/>
                </a:solidFill>
                <a:latin typeface="Segoe UI" pitchFamily="34" charset="0"/>
                <a:ea typeface="Segoe UI" pitchFamily="34" charset="-122"/>
                <a:cs typeface="Segoe UI" pitchFamily="34" charset="-120"/>
                <a:hlinkClick r:id="rId3">
                  <a:extLst>
                    <a:ext uri="{A12FA001-AC4F-418D-AE19-62706E023703}">
                      <ahyp:hlinkClr xmlns:ahyp="http://schemas.microsoft.com/office/drawing/2018/hyperlinkcolor" val="tx"/>
                    </a:ext>
                  </a:extLst>
                </a:hlinkClick>
              </a:rPr>
              <a:t>Microsoft Learn | source</a:t>
            </a:r>
            <a:endParaRPr lang="en-US" sz="900" dirty="0"/>
          </a:p>
        </p:txBody>
      </p:sp>
      <p:sp>
        <p:nvSpPr>
          <p:cNvPr id="9" name="Text 7"/>
          <p:cNvSpPr/>
          <p:nvPr/>
        </p:nvSpPr>
        <p:spPr>
          <a:xfrm>
            <a:off x="11082528" y="6437376"/>
            <a:ext cx="548640" cy="228600"/>
          </a:xfrm>
          <a:prstGeom prst="rect">
            <a:avLst/>
          </a:prstGeom>
          <a:noFill/>
          <a:ln/>
        </p:spPr>
        <p:txBody>
          <a:bodyPr wrap="square" lIns="0" tIns="0" rIns="0" bIns="0" rtlCol="0" anchor="ctr"/>
          <a:lstStyle/>
          <a:p>
            <a:pPr marL="0" indent="0" algn="r">
              <a:buNone/>
            </a:pPr>
            <a:r>
              <a:rPr lang="en-US" sz="1000" b="1" dirty="0">
                <a:solidFill>
                  <a:srgbClr val="7655D6"/>
                </a:solidFill>
                <a:latin typeface="Segoe UI" pitchFamily="34" charset="0"/>
                <a:ea typeface="Segoe UI" pitchFamily="34" charset="-122"/>
                <a:cs typeface="Segoe UI" pitchFamily="34" charset="-120"/>
              </a:rPr>
              <a:t>11</a:t>
            </a:r>
            <a:endParaRPr lang="en-US" sz="1000" dirty="0"/>
          </a:p>
        </p:txBody>
      </p:sp>
      <p:sp>
        <p:nvSpPr>
          <p:cNvPr id="10" name="Shape 8"/>
          <p:cNvSpPr/>
          <p:nvPr/>
        </p:nvSpPr>
        <p:spPr>
          <a:xfrm>
            <a:off x="548640" y="2414016"/>
            <a:ext cx="2560320" cy="2386584"/>
          </a:xfrm>
          <a:prstGeom prst="roundRect">
            <a:avLst>
              <a:gd name="adj" fmla="val 6130"/>
            </a:avLst>
          </a:prstGeom>
          <a:solidFill>
            <a:srgbClr val="EDF3FF"/>
          </a:solidFill>
          <a:ln w="8890">
            <a:solidFill>
              <a:srgbClr val="EDF3FF"/>
            </a:solidFill>
            <a:prstDash val="solid"/>
          </a:ln>
        </p:spPr>
        <p:txBody>
          <a:bodyPr/>
          <a:lstStyle/>
          <a:p>
            <a:endParaRPr lang="en-US"/>
          </a:p>
        </p:txBody>
      </p:sp>
      <p:sp>
        <p:nvSpPr>
          <p:cNvPr id="11" name="Shape 9"/>
          <p:cNvSpPr/>
          <p:nvPr/>
        </p:nvSpPr>
        <p:spPr>
          <a:xfrm>
            <a:off x="749808" y="2642616"/>
            <a:ext cx="438912" cy="438912"/>
          </a:xfrm>
          <a:prstGeom prst="ellipse">
            <a:avLst/>
          </a:prstGeom>
          <a:solidFill>
            <a:srgbClr val="2563EB"/>
          </a:solidFill>
          <a:ln w="12700">
            <a:solidFill>
              <a:srgbClr val="2563EB"/>
            </a:solidFill>
            <a:prstDash val="solid"/>
          </a:ln>
        </p:spPr>
        <p:txBody>
          <a:bodyPr/>
          <a:lstStyle/>
          <a:p>
            <a:endParaRPr lang="en-US"/>
          </a:p>
        </p:txBody>
      </p:sp>
      <p:sp>
        <p:nvSpPr>
          <p:cNvPr id="12" name="Text 10"/>
          <p:cNvSpPr/>
          <p:nvPr/>
        </p:nvSpPr>
        <p:spPr>
          <a:xfrm>
            <a:off x="749808" y="2642616"/>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13" name="Text 11"/>
          <p:cNvSpPr/>
          <p:nvPr/>
        </p:nvSpPr>
        <p:spPr>
          <a:xfrm>
            <a:off x="749808" y="3273552"/>
            <a:ext cx="2157984" cy="356616"/>
          </a:xfrm>
          <a:prstGeom prst="rect">
            <a:avLst/>
          </a:prstGeom>
          <a:noFill/>
          <a:ln/>
        </p:spPr>
        <p:txBody>
          <a:bodyPr wrap="square" lIns="0" tIns="0" rIns="0" bIns="0" rtlCol="0" anchor="ctr"/>
          <a:lstStyle/>
          <a:p>
            <a:pPr marL="0" indent="0">
              <a:buNone/>
            </a:pPr>
            <a:r>
              <a:rPr lang="en-US" sz="2200" b="1" dirty="0">
                <a:solidFill>
                  <a:srgbClr val="17233C"/>
                </a:solidFill>
                <a:latin typeface="Segoe UI" pitchFamily="34" charset="0"/>
                <a:ea typeface="Segoe UI" pitchFamily="34" charset="-122"/>
                <a:cs typeface="Segoe UI" pitchFamily="34" charset="-120"/>
              </a:rPr>
              <a:t>Checkpoint</a:t>
            </a:r>
            <a:endParaRPr lang="en-US" sz="2200" dirty="0"/>
          </a:p>
        </p:txBody>
      </p:sp>
      <p:sp>
        <p:nvSpPr>
          <p:cNvPr id="14" name="Text 12"/>
          <p:cNvSpPr/>
          <p:nvPr/>
        </p:nvSpPr>
        <p:spPr>
          <a:xfrm>
            <a:off x="749808" y="3858768"/>
            <a:ext cx="2157984" cy="804672"/>
          </a:xfrm>
          <a:prstGeom prst="rect">
            <a:avLst/>
          </a:prstGeom>
          <a:noFill/>
          <a:ln/>
        </p:spPr>
        <p:txBody>
          <a:bodyPr wrap="square" lIns="0" tIns="0" rIns="0" bIns="0" rtlCol="0" anchor="ctr"/>
          <a:lstStyle/>
          <a:p>
            <a:pPr marL="0" indent="0">
              <a:buNone/>
            </a:pPr>
            <a:r>
              <a:rPr lang="en-US" sz="1600" dirty="0">
                <a:solidFill>
                  <a:srgbClr val="56657B"/>
                </a:solidFill>
                <a:latin typeface="Segoe UI" pitchFamily="34" charset="0"/>
                <a:ea typeface="Segoe UI" pitchFamily="34" charset="-122"/>
                <a:cs typeface="Segoe UI" pitchFamily="34" charset="-120"/>
              </a:rPr>
              <a:t>Sandbox copy or</a:t>
            </a:r>
            <a:endParaRPr lang="en-US" sz="1600" dirty="0"/>
          </a:p>
          <a:p>
            <a:pPr marL="0" indent="0">
              <a:buNone/>
            </a:pPr>
            <a:r>
              <a:rPr lang="en-US" sz="1600" dirty="0">
                <a:solidFill>
                  <a:srgbClr val="56657B"/>
                </a:solidFill>
                <a:latin typeface="Segoe UI" pitchFamily="34" charset="0"/>
                <a:ea typeface="Segoe UI" pitchFamily="34" charset="-122"/>
                <a:cs typeface="Segoe UI" pitchFamily="34" charset="-120"/>
              </a:rPr>
              <a:t>version-history restore</a:t>
            </a:r>
            <a:endParaRPr lang="en-US" sz="1600" dirty="0"/>
          </a:p>
        </p:txBody>
      </p:sp>
      <p:sp>
        <p:nvSpPr>
          <p:cNvPr id="15" name="Shape 13"/>
          <p:cNvSpPr/>
          <p:nvPr/>
        </p:nvSpPr>
        <p:spPr>
          <a:xfrm>
            <a:off x="3154680" y="3602736"/>
            <a:ext cx="182880" cy="0"/>
          </a:xfrm>
          <a:prstGeom prst="line">
            <a:avLst/>
          </a:prstGeom>
          <a:noFill/>
          <a:ln w="22860">
            <a:solidFill>
              <a:srgbClr val="7655D6"/>
            </a:solidFill>
            <a:prstDash val="solid"/>
            <a:headEnd type="none"/>
            <a:tailEnd type="triangle"/>
          </a:ln>
        </p:spPr>
        <p:txBody>
          <a:bodyPr/>
          <a:lstStyle/>
          <a:p>
            <a:endParaRPr lang="en-US"/>
          </a:p>
        </p:txBody>
      </p:sp>
      <p:sp>
        <p:nvSpPr>
          <p:cNvPr id="16" name="Shape 14"/>
          <p:cNvSpPr/>
          <p:nvPr/>
        </p:nvSpPr>
        <p:spPr>
          <a:xfrm>
            <a:off x="3383280" y="2414016"/>
            <a:ext cx="2560320" cy="2386584"/>
          </a:xfrm>
          <a:prstGeom prst="roundRect">
            <a:avLst>
              <a:gd name="adj" fmla="val 6130"/>
            </a:avLst>
          </a:prstGeom>
          <a:solidFill>
            <a:srgbClr val="F3EFFE"/>
          </a:solidFill>
          <a:ln w="8890">
            <a:solidFill>
              <a:srgbClr val="F3EFFE"/>
            </a:solidFill>
            <a:prstDash val="solid"/>
          </a:ln>
        </p:spPr>
        <p:txBody>
          <a:bodyPr/>
          <a:lstStyle/>
          <a:p>
            <a:endParaRPr lang="en-US"/>
          </a:p>
        </p:txBody>
      </p:sp>
      <p:sp>
        <p:nvSpPr>
          <p:cNvPr id="17" name="Shape 15"/>
          <p:cNvSpPr/>
          <p:nvPr/>
        </p:nvSpPr>
        <p:spPr>
          <a:xfrm>
            <a:off x="3584448" y="2642616"/>
            <a:ext cx="438912" cy="438912"/>
          </a:xfrm>
          <a:prstGeom prst="ellipse">
            <a:avLst/>
          </a:prstGeom>
          <a:solidFill>
            <a:srgbClr val="7655D6"/>
          </a:solidFill>
          <a:ln w="12700">
            <a:solidFill>
              <a:srgbClr val="7655D6"/>
            </a:solidFill>
            <a:prstDash val="solid"/>
          </a:ln>
        </p:spPr>
        <p:txBody>
          <a:bodyPr/>
          <a:lstStyle/>
          <a:p>
            <a:endParaRPr lang="en-US"/>
          </a:p>
        </p:txBody>
      </p:sp>
      <p:sp>
        <p:nvSpPr>
          <p:cNvPr id="18" name="Text 16"/>
          <p:cNvSpPr/>
          <p:nvPr/>
        </p:nvSpPr>
        <p:spPr>
          <a:xfrm>
            <a:off x="3584448" y="2642616"/>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19" name="Text 17"/>
          <p:cNvSpPr/>
          <p:nvPr/>
        </p:nvSpPr>
        <p:spPr>
          <a:xfrm>
            <a:off x="3584448" y="3273552"/>
            <a:ext cx="2157984" cy="356616"/>
          </a:xfrm>
          <a:prstGeom prst="rect">
            <a:avLst/>
          </a:prstGeom>
          <a:noFill/>
          <a:ln/>
        </p:spPr>
        <p:txBody>
          <a:bodyPr wrap="square" lIns="0" tIns="0" rIns="0" bIns="0" rtlCol="0" anchor="ctr"/>
          <a:lstStyle/>
          <a:p>
            <a:pPr marL="0" indent="0">
              <a:buNone/>
            </a:pPr>
            <a:r>
              <a:rPr lang="en-US" sz="2200" b="1" dirty="0">
                <a:solidFill>
                  <a:srgbClr val="17233C"/>
                </a:solidFill>
                <a:latin typeface="Segoe UI" pitchFamily="34" charset="0"/>
                <a:ea typeface="Segoe UI" pitchFamily="34" charset="-122"/>
                <a:cs typeface="Segoe UI" pitchFamily="34" charset="-120"/>
              </a:rPr>
              <a:t>Agent edits</a:t>
            </a:r>
            <a:endParaRPr lang="en-US" sz="2200" dirty="0"/>
          </a:p>
        </p:txBody>
      </p:sp>
      <p:sp>
        <p:nvSpPr>
          <p:cNvPr id="20" name="Text 18"/>
          <p:cNvSpPr/>
          <p:nvPr/>
        </p:nvSpPr>
        <p:spPr>
          <a:xfrm>
            <a:off x="3584448" y="3858768"/>
            <a:ext cx="2157984" cy="804672"/>
          </a:xfrm>
          <a:prstGeom prst="rect">
            <a:avLst/>
          </a:prstGeom>
          <a:noFill/>
          <a:ln/>
        </p:spPr>
        <p:txBody>
          <a:bodyPr wrap="square" lIns="0" tIns="0" rIns="0" bIns="0" rtlCol="0" anchor="ctr"/>
          <a:lstStyle/>
          <a:p>
            <a:pPr marL="0" indent="0">
              <a:buNone/>
            </a:pPr>
            <a:r>
              <a:rPr lang="en-US" sz="1600" dirty="0">
                <a:solidFill>
                  <a:srgbClr val="56657B"/>
                </a:solidFill>
                <a:latin typeface="Segoe UI" pitchFamily="34" charset="0"/>
                <a:ea typeface="Segoe UI" pitchFamily="34" charset="-122"/>
                <a:cs typeface="Segoe UI" pitchFamily="34" charset="-120"/>
              </a:rPr>
              <a:t>Approved metadata</a:t>
            </a:r>
            <a:endParaRPr lang="en-US" sz="1600" dirty="0"/>
          </a:p>
          <a:p>
            <a:pPr marL="0" indent="0">
              <a:buNone/>
            </a:pPr>
            <a:r>
              <a:rPr lang="en-US" sz="1600" dirty="0">
                <a:solidFill>
                  <a:srgbClr val="56657B"/>
                </a:solidFill>
                <a:latin typeface="Segoe UI" pitchFamily="34" charset="0"/>
                <a:ea typeface="Segoe UI" pitchFamily="34" charset="-122"/>
                <a:cs typeface="Segoe UI" pitchFamily="34" charset="-120"/>
              </a:rPr>
              <a:t>and measure changes</a:t>
            </a:r>
            <a:endParaRPr lang="en-US" sz="1600" dirty="0"/>
          </a:p>
        </p:txBody>
      </p:sp>
      <p:sp>
        <p:nvSpPr>
          <p:cNvPr id="21" name="Shape 19"/>
          <p:cNvSpPr/>
          <p:nvPr/>
        </p:nvSpPr>
        <p:spPr>
          <a:xfrm>
            <a:off x="5989320" y="3602736"/>
            <a:ext cx="182880" cy="0"/>
          </a:xfrm>
          <a:prstGeom prst="line">
            <a:avLst/>
          </a:prstGeom>
          <a:noFill/>
          <a:ln w="22860">
            <a:solidFill>
              <a:srgbClr val="7655D6"/>
            </a:solidFill>
            <a:prstDash val="solid"/>
            <a:headEnd type="none"/>
            <a:tailEnd type="triangle"/>
          </a:ln>
        </p:spPr>
        <p:txBody>
          <a:bodyPr/>
          <a:lstStyle/>
          <a:p>
            <a:endParaRPr lang="en-US"/>
          </a:p>
        </p:txBody>
      </p:sp>
      <p:sp>
        <p:nvSpPr>
          <p:cNvPr id="22" name="Shape 20"/>
          <p:cNvSpPr/>
          <p:nvPr/>
        </p:nvSpPr>
        <p:spPr>
          <a:xfrm>
            <a:off x="6217920" y="2414016"/>
            <a:ext cx="2560320" cy="2386584"/>
          </a:xfrm>
          <a:prstGeom prst="roundRect">
            <a:avLst>
              <a:gd name="adj" fmla="val 6130"/>
            </a:avLst>
          </a:prstGeom>
          <a:solidFill>
            <a:srgbClr val="EDF3FF"/>
          </a:solidFill>
          <a:ln w="8890">
            <a:solidFill>
              <a:srgbClr val="EDF3FF"/>
            </a:solidFill>
            <a:prstDash val="solid"/>
          </a:ln>
        </p:spPr>
        <p:txBody>
          <a:bodyPr/>
          <a:lstStyle/>
          <a:p>
            <a:endParaRPr lang="en-US"/>
          </a:p>
        </p:txBody>
      </p:sp>
      <p:sp>
        <p:nvSpPr>
          <p:cNvPr id="23" name="Shape 21"/>
          <p:cNvSpPr/>
          <p:nvPr/>
        </p:nvSpPr>
        <p:spPr>
          <a:xfrm>
            <a:off x="6419088" y="2642616"/>
            <a:ext cx="438912" cy="438912"/>
          </a:xfrm>
          <a:prstGeom prst="ellipse">
            <a:avLst/>
          </a:prstGeom>
          <a:solidFill>
            <a:srgbClr val="2563EB"/>
          </a:solidFill>
          <a:ln w="12700">
            <a:solidFill>
              <a:srgbClr val="2563EB"/>
            </a:solidFill>
            <a:prstDash val="solid"/>
          </a:ln>
        </p:spPr>
        <p:txBody>
          <a:bodyPr/>
          <a:lstStyle/>
          <a:p>
            <a:endParaRPr lang="en-US"/>
          </a:p>
        </p:txBody>
      </p:sp>
      <p:sp>
        <p:nvSpPr>
          <p:cNvPr id="24" name="Text 22"/>
          <p:cNvSpPr/>
          <p:nvPr/>
        </p:nvSpPr>
        <p:spPr>
          <a:xfrm>
            <a:off x="6419088" y="2642616"/>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25" name="Text 23"/>
          <p:cNvSpPr/>
          <p:nvPr/>
        </p:nvSpPr>
        <p:spPr>
          <a:xfrm>
            <a:off x="6419088" y="3273552"/>
            <a:ext cx="2157984" cy="356616"/>
          </a:xfrm>
          <a:prstGeom prst="rect">
            <a:avLst/>
          </a:prstGeom>
          <a:noFill/>
          <a:ln/>
        </p:spPr>
        <p:txBody>
          <a:bodyPr wrap="square" lIns="0" tIns="0" rIns="0" bIns="0" rtlCol="0" anchor="ctr"/>
          <a:lstStyle/>
          <a:p>
            <a:pPr marL="0" indent="0">
              <a:buNone/>
            </a:pPr>
            <a:r>
              <a:rPr lang="en-US" sz="2200" b="1" dirty="0">
                <a:solidFill>
                  <a:srgbClr val="17233C"/>
                </a:solidFill>
                <a:latin typeface="Segoe UI" pitchFamily="34" charset="0"/>
                <a:ea typeface="Segoe UI" pitchFamily="34" charset="-122"/>
                <a:cs typeface="Segoe UI" pitchFamily="34" charset="-120"/>
              </a:rPr>
              <a:t>AI preparation</a:t>
            </a:r>
            <a:endParaRPr lang="en-US" sz="2200" dirty="0"/>
          </a:p>
        </p:txBody>
      </p:sp>
      <p:sp>
        <p:nvSpPr>
          <p:cNvPr id="26" name="Text 24"/>
          <p:cNvSpPr/>
          <p:nvPr/>
        </p:nvSpPr>
        <p:spPr>
          <a:xfrm>
            <a:off x="6419088" y="3858768"/>
            <a:ext cx="2157984" cy="804672"/>
          </a:xfrm>
          <a:prstGeom prst="rect">
            <a:avLst/>
          </a:prstGeom>
          <a:noFill/>
          <a:ln/>
        </p:spPr>
        <p:txBody>
          <a:bodyPr wrap="square" lIns="0" tIns="0" rIns="0" bIns="0" rtlCol="0" anchor="ctr"/>
          <a:lstStyle/>
          <a:p>
            <a:pPr marL="0" indent="0">
              <a:buNone/>
            </a:pPr>
            <a:r>
              <a:rPr lang="en-US" sz="1600" dirty="0">
                <a:solidFill>
                  <a:srgbClr val="56657B"/>
                </a:solidFill>
                <a:latin typeface="Segoe UI" pitchFamily="34" charset="0"/>
                <a:ea typeface="Segoe UI" pitchFamily="34" charset="-122"/>
                <a:cs typeface="Segoe UI" pitchFamily="34" charset="-120"/>
              </a:rPr>
              <a:t>Schema + instructions</a:t>
            </a:r>
            <a:endParaRPr lang="en-US" sz="1600" dirty="0"/>
          </a:p>
          <a:p>
            <a:pPr marL="0" indent="0">
              <a:buNone/>
            </a:pPr>
            <a:r>
              <a:rPr lang="en-US" sz="1600" dirty="0">
                <a:solidFill>
                  <a:srgbClr val="56657B"/>
                </a:solidFill>
                <a:latin typeface="Segoe UI" pitchFamily="34" charset="0"/>
                <a:ea typeface="Segoe UI" pitchFamily="34" charset="-122"/>
                <a:cs typeface="Segoe UI" pitchFamily="34" charset="-120"/>
              </a:rPr>
              <a:t>in Desktop or service</a:t>
            </a:r>
            <a:endParaRPr lang="en-US" sz="1600" dirty="0"/>
          </a:p>
        </p:txBody>
      </p:sp>
      <p:sp>
        <p:nvSpPr>
          <p:cNvPr id="27" name="Shape 25"/>
          <p:cNvSpPr/>
          <p:nvPr/>
        </p:nvSpPr>
        <p:spPr>
          <a:xfrm>
            <a:off x="8823960" y="3602736"/>
            <a:ext cx="182880" cy="0"/>
          </a:xfrm>
          <a:prstGeom prst="line">
            <a:avLst/>
          </a:prstGeom>
          <a:noFill/>
          <a:ln w="22860">
            <a:solidFill>
              <a:srgbClr val="7655D6"/>
            </a:solidFill>
            <a:prstDash val="solid"/>
            <a:headEnd type="none"/>
            <a:tailEnd type="triangle"/>
          </a:ln>
        </p:spPr>
        <p:txBody>
          <a:bodyPr/>
          <a:lstStyle/>
          <a:p>
            <a:endParaRPr lang="en-US"/>
          </a:p>
        </p:txBody>
      </p:sp>
      <p:sp>
        <p:nvSpPr>
          <p:cNvPr id="28" name="Shape 26"/>
          <p:cNvSpPr/>
          <p:nvPr/>
        </p:nvSpPr>
        <p:spPr>
          <a:xfrm>
            <a:off x="9052560" y="2414016"/>
            <a:ext cx="2560320" cy="2386584"/>
          </a:xfrm>
          <a:prstGeom prst="roundRect">
            <a:avLst>
              <a:gd name="adj" fmla="val 6130"/>
            </a:avLst>
          </a:prstGeom>
          <a:solidFill>
            <a:srgbClr val="F3EFFE"/>
          </a:solidFill>
          <a:ln w="8890">
            <a:solidFill>
              <a:srgbClr val="F3EFFE"/>
            </a:solidFill>
            <a:prstDash val="solid"/>
          </a:ln>
        </p:spPr>
        <p:txBody>
          <a:bodyPr/>
          <a:lstStyle/>
          <a:p>
            <a:endParaRPr lang="en-US"/>
          </a:p>
        </p:txBody>
      </p:sp>
      <p:sp>
        <p:nvSpPr>
          <p:cNvPr id="29" name="Shape 27"/>
          <p:cNvSpPr/>
          <p:nvPr/>
        </p:nvSpPr>
        <p:spPr>
          <a:xfrm>
            <a:off x="9253728" y="2642616"/>
            <a:ext cx="438912" cy="438912"/>
          </a:xfrm>
          <a:prstGeom prst="ellipse">
            <a:avLst/>
          </a:prstGeom>
          <a:solidFill>
            <a:srgbClr val="7655D6"/>
          </a:solidFill>
          <a:ln w="12700">
            <a:solidFill>
              <a:srgbClr val="7655D6"/>
            </a:solidFill>
            <a:prstDash val="solid"/>
          </a:ln>
        </p:spPr>
        <p:txBody>
          <a:bodyPr/>
          <a:lstStyle/>
          <a:p>
            <a:endParaRPr lang="en-US"/>
          </a:p>
        </p:txBody>
      </p:sp>
      <p:sp>
        <p:nvSpPr>
          <p:cNvPr id="30" name="Text 28"/>
          <p:cNvSpPr/>
          <p:nvPr/>
        </p:nvSpPr>
        <p:spPr>
          <a:xfrm>
            <a:off x="9253728" y="2642616"/>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4</a:t>
            </a:r>
            <a:endParaRPr lang="en-US" sz="1300" dirty="0"/>
          </a:p>
        </p:txBody>
      </p:sp>
      <p:sp>
        <p:nvSpPr>
          <p:cNvPr id="31" name="Text 29"/>
          <p:cNvSpPr/>
          <p:nvPr/>
        </p:nvSpPr>
        <p:spPr>
          <a:xfrm>
            <a:off x="9253728" y="3273552"/>
            <a:ext cx="2157984" cy="356616"/>
          </a:xfrm>
          <a:prstGeom prst="rect">
            <a:avLst/>
          </a:prstGeom>
          <a:noFill/>
          <a:ln/>
        </p:spPr>
        <p:txBody>
          <a:bodyPr wrap="square" lIns="0" tIns="0" rIns="0" bIns="0" rtlCol="0" anchor="ctr"/>
          <a:lstStyle/>
          <a:p>
            <a:pPr marL="0" indent="0">
              <a:buNone/>
            </a:pPr>
            <a:r>
              <a:rPr lang="en-US" sz="2200" b="1" dirty="0">
                <a:solidFill>
                  <a:srgbClr val="17233C"/>
                </a:solidFill>
                <a:latin typeface="Segoe UI" pitchFamily="34" charset="0"/>
                <a:ea typeface="Segoe UI" pitchFamily="34" charset="-122"/>
                <a:cs typeface="Segoe UI" pitchFamily="34" charset="-120"/>
              </a:rPr>
              <a:t>Review</a:t>
            </a:r>
            <a:endParaRPr lang="en-US" sz="2200" dirty="0"/>
          </a:p>
        </p:txBody>
      </p:sp>
      <p:sp>
        <p:nvSpPr>
          <p:cNvPr id="32" name="Text 30"/>
          <p:cNvSpPr/>
          <p:nvPr/>
        </p:nvSpPr>
        <p:spPr>
          <a:xfrm>
            <a:off x="9253728" y="3858768"/>
            <a:ext cx="2157984" cy="804672"/>
          </a:xfrm>
          <a:prstGeom prst="rect">
            <a:avLst/>
          </a:prstGeom>
          <a:noFill/>
          <a:ln/>
        </p:spPr>
        <p:txBody>
          <a:bodyPr wrap="square" lIns="0" tIns="0" rIns="0" bIns="0" rtlCol="0" anchor="ctr"/>
          <a:lstStyle/>
          <a:p>
            <a:pPr marL="0" indent="0">
              <a:buNone/>
            </a:pPr>
            <a:r>
              <a:rPr lang="en-US" sz="1600" dirty="0">
                <a:solidFill>
                  <a:srgbClr val="56657B"/>
                </a:solidFill>
                <a:latin typeface="Segoe UI" pitchFamily="34" charset="0"/>
                <a:ea typeface="Segoe UI" pitchFamily="34" charset="-122"/>
                <a:cs typeface="Segoe UI" pitchFamily="34" charset="-120"/>
              </a:rPr>
              <a:t>DAX, dependencies,</a:t>
            </a:r>
            <a:endParaRPr lang="en-US" sz="1600" dirty="0"/>
          </a:p>
          <a:p>
            <a:pPr marL="0" indent="0">
              <a:buNone/>
            </a:pPr>
            <a:r>
              <a:rPr lang="en-US" sz="1600" dirty="0">
                <a:solidFill>
                  <a:srgbClr val="56657B"/>
                </a:solidFill>
                <a:latin typeface="Segoe UI" pitchFamily="34" charset="0"/>
                <a:ea typeface="Segoe UI" pitchFamily="34" charset="-122"/>
                <a:cs typeface="Segoe UI" pitchFamily="34" charset="-120"/>
              </a:rPr>
              <a:t>security + reference tests</a:t>
            </a:r>
            <a:endParaRPr lang="en-US" sz="1600" dirty="0"/>
          </a:p>
        </p:txBody>
      </p:sp>
      <p:sp>
        <p:nvSpPr>
          <p:cNvPr id="33" name="Shape 31"/>
          <p:cNvSpPr/>
          <p:nvPr/>
        </p:nvSpPr>
        <p:spPr>
          <a:xfrm>
            <a:off x="548640" y="5230368"/>
            <a:ext cx="11064240" cy="740664"/>
          </a:xfrm>
          <a:prstGeom prst="roundRect">
            <a:avLst>
              <a:gd name="adj" fmla="val 19753"/>
            </a:avLst>
          </a:prstGeom>
          <a:solidFill>
            <a:srgbClr val="FFF5DF"/>
          </a:solidFill>
          <a:ln w="8890">
            <a:solidFill>
              <a:srgbClr val="FFF5DF"/>
            </a:solidFill>
            <a:prstDash val="solid"/>
          </a:ln>
        </p:spPr>
        <p:txBody>
          <a:bodyPr/>
          <a:lstStyle/>
          <a:p>
            <a:endParaRPr lang="en-US"/>
          </a:p>
        </p:txBody>
      </p:sp>
      <p:sp>
        <p:nvSpPr>
          <p:cNvPr id="34" name="Text 32"/>
          <p:cNvSpPr/>
          <p:nvPr/>
        </p:nvSpPr>
        <p:spPr>
          <a:xfrm>
            <a:off x="758952" y="5349240"/>
            <a:ext cx="2523744" cy="438912"/>
          </a:xfrm>
          <a:prstGeom prst="rect">
            <a:avLst/>
          </a:prstGeom>
          <a:noFill/>
          <a:ln/>
        </p:spPr>
        <p:txBody>
          <a:bodyPr wrap="square" lIns="0" tIns="0" rIns="0" bIns="0" rtlCol="0" anchor="ctr"/>
          <a:lstStyle/>
          <a:p>
            <a:pPr marL="0" indent="0">
              <a:buNone/>
            </a:pPr>
            <a:r>
              <a:rPr lang="en-US" sz="1700" b="1" dirty="0">
                <a:solidFill>
                  <a:srgbClr val="9A6000"/>
                </a:solidFill>
                <a:latin typeface="Segoe UI" pitchFamily="34" charset="0"/>
                <a:ea typeface="Segoe UI" pitchFamily="34" charset="-122"/>
                <a:cs typeface="Segoe UI" pitchFamily="34" charset="-120"/>
              </a:rPr>
              <a:t>Capability boundary</a:t>
            </a:r>
            <a:endParaRPr lang="en-US" sz="1700" dirty="0"/>
          </a:p>
        </p:txBody>
      </p:sp>
      <p:sp>
        <p:nvSpPr>
          <p:cNvPr id="35" name="Text 33"/>
          <p:cNvSpPr/>
          <p:nvPr/>
        </p:nvSpPr>
        <p:spPr>
          <a:xfrm>
            <a:off x="3419856" y="5312664"/>
            <a:ext cx="7946136" cy="539496"/>
          </a:xfrm>
          <a:prstGeom prst="rect">
            <a:avLst/>
          </a:prstGeom>
          <a:noFill/>
          <a:ln/>
        </p:spPr>
        <p:txBody>
          <a:bodyPr wrap="square" lIns="0" tIns="0" rIns="0" bIns="0" rtlCol="0" anchor="ctr"/>
          <a:lstStyle/>
          <a:p>
            <a:pPr marL="0" indent="0">
              <a:buNone/>
            </a:pPr>
            <a:r>
              <a:rPr lang="en-US" sz="1600" dirty="0">
                <a:solidFill>
                  <a:srgbClr val="9A6000"/>
                </a:solidFill>
                <a:latin typeface="Segoe UI" pitchFamily="34" charset="0"/>
                <a:ea typeface="Segoe UI" pitchFamily="34" charset="-122"/>
                <a:cs typeface="Segoe UI" pitchFamily="34" charset="-120"/>
              </a:rPr>
              <a:t>Copilot in web modeling cannot currently set Prep data for AI.</a:t>
            </a:r>
            <a:endParaRPr lang="en-US" sz="1600" dirty="0"/>
          </a:p>
          <a:p>
            <a:pPr marL="0" indent="0">
              <a:buNone/>
            </a:pPr>
            <a:r>
              <a:rPr lang="en-US" sz="1600" dirty="0">
                <a:solidFill>
                  <a:srgbClr val="9A6000"/>
                </a:solidFill>
                <a:latin typeface="Segoe UI" pitchFamily="34" charset="0"/>
                <a:ea typeface="Segoe UI" pitchFamily="34" charset="-122"/>
                <a:cs typeface="Segoe UI" pitchFamily="34" charset="-120"/>
              </a:rPr>
              <a:t>Use the dedicated authoring experience for that step.</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3017520" cy="292608"/>
          </a:xfrm>
          <a:prstGeom prst="roundRect">
            <a:avLst>
              <a:gd name="adj" fmla="val 50000"/>
            </a:avLst>
          </a:prstGeom>
          <a:solidFill>
            <a:srgbClr val="F3EFFE"/>
          </a:solidFill>
          <a:ln w="8890">
            <a:solidFill>
              <a:srgbClr val="F3EFFE"/>
            </a:solidFill>
            <a:prstDash val="solid"/>
          </a:ln>
        </p:spPr>
        <p:txBody>
          <a:bodyPr/>
          <a:lstStyle/>
          <a:p>
            <a:endParaRPr lang="en-US"/>
          </a:p>
        </p:txBody>
      </p:sp>
      <p:sp>
        <p:nvSpPr>
          <p:cNvPr id="3" name="Text 1"/>
          <p:cNvSpPr/>
          <p:nvPr/>
        </p:nvSpPr>
        <p:spPr>
          <a:xfrm>
            <a:off x="658368" y="320040"/>
            <a:ext cx="2798064" cy="292608"/>
          </a:xfrm>
          <a:prstGeom prst="rect">
            <a:avLst/>
          </a:prstGeom>
          <a:noFill/>
          <a:ln/>
        </p:spPr>
        <p:txBody>
          <a:bodyPr wrap="square" lIns="0" tIns="0" rIns="0" bIns="0" rtlCol="0" anchor="ctr"/>
          <a:lstStyle/>
          <a:p>
            <a:pPr marL="0" indent="0">
              <a:buNone/>
            </a:pPr>
            <a:r>
              <a:rPr lang="en-US" sz="1000" b="1" dirty="0">
                <a:solidFill>
                  <a:srgbClr val="7655D6"/>
                </a:solidFill>
                <a:latin typeface="Segoe UI" pitchFamily="34" charset="0"/>
                <a:ea typeface="Segoe UI" pitchFamily="34" charset="-122"/>
                <a:cs typeface="Segoe UI" pitchFamily="34" charset="-120"/>
              </a:rPr>
              <a:t>04 | IMPROVE + RETEST</a:t>
            </a:r>
            <a:endParaRPr lang="en-US" sz="1000" dirty="0"/>
          </a:p>
        </p:txBody>
      </p:sp>
      <p:sp>
        <p:nvSpPr>
          <p:cNvPr id="4" name="Text 2"/>
          <p:cNvSpPr/>
          <p:nvPr/>
        </p:nvSpPr>
        <p:spPr>
          <a:xfrm>
            <a:off x="9582912" y="320040"/>
            <a:ext cx="2057400" cy="292608"/>
          </a:xfrm>
          <a:prstGeom prst="rect">
            <a:avLst/>
          </a:prstGeom>
          <a:noFill/>
          <a:ln/>
        </p:spPr>
        <p:txBody>
          <a:bodyPr wrap="square" lIns="0" tIns="0" rIns="0" bIns="0" rtlCol="0" anchor="ctr"/>
          <a:lstStyle/>
          <a:p>
            <a:pPr marL="0" indent="0" algn="r">
              <a:buNone/>
            </a:pPr>
            <a:r>
              <a:rPr lang="en-US" sz="1100" dirty="0">
                <a:solidFill>
                  <a:srgbClr val="56657B"/>
                </a:solidFill>
                <a:latin typeface="Segoe UI" pitchFamily="34" charset="0"/>
                <a:ea typeface="Segoe UI" pitchFamily="34" charset="-122"/>
                <a:cs typeface="Segoe UI" pitchFamily="34" charset="-120"/>
              </a:rPr>
              <a:t>30-40 minutes</a:t>
            </a:r>
            <a:endParaRPr lang="en-US" sz="1100" dirty="0"/>
          </a:p>
        </p:txBody>
      </p:sp>
      <p:sp>
        <p:nvSpPr>
          <p:cNvPr id="5" name="Text 3"/>
          <p:cNvSpPr/>
          <p:nvPr/>
        </p:nvSpPr>
        <p:spPr>
          <a:xfrm>
            <a:off x="548640" y="877824"/>
            <a:ext cx="11064240" cy="621792"/>
          </a:xfrm>
          <a:prstGeom prst="rect">
            <a:avLst/>
          </a:prstGeom>
          <a:noFill/>
          <a:ln/>
        </p:spPr>
        <p:txBody>
          <a:bodyPr wrap="square" lIns="0" tIns="0" rIns="0" bIns="0" rtlCol="0" anchor="ctr"/>
          <a:lstStyle/>
          <a:p>
            <a:pPr marL="0" indent="0">
              <a:buNone/>
            </a:pPr>
            <a:r>
              <a:rPr lang="en-US" sz="3200" b="1" dirty="0">
                <a:solidFill>
                  <a:srgbClr val="17233C"/>
                </a:solidFill>
                <a:latin typeface="Segoe UI" pitchFamily="34" charset="0"/>
                <a:ea typeface="Segoe UI" pitchFamily="34" charset="-122"/>
                <a:cs typeface="Segoe UI" pitchFamily="34" charset="-120"/>
              </a:rPr>
              <a:t>Live demo: make the approved improvements explicit</a:t>
            </a:r>
            <a:endParaRPr lang="en-US" sz="3200" dirty="0"/>
          </a:p>
        </p:txBody>
      </p:sp>
      <p:sp>
        <p:nvSpPr>
          <p:cNvPr id="6" name="Text 4"/>
          <p:cNvSpPr/>
          <p:nvPr/>
        </p:nvSpPr>
        <p:spPr>
          <a:xfrm>
            <a:off x="566928" y="1581912"/>
            <a:ext cx="10927080" cy="502920"/>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Use the scorecard as the change brief, not an open-ended "make this better" prompt.</a:t>
            </a:r>
            <a:endParaRPr lang="en-US" sz="1500" dirty="0"/>
          </a:p>
        </p:txBody>
      </p:sp>
      <p:sp>
        <p:nvSpPr>
          <p:cNvPr id="7" name="Text 5"/>
          <p:cNvSpPr/>
          <p:nvPr/>
        </p:nvSpPr>
        <p:spPr>
          <a:xfrm>
            <a:off x="548640" y="6483096"/>
            <a:ext cx="4572000" cy="182880"/>
          </a:xfrm>
          <a:prstGeom prst="rect">
            <a:avLst/>
          </a:prstGeom>
          <a:noFill/>
          <a:ln/>
        </p:spPr>
        <p:txBody>
          <a:bodyPr wrap="square" lIns="0" tIns="0" rIns="0" bIns="0" rtlCol="0" anchor="ctr"/>
          <a:lstStyle/>
          <a:p>
            <a:pPr marL="0" indent="0">
              <a:buNone/>
            </a:pPr>
            <a:r>
              <a:rPr lang="en-US" sz="900" b="1" dirty="0">
                <a:solidFill>
                  <a:srgbClr val="56657B"/>
                </a:solidFill>
                <a:latin typeface="Segoe UI" pitchFamily="34" charset="0"/>
                <a:ea typeface="Segoe UI" pitchFamily="34" charset="-122"/>
                <a:cs typeface="Segoe UI" pitchFamily="34" charset="-120"/>
              </a:rPr>
              <a:t>TALK TO YOUR INSURANCE DATA</a:t>
            </a:r>
            <a:endParaRPr lang="en-US" sz="900" dirty="0"/>
          </a:p>
        </p:txBody>
      </p:sp>
      <p:sp>
        <p:nvSpPr>
          <p:cNvPr id="8" name="Text 6">
            <a:hlinkClick r:id="rId3"/>
          </p:cNvPr>
          <p:cNvSpPr/>
          <p:nvPr/>
        </p:nvSpPr>
        <p:spPr>
          <a:xfrm>
            <a:off x="8138160" y="6464808"/>
            <a:ext cx="2651760" cy="201168"/>
          </a:xfrm>
          <a:prstGeom prst="rect">
            <a:avLst/>
          </a:prstGeom>
          <a:noFill/>
          <a:ln/>
        </p:spPr>
        <p:txBody>
          <a:bodyPr wrap="square" lIns="0" tIns="0" rIns="0" bIns="0" rtlCol="0" anchor="ctr"/>
          <a:lstStyle/>
          <a:p>
            <a:pPr marL="0" indent="0" algn="r">
              <a:buNone/>
            </a:pPr>
            <a:r>
              <a:rPr lang="en-US" sz="900" u="sng" dirty="0">
                <a:solidFill>
                  <a:srgbClr val="56657B"/>
                </a:solidFill>
                <a:latin typeface="Segoe UI" pitchFamily="34" charset="0"/>
                <a:ea typeface="Segoe UI" pitchFamily="34" charset="-122"/>
                <a:cs typeface="Segoe UI" pitchFamily="34" charset="-120"/>
                <a:hlinkClick r:id="rId3">
                  <a:extLst>
                    <a:ext uri="{A12FA001-AC4F-418D-AE19-62706E023703}">
                      <ahyp:hlinkClr xmlns:ahyp="http://schemas.microsoft.com/office/drawing/2018/hyperlinkcolor" val="tx"/>
                    </a:ext>
                  </a:extLst>
                </a:hlinkClick>
              </a:rPr>
              <a:t>Microsoft Learn | source</a:t>
            </a:r>
            <a:endParaRPr lang="en-US" sz="900" dirty="0"/>
          </a:p>
        </p:txBody>
      </p:sp>
      <p:sp>
        <p:nvSpPr>
          <p:cNvPr id="9" name="Text 7"/>
          <p:cNvSpPr/>
          <p:nvPr/>
        </p:nvSpPr>
        <p:spPr>
          <a:xfrm>
            <a:off x="11082528" y="6437376"/>
            <a:ext cx="548640" cy="228600"/>
          </a:xfrm>
          <a:prstGeom prst="rect">
            <a:avLst/>
          </a:prstGeom>
          <a:noFill/>
          <a:ln/>
        </p:spPr>
        <p:txBody>
          <a:bodyPr wrap="square" lIns="0" tIns="0" rIns="0" bIns="0" rtlCol="0" anchor="ctr"/>
          <a:lstStyle/>
          <a:p>
            <a:pPr marL="0" indent="0" algn="r">
              <a:buNone/>
            </a:pPr>
            <a:r>
              <a:rPr lang="en-US" sz="1000" b="1" dirty="0">
                <a:solidFill>
                  <a:srgbClr val="7655D6"/>
                </a:solidFill>
                <a:latin typeface="Segoe UI" pitchFamily="34" charset="0"/>
                <a:ea typeface="Segoe UI" pitchFamily="34" charset="-122"/>
                <a:cs typeface="Segoe UI" pitchFamily="34" charset="-120"/>
              </a:rPr>
              <a:t>12</a:t>
            </a:r>
            <a:endParaRPr lang="en-US" sz="1000" dirty="0"/>
          </a:p>
        </p:txBody>
      </p:sp>
      <p:sp>
        <p:nvSpPr>
          <p:cNvPr id="10" name="Shape 8"/>
          <p:cNvSpPr/>
          <p:nvPr/>
        </p:nvSpPr>
        <p:spPr>
          <a:xfrm>
            <a:off x="548640" y="2258568"/>
            <a:ext cx="5266944" cy="3136392"/>
          </a:xfrm>
          <a:prstGeom prst="roundRect">
            <a:avLst>
              <a:gd name="adj" fmla="val 4665"/>
            </a:avLst>
          </a:prstGeom>
          <a:solidFill>
            <a:srgbClr val="F3EFFE"/>
          </a:solidFill>
          <a:ln w="8890">
            <a:solidFill>
              <a:srgbClr val="F3EFFE"/>
            </a:solidFill>
            <a:prstDash val="solid"/>
          </a:ln>
        </p:spPr>
        <p:txBody>
          <a:bodyPr/>
          <a:lstStyle/>
          <a:p>
            <a:endParaRPr lang="en-US"/>
          </a:p>
        </p:txBody>
      </p:sp>
      <p:sp>
        <p:nvSpPr>
          <p:cNvPr id="11" name="Text 9"/>
          <p:cNvSpPr/>
          <p:nvPr/>
        </p:nvSpPr>
        <p:spPr>
          <a:xfrm>
            <a:off x="786384" y="2496312"/>
            <a:ext cx="4791456" cy="320040"/>
          </a:xfrm>
          <a:prstGeom prst="rect">
            <a:avLst/>
          </a:prstGeom>
          <a:noFill/>
          <a:ln/>
        </p:spPr>
        <p:txBody>
          <a:bodyPr wrap="square" lIns="0" tIns="0" rIns="0" bIns="0" rtlCol="0" anchor="ctr"/>
          <a:lstStyle/>
          <a:p>
            <a:pPr marL="0" indent="0">
              <a:buNone/>
            </a:pPr>
            <a:r>
              <a:rPr lang="en-US" sz="1300" b="1" dirty="0">
                <a:solidFill>
                  <a:srgbClr val="7655D6"/>
                </a:solidFill>
                <a:latin typeface="Segoe UI" pitchFamily="34" charset="0"/>
                <a:ea typeface="Segoe UI" pitchFamily="34" charset="-122"/>
                <a:cs typeface="Segoe UI" pitchFamily="34" charset="-120"/>
              </a:rPr>
              <a:t>AGENT CHANGE BRIEF</a:t>
            </a:r>
            <a:endParaRPr lang="en-US" sz="1300" dirty="0"/>
          </a:p>
        </p:txBody>
      </p:sp>
      <p:sp>
        <p:nvSpPr>
          <p:cNvPr id="12" name="Text 10"/>
          <p:cNvSpPr/>
          <p:nvPr/>
        </p:nvSpPr>
        <p:spPr>
          <a:xfrm>
            <a:off x="786384" y="3008376"/>
            <a:ext cx="4727448" cy="530352"/>
          </a:xfrm>
          <a:prstGeom prst="rect">
            <a:avLst/>
          </a:prstGeom>
          <a:noFill/>
          <a:ln/>
        </p:spPr>
        <p:txBody>
          <a:bodyPr wrap="square" lIns="0" tIns="0" rIns="0" bIns="0" rtlCol="0" anchor="ctr"/>
          <a:lstStyle/>
          <a:p>
            <a:pPr marL="0" indent="0">
              <a:buNone/>
            </a:pPr>
            <a:r>
              <a:rPr lang="en-US" sz="2500" b="1" dirty="0">
                <a:solidFill>
                  <a:srgbClr val="17233C"/>
                </a:solidFill>
                <a:latin typeface="Segoe UI" pitchFamily="34" charset="0"/>
                <a:ea typeface="Segoe UI" pitchFamily="34" charset="-122"/>
                <a:cs typeface="Segoe UI" pitchFamily="34" charset="-120"/>
              </a:rPr>
              <a:t>Apply only the approved fixes</a:t>
            </a:r>
            <a:endParaRPr lang="en-US" sz="2500" dirty="0"/>
          </a:p>
        </p:txBody>
      </p:sp>
      <p:sp>
        <p:nvSpPr>
          <p:cNvPr id="13" name="Text 11"/>
          <p:cNvSpPr/>
          <p:nvPr/>
        </p:nvSpPr>
        <p:spPr>
          <a:xfrm>
            <a:off x="786384" y="3822192"/>
            <a:ext cx="4700016" cy="1207008"/>
          </a:xfrm>
          <a:prstGeom prst="rect">
            <a:avLst/>
          </a:prstGeom>
          <a:noFill/>
          <a:ln/>
        </p:spPr>
        <p:txBody>
          <a:bodyPr wrap="square" lIns="0" tIns="0" rIns="0" bIns="0" rtlCol="0" anchor="ctr"/>
          <a:lstStyle/>
          <a:p>
            <a:pPr marL="0" indent="0">
              <a:buNone/>
            </a:pPr>
            <a:r>
              <a:rPr lang="en-US" sz="1800" dirty="0">
                <a:solidFill>
                  <a:srgbClr val="56657B"/>
                </a:solidFill>
                <a:latin typeface="Segoe UI" pitchFamily="34" charset="0"/>
                <a:ea typeface="Segoe UI" pitchFamily="34" charset="-122"/>
                <a:cs typeface="Segoe UI" pitchFamily="34" charset="-120"/>
              </a:rPr>
              <a:t>Add business-approved descriptions.</a:t>
            </a:r>
            <a:endParaRPr lang="en-US" sz="1800" dirty="0"/>
          </a:p>
          <a:p>
            <a:pPr marL="0" indent="0">
              <a:buNone/>
            </a:pPr>
            <a:r>
              <a:rPr lang="en-US" sz="1800" dirty="0">
                <a:solidFill>
                  <a:srgbClr val="56657B"/>
                </a:solidFill>
                <a:latin typeface="Segoe UI" pitchFamily="34" charset="0"/>
                <a:ea typeface="Segoe UI" pitchFamily="34" charset="-122"/>
                <a:cs typeface="Segoe UI" pitchFamily="34" charset="-120"/>
              </a:rPr>
              <a:t>Refine the agreed measure if required.</a:t>
            </a:r>
            <a:endParaRPr lang="en-US" sz="1800" dirty="0"/>
          </a:p>
          <a:p>
            <a:pPr marL="0" indent="0">
              <a:buNone/>
            </a:pPr>
            <a:r>
              <a:rPr lang="en-US" sz="1800" dirty="0">
                <a:solidFill>
                  <a:srgbClr val="56657B"/>
                </a:solidFill>
                <a:latin typeface="Segoe UI" pitchFamily="34" charset="0"/>
                <a:ea typeface="Segoe UI" pitchFamily="34" charset="-122"/>
                <a:cs typeface="Segoe UI" pitchFamily="34" charset="-120"/>
              </a:rPr>
              <a:t>Preserve existing dependencies and security.</a:t>
            </a:r>
            <a:endParaRPr lang="en-US" sz="1800" dirty="0"/>
          </a:p>
          <a:p>
            <a:pPr marL="0" indent="0">
              <a:buNone/>
            </a:pPr>
            <a:r>
              <a:rPr lang="en-US" sz="1800" dirty="0">
                <a:solidFill>
                  <a:srgbClr val="56657B"/>
                </a:solidFill>
                <a:latin typeface="Segoe UI" pitchFamily="34" charset="0"/>
                <a:ea typeface="Segoe UI" pitchFamily="34" charset="-122"/>
                <a:cs typeface="Segoe UI" pitchFamily="34" charset="-120"/>
              </a:rPr>
              <a:t>Show the diff and reference-test results.</a:t>
            </a:r>
            <a:endParaRPr lang="en-US" sz="1800" dirty="0"/>
          </a:p>
        </p:txBody>
      </p:sp>
      <p:sp>
        <p:nvSpPr>
          <p:cNvPr id="14" name="Shape 12"/>
          <p:cNvSpPr/>
          <p:nvPr/>
        </p:nvSpPr>
        <p:spPr>
          <a:xfrm>
            <a:off x="6181344" y="2267712"/>
            <a:ext cx="5431536" cy="859536"/>
          </a:xfrm>
          <a:prstGeom prst="roundRect">
            <a:avLst>
              <a:gd name="adj" fmla="val 17021"/>
            </a:avLst>
          </a:prstGeom>
          <a:solidFill>
            <a:srgbClr val="F5F7FB"/>
          </a:solidFill>
          <a:ln w="8890">
            <a:solidFill>
              <a:srgbClr val="F5F7FB"/>
            </a:solidFill>
            <a:prstDash val="solid"/>
          </a:ln>
        </p:spPr>
        <p:txBody>
          <a:bodyPr/>
          <a:lstStyle/>
          <a:p>
            <a:endParaRPr lang="en-US"/>
          </a:p>
        </p:txBody>
      </p:sp>
      <p:sp>
        <p:nvSpPr>
          <p:cNvPr id="15" name="Text 13"/>
          <p:cNvSpPr/>
          <p:nvPr/>
        </p:nvSpPr>
        <p:spPr>
          <a:xfrm>
            <a:off x="6400800" y="2359152"/>
            <a:ext cx="4992624" cy="283464"/>
          </a:xfrm>
          <a:prstGeom prst="rect">
            <a:avLst/>
          </a:prstGeom>
          <a:noFill/>
          <a:ln/>
        </p:spPr>
        <p:txBody>
          <a:bodyPr wrap="square" lIns="0" tIns="0" rIns="0" bIns="0" rtlCol="0" anchor="ctr"/>
          <a:lstStyle/>
          <a:p>
            <a:pPr marL="0" indent="0">
              <a:buNone/>
            </a:pPr>
            <a:r>
              <a:rPr lang="en-US" sz="1800" b="1" dirty="0">
                <a:solidFill>
                  <a:srgbClr val="2563EB"/>
                </a:solidFill>
                <a:latin typeface="Segoe UI" pitchFamily="34" charset="0"/>
                <a:ea typeface="Segoe UI" pitchFamily="34" charset="-122"/>
                <a:cs typeface="Segoe UI" pitchFamily="34" charset="-120"/>
              </a:rPr>
              <a:t>Terminology</a:t>
            </a:r>
            <a:endParaRPr lang="en-US" sz="1800" dirty="0"/>
          </a:p>
        </p:txBody>
      </p:sp>
      <p:sp>
        <p:nvSpPr>
          <p:cNvPr id="16" name="Text 14"/>
          <p:cNvSpPr/>
          <p:nvPr/>
        </p:nvSpPr>
        <p:spPr>
          <a:xfrm>
            <a:off x="6400800" y="2734056"/>
            <a:ext cx="4992624" cy="265176"/>
          </a:xfrm>
          <a:prstGeom prst="rect">
            <a:avLst/>
          </a:prstGeom>
          <a:noFill/>
          <a:ln/>
        </p:spPr>
        <p:txBody>
          <a:bodyPr wrap="square" lIns="0" tIns="0" rIns="0" bIns="0" rtlCol="0" anchor="ctr"/>
          <a:lstStyle/>
          <a:p>
            <a:pPr marL="0" indent="0">
              <a:buNone/>
            </a:pPr>
            <a:r>
              <a:rPr lang="en-US" sz="1400" dirty="0">
                <a:solidFill>
                  <a:srgbClr val="56657B"/>
                </a:solidFill>
                <a:latin typeface="Segoe UI" pitchFamily="34" charset="0"/>
                <a:ea typeface="Segoe UI" pitchFamily="34" charset="-122"/>
                <a:cs typeface="Segoe UI" pitchFamily="34" charset="-120"/>
              </a:rPr>
              <a:t>Describe "in force" and the snapshot basis.</a:t>
            </a:r>
            <a:endParaRPr lang="en-US" sz="1400" dirty="0"/>
          </a:p>
        </p:txBody>
      </p:sp>
      <p:sp>
        <p:nvSpPr>
          <p:cNvPr id="17" name="Shape 15"/>
          <p:cNvSpPr/>
          <p:nvPr/>
        </p:nvSpPr>
        <p:spPr>
          <a:xfrm>
            <a:off x="6181344" y="3282696"/>
            <a:ext cx="5431536" cy="859536"/>
          </a:xfrm>
          <a:prstGeom prst="roundRect">
            <a:avLst>
              <a:gd name="adj" fmla="val 17021"/>
            </a:avLst>
          </a:prstGeom>
          <a:solidFill>
            <a:srgbClr val="F5F7FB"/>
          </a:solidFill>
          <a:ln w="8890">
            <a:solidFill>
              <a:srgbClr val="F5F7FB"/>
            </a:solidFill>
            <a:prstDash val="solid"/>
          </a:ln>
        </p:spPr>
        <p:txBody>
          <a:bodyPr/>
          <a:lstStyle/>
          <a:p>
            <a:endParaRPr lang="en-US"/>
          </a:p>
        </p:txBody>
      </p:sp>
      <p:sp>
        <p:nvSpPr>
          <p:cNvPr id="18" name="Text 16"/>
          <p:cNvSpPr/>
          <p:nvPr/>
        </p:nvSpPr>
        <p:spPr>
          <a:xfrm>
            <a:off x="6400800" y="3374136"/>
            <a:ext cx="4992624" cy="283464"/>
          </a:xfrm>
          <a:prstGeom prst="rect">
            <a:avLst/>
          </a:prstGeom>
          <a:noFill/>
          <a:ln/>
        </p:spPr>
        <p:txBody>
          <a:bodyPr wrap="square" lIns="0" tIns="0" rIns="0" bIns="0" rtlCol="0" anchor="ctr"/>
          <a:lstStyle/>
          <a:p>
            <a:pPr marL="0" indent="0">
              <a:buNone/>
            </a:pPr>
            <a:r>
              <a:rPr lang="en-US" sz="1800" b="1" dirty="0">
                <a:solidFill>
                  <a:srgbClr val="2563EB"/>
                </a:solidFill>
                <a:latin typeface="Segoe UI" pitchFamily="34" charset="0"/>
                <a:ea typeface="Segoe UI" pitchFamily="34" charset="-122"/>
                <a:cs typeface="Segoe UI" pitchFamily="34" charset="-120"/>
              </a:rPr>
              <a:t>Measure contract</a:t>
            </a:r>
            <a:endParaRPr lang="en-US" sz="1800" dirty="0"/>
          </a:p>
        </p:txBody>
      </p:sp>
      <p:sp>
        <p:nvSpPr>
          <p:cNvPr id="19" name="Text 17"/>
          <p:cNvSpPr/>
          <p:nvPr/>
        </p:nvSpPr>
        <p:spPr>
          <a:xfrm>
            <a:off x="6400800" y="3749040"/>
            <a:ext cx="4992624" cy="265176"/>
          </a:xfrm>
          <a:prstGeom prst="rect">
            <a:avLst/>
          </a:prstGeom>
          <a:noFill/>
          <a:ln/>
        </p:spPr>
        <p:txBody>
          <a:bodyPr wrap="square" lIns="0" tIns="0" rIns="0" bIns="0" rtlCol="0" anchor="ctr"/>
          <a:lstStyle/>
          <a:p>
            <a:pPr marL="0" indent="0">
              <a:buNone/>
            </a:pPr>
            <a:r>
              <a:rPr lang="en-US" sz="1400" dirty="0">
                <a:solidFill>
                  <a:srgbClr val="56657B"/>
                </a:solidFill>
                <a:latin typeface="Segoe UI" pitchFamily="34" charset="0"/>
                <a:ea typeface="Segoe UI" pitchFamily="34" charset="-122"/>
                <a:cs typeface="Segoe UI" pitchFamily="34" charset="-120"/>
              </a:rPr>
              <a:t>State claims-paid basis, unit and exclusions.</a:t>
            </a:r>
            <a:endParaRPr lang="en-US" sz="1400" dirty="0"/>
          </a:p>
        </p:txBody>
      </p:sp>
      <p:sp>
        <p:nvSpPr>
          <p:cNvPr id="20" name="Shape 18"/>
          <p:cNvSpPr/>
          <p:nvPr/>
        </p:nvSpPr>
        <p:spPr>
          <a:xfrm>
            <a:off x="6181344" y="4297680"/>
            <a:ext cx="5431536" cy="859536"/>
          </a:xfrm>
          <a:prstGeom prst="roundRect">
            <a:avLst>
              <a:gd name="adj" fmla="val 17021"/>
            </a:avLst>
          </a:prstGeom>
          <a:solidFill>
            <a:srgbClr val="EDF8F5"/>
          </a:solidFill>
          <a:ln w="8890">
            <a:solidFill>
              <a:srgbClr val="EDF8F5"/>
            </a:solidFill>
            <a:prstDash val="solid"/>
          </a:ln>
        </p:spPr>
        <p:txBody>
          <a:bodyPr/>
          <a:lstStyle/>
          <a:p>
            <a:endParaRPr lang="en-US"/>
          </a:p>
        </p:txBody>
      </p:sp>
      <p:sp>
        <p:nvSpPr>
          <p:cNvPr id="21" name="Text 19"/>
          <p:cNvSpPr/>
          <p:nvPr/>
        </p:nvSpPr>
        <p:spPr>
          <a:xfrm>
            <a:off x="6400800" y="4389120"/>
            <a:ext cx="4992624" cy="283464"/>
          </a:xfrm>
          <a:prstGeom prst="rect">
            <a:avLst/>
          </a:prstGeom>
          <a:noFill/>
          <a:ln/>
        </p:spPr>
        <p:txBody>
          <a:bodyPr wrap="square" lIns="0" tIns="0" rIns="0" bIns="0" rtlCol="0" anchor="ctr"/>
          <a:lstStyle/>
          <a:p>
            <a:pPr marL="0" indent="0">
              <a:buNone/>
            </a:pPr>
            <a:r>
              <a:rPr lang="en-US" sz="1800" b="1" dirty="0">
                <a:solidFill>
                  <a:srgbClr val="138477"/>
                </a:solidFill>
                <a:latin typeface="Segoe UI" pitchFamily="34" charset="0"/>
                <a:ea typeface="Segoe UI" pitchFamily="34" charset="-122"/>
                <a:cs typeface="Segoe UI" pitchFamily="34" charset="-120"/>
              </a:rPr>
              <a:t>Model AI instructions</a:t>
            </a:r>
            <a:endParaRPr lang="en-US" sz="1800" dirty="0"/>
          </a:p>
        </p:txBody>
      </p:sp>
      <p:sp>
        <p:nvSpPr>
          <p:cNvPr id="22" name="Text 20"/>
          <p:cNvSpPr/>
          <p:nvPr/>
        </p:nvSpPr>
        <p:spPr>
          <a:xfrm>
            <a:off x="6400800" y="4764024"/>
            <a:ext cx="4992624" cy="265176"/>
          </a:xfrm>
          <a:prstGeom prst="rect">
            <a:avLst/>
          </a:prstGeom>
          <a:noFill/>
          <a:ln/>
        </p:spPr>
        <p:txBody>
          <a:bodyPr wrap="square" lIns="0" tIns="0" rIns="0" bIns="0" rtlCol="0" anchor="ctr"/>
          <a:lstStyle/>
          <a:p>
            <a:pPr marL="0" indent="0">
              <a:buNone/>
            </a:pPr>
            <a:r>
              <a:rPr lang="en-US" sz="1400" dirty="0">
                <a:solidFill>
                  <a:srgbClr val="56657B"/>
                </a:solidFill>
                <a:latin typeface="Segoe UI" pitchFamily="34" charset="0"/>
                <a:ea typeface="Segoe UI" pitchFamily="34" charset="-122"/>
                <a:cs typeface="Segoe UI" pitchFamily="34" charset="-120"/>
              </a:rPr>
              <a:t>Use explicit date roles; clarify missing context.</a:t>
            </a:r>
            <a:endParaRPr lang="en-US" sz="1400" dirty="0"/>
          </a:p>
        </p:txBody>
      </p:sp>
      <p:sp>
        <p:nvSpPr>
          <p:cNvPr id="23" name="Shape 21"/>
          <p:cNvSpPr/>
          <p:nvPr/>
        </p:nvSpPr>
        <p:spPr>
          <a:xfrm>
            <a:off x="548640" y="5715000"/>
            <a:ext cx="11064240" cy="484632"/>
          </a:xfrm>
          <a:prstGeom prst="roundRect">
            <a:avLst>
              <a:gd name="adj" fmla="val 30189"/>
            </a:avLst>
          </a:prstGeom>
          <a:solidFill>
            <a:srgbClr val="EDF3FF"/>
          </a:solidFill>
          <a:ln w="8890">
            <a:solidFill>
              <a:srgbClr val="EDF3FF"/>
            </a:solidFill>
            <a:prstDash val="solid"/>
          </a:ln>
        </p:spPr>
        <p:txBody>
          <a:bodyPr/>
          <a:lstStyle/>
          <a:p>
            <a:endParaRPr lang="en-US"/>
          </a:p>
        </p:txBody>
      </p:sp>
      <p:sp>
        <p:nvSpPr>
          <p:cNvPr id="24" name="Text 22"/>
          <p:cNvSpPr/>
          <p:nvPr/>
        </p:nvSpPr>
        <p:spPr>
          <a:xfrm>
            <a:off x="758952" y="5788152"/>
            <a:ext cx="10643616" cy="329184"/>
          </a:xfrm>
          <a:prstGeom prst="rect">
            <a:avLst/>
          </a:prstGeom>
          <a:noFill/>
          <a:ln/>
        </p:spPr>
        <p:txBody>
          <a:bodyPr wrap="square" lIns="0" tIns="0" rIns="0" bIns="0" rtlCol="0" anchor="ctr"/>
          <a:lstStyle/>
          <a:p>
            <a:pPr marL="0" indent="0">
              <a:buNone/>
            </a:pPr>
            <a:r>
              <a:rPr lang="en-US" sz="1600" b="1" dirty="0">
                <a:solidFill>
                  <a:srgbClr val="2563EB"/>
                </a:solidFill>
                <a:latin typeface="Segoe UI" pitchFamily="34" charset="0"/>
                <a:ea typeface="Segoe UI" pitchFamily="34" charset="-122"/>
                <a:cs typeface="Segoe UI" pitchFamily="34" charset="-120"/>
              </a:rPr>
              <a:t>Save approved edits; update AI preparation; refresh / sync as required before retesting.</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3017520" cy="292608"/>
          </a:xfrm>
          <a:prstGeom prst="roundRect">
            <a:avLst>
              <a:gd name="adj" fmla="val 50000"/>
            </a:avLst>
          </a:prstGeom>
          <a:solidFill>
            <a:srgbClr val="F3EFFE"/>
          </a:solidFill>
          <a:ln w="8890">
            <a:solidFill>
              <a:srgbClr val="F3EFFE"/>
            </a:solidFill>
            <a:prstDash val="solid"/>
          </a:ln>
        </p:spPr>
        <p:txBody>
          <a:bodyPr/>
          <a:lstStyle/>
          <a:p>
            <a:endParaRPr lang="en-US"/>
          </a:p>
        </p:txBody>
      </p:sp>
      <p:sp>
        <p:nvSpPr>
          <p:cNvPr id="3" name="Text 1"/>
          <p:cNvSpPr/>
          <p:nvPr/>
        </p:nvSpPr>
        <p:spPr>
          <a:xfrm>
            <a:off x="658368" y="320040"/>
            <a:ext cx="2798064" cy="292608"/>
          </a:xfrm>
          <a:prstGeom prst="rect">
            <a:avLst/>
          </a:prstGeom>
          <a:noFill/>
          <a:ln/>
        </p:spPr>
        <p:txBody>
          <a:bodyPr wrap="square" lIns="0" tIns="0" rIns="0" bIns="0" rtlCol="0" anchor="ctr"/>
          <a:lstStyle/>
          <a:p>
            <a:pPr marL="0" indent="0">
              <a:buNone/>
            </a:pPr>
            <a:r>
              <a:rPr lang="en-US" sz="1000" b="1" dirty="0">
                <a:solidFill>
                  <a:srgbClr val="7655D6"/>
                </a:solidFill>
                <a:latin typeface="Segoe UI" pitchFamily="34" charset="0"/>
                <a:ea typeface="Segoe UI" pitchFamily="34" charset="-122"/>
                <a:cs typeface="Segoe UI" pitchFamily="34" charset="-120"/>
              </a:rPr>
              <a:t>04 | IMPROVE + RETEST</a:t>
            </a:r>
            <a:endParaRPr lang="en-US" sz="1000" dirty="0"/>
          </a:p>
        </p:txBody>
      </p:sp>
      <p:sp>
        <p:nvSpPr>
          <p:cNvPr id="4" name="Text 2"/>
          <p:cNvSpPr/>
          <p:nvPr/>
        </p:nvSpPr>
        <p:spPr>
          <a:xfrm>
            <a:off x="9582912" y="320040"/>
            <a:ext cx="2057400" cy="292608"/>
          </a:xfrm>
          <a:prstGeom prst="rect">
            <a:avLst/>
          </a:prstGeom>
          <a:noFill/>
          <a:ln/>
        </p:spPr>
        <p:txBody>
          <a:bodyPr wrap="square" lIns="0" tIns="0" rIns="0" bIns="0" rtlCol="0" anchor="ctr"/>
          <a:lstStyle/>
          <a:p>
            <a:pPr marL="0" indent="0" algn="r">
              <a:buNone/>
            </a:pPr>
            <a:r>
              <a:rPr lang="en-US" sz="1100" dirty="0">
                <a:solidFill>
                  <a:srgbClr val="56657B"/>
                </a:solidFill>
                <a:latin typeface="Segoe UI" pitchFamily="34" charset="0"/>
                <a:ea typeface="Segoe UI" pitchFamily="34" charset="-122"/>
                <a:cs typeface="Segoe UI" pitchFamily="34" charset="-120"/>
              </a:rPr>
              <a:t>30-40 minutes</a:t>
            </a:r>
            <a:endParaRPr lang="en-US" sz="1100" dirty="0"/>
          </a:p>
        </p:txBody>
      </p:sp>
      <p:sp>
        <p:nvSpPr>
          <p:cNvPr id="5" name="Text 3"/>
          <p:cNvSpPr/>
          <p:nvPr/>
        </p:nvSpPr>
        <p:spPr>
          <a:xfrm>
            <a:off x="548640" y="877824"/>
            <a:ext cx="11064240" cy="621792"/>
          </a:xfrm>
          <a:prstGeom prst="rect">
            <a:avLst/>
          </a:prstGeom>
          <a:noFill/>
          <a:ln/>
        </p:spPr>
        <p:txBody>
          <a:bodyPr wrap="square" lIns="0" tIns="0" rIns="0" bIns="0" rtlCol="0" anchor="ctr"/>
          <a:lstStyle/>
          <a:p>
            <a:pPr marL="0" indent="0">
              <a:buNone/>
            </a:pPr>
            <a:r>
              <a:rPr lang="en-US" sz="3200" b="1" dirty="0">
                <a:solidFill>
                  <a:srgbClr val="17233C"/>
                </a:solidFill>
                <a:latin typeface="Segoe UI" pitchFamily="34" charset="0"/>
                <a:ea typeface="Segoe UI" pitchFamily="34" charset="-122"/>
                <a:cs typeface="Segoe UI" pitchFamily="34" charset="-120"/>
              </a:rPr>
              <a:t>Ask again. Judge the evidence, not the confidence.</a:t>
            </a:r>
            <a:endParaRPr lang="en-US" sz="3200" dirty="0"/>
          </a:p>
        </p:txBody>
      </p:sp>
      <p:sp>
        <p:nvSpPr>
          <p:cNvPr id="6" name="Text 4"/>
          <p:cNvSpPr/>
          <p:nvPr/>
        </p:nvSpPr>
        <p:spPr>
          <a:xfrm>
            <a:off x="566928" y="1581912"/>
            <a:ext cx="10927080" cy="502920"/>
          </a:xfrm>
          <a:prstGeom prst="rect">
            <a:avLst/>
          </a:prstGeom>
          <a:noFill/>
          <a:ln/>
        </p:spPr>
        <p:txBody>
          <a:bodyPr wrap="square" lIns="0" tIns="0" rIns="0" bIns="0" rtlCol="0" anchor="ctr"/>
          <a:lstStyle/>
          <a:p>
            <a:pPr marL="0" indent="0">
              <a:buNone/>
            </a:pPr>
            <a:r>
              <a:rPr lang="en-US" sz="1500" dirty="0">
                <a:solidFill>
                  <a:srgbClr val="56657B"/>
                </a:solidFill>
                <a:latin typeface="Segoe UI" pitchFamily="34" charset="0"/>
                <a:ea typeface="Segoe UI" pitchFamily="34" charset="-122"/>
                <a:cs typeface="Segoe UI" pitchFamily="34" charset="-120"/>
              </a:rPr>
              <a:t>Replay the original questions in the same experiences against trusted reference results.</a:t>
            </a:r>
            <a:endParaRPr lang="en-US" sz="1500" dirty="0"/>
          </a:p>
        </p:txBody>
      </p:sp>
      <p:sp>
        <p:nvSpPr>
          <p:cNvPr id="7" name="Text 5"/>
          <p:cNvSpPr/>
          <p:nvPr/>
        </p:nvSpPr>
        <p:spPr>
          <a:xfrm>
            <a:off x="548640" y="6483096"/>
            <a:ext cx="4572000" cy="182880"/>
          </a:xfrm>
          <a:prstGeom prst="rect">
            <a:avLst/>
          </a:prstGeom>
          <a:noFill/>
          <a:ln/>
        </p:spPr>
        <p:txBody>
          <a:bodyPr wrap="square" lIns="0" tIns="0" rIns="0" bIns="0" rtlCol="0" anchor="ctr"/>
          <a:lstStyle/>
          <a:p>
            <a:pPr marL="0" indent="0">
              <a:buNone/>
            </a:pPr>
            <a:r>
              <a:rPr lang="en-US" sz="900" b="1" dirty="0">
                <a:solidFill>
                  <a:srgbClr val="56657B"/>
                </a:solidFill>
                <a:latin typeface="Segoe UI" pitchFamily="34" charset="0"/>
                <a:ea typeface="Segoe UI" pitchFamily="34" charset="-122"/>
                <a:cs typeface="Segoe UI" pitchFamily="34" charset="-120"/>
              </a:rPr>
              <a:t>TALK TO YOUR INSURANCE DATA</a:t>
            </a:r>
            <a:endParaRPr lang="en-US" sz="900" dirty="0"/>
          </a:p>
        </p:txBody>
      </p:sp>
      <p:sp>
        <p:nvSpPr>
          <p:cNvPr id="8" name="Text 6">
            <a:hlinkClick r:id="rId3"/>
          </p:cNvPr>
          <p:cNvSpPr/>
          <p:nvPr/>
        </p:nvSpPr>
        <p:spPr>
          <a:xfrm>
            <a:off x="8138160" y="6464808"/>
            <a:ext cx="2651760" cy="201168"/>
          </a:xfrm>
          <a:prstGeom prst="rect">
            <a:avLst/>
          </a:prstGeom>
          <a:noFill/>
          <a:ln/>
        </p:spPr>
        <p:txBody>
          <a:bodyPr wrap="square" lIns="0" tIns="0" rIns="0" bIns="0" rtlCol="0" anchor="ctr"/>
          <a:lstStyle/>
          <a:p>
            <a:pPr marL="0" indent="0" algn="r">
              <a:buNone/>
            </a:pPr>
            <a:r>
              <a:rPr lang="en-US" sz="900" u="sng" dirty="0">
                <a:solidFill>
                  <a:srgbClr val="56657B"/>
                </a:solidFill>
                <a:latin typeface="Segoe UI" pitchFamily="34" charset="0"/>
                <a:ea typeface="Segoe UI" pitchFamily="34" charset="-122"/>
                <a:cs typeface="Segoe UI" pitchFamily="34" charset="-120"/>
                <a:hlinkClick r:id="rId3">
                  <a:extLst>
                    <a:ext uri="{A12FA001-AC4F-418D-AE19-62706E023703}">
                      <ahyp:hlinkClr xmlns:ahyp="http://schemas.microsoft.com/office/drawing/2018/hyperlinkcolor" val="tx"/>
                    </a:ext>
                  </a:extLst>
                </a:hlinkClick>
              </a:rPr>
              <a:t>Microsoft Learn | source</a:t>
            </a:r>
            <a:endParaRPr lang="en-US" sz="900" dirty="0"/>
          </a:p>
        </p:txBody>
      </p:sp>
      <p:sp>
        <p:nvSpPr>
          <p:cNvPr id="9" name="Text 7"/>
          <p:cNvSpPr/>
          <p:nvPr/>
        </p:nvSpPr>
        <p:spPr>
          <a:xfrm>
            <a:off x="11082528" y="6437376"/>
            <a:ext cx="548640" cy="228600"/>
          </a:xfrm>
          <a:prstGeom prst="rect">
            <a:avLst/>
          </a:prstGeom>
          <a:noFill/>
          <a:ln/>
        </p:spPr>
        <p:txBody>
          <a:bodyPr wrap="square" lIns="0" tIns="0" rIns="0" bIns="0" rtlCol="0" anchor="ctr"/>
          <a:lstStyle/>
          <a:p>
            <a:pPr marL="0" indent="0" algn="r">
              <a:buNone/>
            </a:pPr>
            <a:r>
              <a:rPr lang="en-US" sz="1000" b="1" dirty="0">
                <a:solidFill>
                  <a:srgbClr val="7655D6"/>
                </a:solidFill>
                <a:latin typeface="Segoe UI" pitchFamily="34" charset="0"/>
                <a:ea typeface="Segoe UI" pitchFamily="34" charset="-122"/>
                <a:cs typeface="Segoe UI" pitchFamily="34" charset="-120"/>
              </a:rPr>
              <a:t>13</a:t>
            </a:r>
            <a:endParaRPr lang="en-US" sz="1000" dirty="0"/>
          </a:p>
        </p:txBody>
      </p:sp>
      <p:sp>
        <p:nvSpPr>
          <p:cNvPr id="10" name="Shape 8"/>
          <p:cNvSpPr/>
          <p:nvPr/>
        </p:nvSpPr>
        <p:spPr>
          <a:xfrm>
            <a:off x="548640" y="2313432"/>
            <a:ext cx="4864608" cy="438912"/>
          </a:xfrm>
          <a:prstGeom prst="rect">
            <a:avLst/>
          </a:prstGeom>
          <a:solidFill>
            <a:srgbClr val="17233C"/>
          </a:solidFill>
          <a:ln w="8890">
            <a:solidFill>
              <a:srgbClr val="17233C"/>
            </a:solidFill>
            <a:prstDash val="solid"/>
          </a:ln>
        </p:spPr>
        <p:txBody>
          <a:bodyPr/>
          <a:lstStyle/>
          <a:p>
            <a:endParaRPr lang="en-US"/>
          </a:p>
        </p:txBody>
      </p:sp>
      <p:sp>
        <p:nvSpPr>
          <p:cNvPr id="11" name="Text 9"/>
          <p:cNvSpPr/>
          <p:nvPr/>
        </p:nvSpPr>
        <p:spPr>
          <a:xfrm>
            <a:off x="676656" y="2313432"/>
            <a:ext cx="4608576" cy="438912"/>
          </a:xfrm>
          <a:prstGeom prst="rect">
            <a:avLst/>
          </a:prstGeom>
          <a:noFill/>
          <a:ln/>
        </p:spPr>
        <p:txBody>
          <a:bodyPr wrap="square" lIns="0" tIns="0" rIns="0" bIns="0"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ORIGINAL QUESTION</a:t>
            </a:r>
            <a:endParaRPr lang="en-US" sz="1100" dirty="0"/>
          </a:p>
        </p:txBody>
      </p:sp>
      <p:sp>
        <p:nvSpPr>
          <p:cNvPr id="12" name="Shape 10"/>
          <p:cNvSpPr/>
          <p:nvPr/>
        </p:nvSpPr>
        <p:spPr>
          <a:xfrm>
            <a:off x="5413248" y="2313432"/>
            <a:ext cx="2066544" cy="438912"/>
          </a:xfrm>
          <a:prstGeom prst="rect">
            <a:avLst/>
          </a:prstGeom>
          <a:solidFill>
            <a:srgbClr val="17233C"/>
          </a:solidFill>
          <a:ln w="8890">
            <a:solidFill>
              <a:srgbClr val="17233C"/>
            </a:solidFill>
            <a:prstDash val="solid"/>
          </a:ln>
        </p:spPr>
        <p:txBody>
          <a:bodyPr/>
          <a:lstStyle/>
          <a:p>
            <a:endParaRPr lang="en-US"/>
          </a:p>
        </p:txBody>
      </p:sp>
      <p:sp>
        <p:nvSpPr>
          <p:cNvPr id="13" name="Text 11"/>
          <p:cNvSpPr/>
          <p:nvPr/>
        </p:nvSpPr>
        <p:spPr>
          <a:xfrm>
            <a:off x="5541264" y="2313432"/>
            <a:ext cx="1810512" cy="438912"/>
          </a:xfrm>
          <a:prstGeom prst="rect">
            <a:avLst/>
          </a:prstGeom>
          <a:noFill/>
          <a:ln/>
        </p:spPr>
        <p:txBody>
          <a:bodyPr wrap="square" lIns="0" tIns="0" rIns="0" bIns="0"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BEFORE</a:t>
            </a:r>
            <a:endParaRPr lang="en-US" sz="1100" dirty="0"/>
          </a:p>
        </p:txBody>
      </p:sp>
      <p:sp>
        <p:nvSpPr>
          <p:cNvPr id="14" name="Shape 12"/>
          <p:cNvSpPr/>
          <p:nvPr/>
        </p:nvSpPr>
        <p:spPr>
          <a:xfrm>
            <a:off x="7479792" y="2313432"/>
            <a:ext cx="2066544" cy="438912"/>
          </a:xfrm>
          <a:prstGeom prst="rect">
            <a:avLst/>
          </a:prstGeom>
          <a:solidFill>
            <a:srgbClr val="17233C"/>
          </a:solidFill>
          <a:ln w="8890">
            <a:solidFill>
              <a:srgbClr val="17233C"/>
            </a:solidFill>
            <a:prstDash val="solid"/>
          </a:ln>
        </p:spPr>
        <p:txBody>
          <a:bodyPr/>
          <a:lstStyle/>
          <a:p>
            <a:endParaRPr lang="en-US"/>
          </a:p>
        </p:txBody>
      </p:sp>
      <p:sp>
        <p:nvSpPr>
          <p:cNvPr id="15" name="Text 13"/>
          <p:cNvSpPr/>
          <p:nvPr/>
        </p:nvSpPr>
        <p:spPr>
          <a:xfrm>
            <a:off x="7607808" y="2313432"/>
            <a:ext cx="1810512" cy="438912"/>
          </a:xfrm>
          <a:prstGeom prst="rect">
            <a:avLst/>
          </a:prstGeom>
          <a:noFill/>
          <a:ln/>
        </p:spPr>
        <p:txBody>
          <a:bodyPr wrap="square" lIns="0" tIns="0" rIns="0" bIns="0"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AFTER</a:t>
            </a:r>
            <a:endParaRPr lang="en-US" sz="1100" dirty="0"/>
          </a:p>
        </p:txBody>
      </p:sp>
      <p:sp>
        <p:nvSpPr>
          <p:cNvPr id="16" name="Shape 14"/>
          <p:cNvSpPr/>
          <p:nvPr/>
        </p:nvSpPr>
        <p:spPr>
          <a:xfrm>
            <a:off x="9546336" y="2313432"/>
            <a:ext cx="2066544" cy="438912"/>
          </a:xfrm>
          <a:prstGeom prst="rect">
            <a:avLst/>
          </a:prstGeom>
          <a:solidFill>
            <a:srgbClr val="17233C"/>
          </a:solidFill>
          <a:ln w="8890">
            <a:solidFill>
              <a:srgbClr val="17233C"/>
            </a:solidFill>
            <a:prstDash val="solid"/>
          </a:ln>
        </p:spPr>
        <p:txBody>
          <a:bodyPr/>
          <a:lstStyle/>
          <a:p>
            <a:endParaRPr lang="en-US"/>
          </a:p>
        </p:txBody>
      </p:sp>
      <p:sp>
        <p:nvSpPr>
          <p:cNvPr id="17" name="Text 15"/>
          <p:cNvSpPr/>
          <p:nvPr/>
        </p:nvSpPr>
        <p:spPr>
          <a:xfrm>
            <a:off x="9674352" y="2313432"/>
            <a:ext cx="1810512" cy="438912"/>
          </a:xfrm>
          <a:prstGeom prst="rect">
            <a:avLst/>
          </a:prstGeom>
          <a:noFill/>
          <a:ln/>
        </p:spPr>
        <p:txBody>
          <a:bodyPr wrap="square" lIns="0" tIns="0" rIns="0" bIns="0"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REFERENCE MATCH</a:t>
            </a:r>
            <a:endParaRPr lang="en-US" sz="1100" dirty="0"/>
          </a:p>
        </p:txBody>
      </p:sp>
      <p:sp>
        <p:nvSpPr>
          <p:cNvPr id="18" name="Shape 16"/>
          <p:cNvSpPr/>
          <p:nvPr/>
        </p:nvSpPr>
        <p:spPr>
          <a:xfrm>
            <a:off x="548640" y="2752344"/>
            <a:ext cx="4864608" cy="612648"/>
          </a:xfrm>
          <a:prstGeom prst="rect">
            <a:avLst/>
          </a:prstGeom>
          <a:solidFill>
            <a:srgbClr val="F5F7FB"/>
          </a:solidFill>
          <a:ln w="8890">
            <a:solidFill>
              <a:srgbClr val="F5F7FB"/>
            </a:solidFill>
            <a:prstDash val="solid"/>
          </a:ln>
        </p:spPr>
        <p:txBody>
          <a:bodyPr/>
          <a:lstStyle/>
          <a:p>
            <a:endParaRPr lang="en-US"/>
          </a:p>
        </p:txBody>
      </p:sp>
      <p:sp>
        <p:nvSpPr>
          <p:cNvPr id="19" name="Text 17"/>
          <p:cNvSpPr/>
          <p:nvPr/>
        </p:nvSpPr>
        <p:spPr>
          <a:xfrm>
            <a:off x="676656" y="2816352"/>
            <a:ext cx="4608576" cy="484632"/>
          </a:xfrm>
          <a:prstGeom prst="rect">
            <a:avLst/>
          </a:prstGeom>
          <a:noFill/>
          <a:ln/>
        </p:spPr>
        <p:txBody>
          <a:bodyPr wrap="square" lIns="0" tIns="0" rIns="0" bIns="0" rtlCol="0" anchor="ctr"/>
          <a:lstStyle/>
          <a:p>
            <a:pPr marL="0" indent="0">
              <a:buNone/>
            </a:pPr>
            <a:r>
              <a:rPr lang="en-US" sz="1600" b="1" dirty="0">
                <a:solidFill>
                  <a:srgbClr val="17233C"/>
                </a:solidFill>
                <a:latin typeface="Segoe UI" pitchFamily="34" charset="0"/>
                <a:ea typeface="Segoe UI" pitchFamily="34" charset="-122"/>
                <a:cs typeface="Segoe UI" pitchFamily="34" charset="-120"/>
              </a:rPr>
              <a:t>In-force policies | September 30, 2026</a:t>
            </a:r>
            <a:endParaRPr lang="en-US" sz="1600" dirty="0"/>
          </a:p>
        </p:txBody>
      </p:sp>
      <p:sp>
        <p:nvSpPr>
          <p:cNvPr id="20" name="Shape 18"/>
          <p:cNvSpPr/>
          <p:nvPr/>
        </p:nvSpPr>
        <p:spPr>
          <a:xfrm>
            <a:off x="5413248" y="2752344"/>
            <a:ext cx="2066544" cy="612648"/>
          </a:xfrm>
          <a:prstGeom prst="rect">
            <a:avLst/>
          </a:prstGeom>
          <a:solidFill>
            <a:srgbClr val="F5F7FB"/>
          </a:solidFill>
          <a:ln w="8890">
            <a:solidFill>
              <a:srgbClr val="F5F7FB"/>
            </a:solidFill>
            <a:prstDash val="solid"/>
          </a:ln>
        </p:spPr>
        <p:txBody>
          <a:bodyPr/>
          <a:lstStyle/>
          <a:p>
            <a:endParaRPr lang="en-US"/>
          </a:p>
        </p:txBody>
      </p:sp>
      <p:sp>
        <p:nvSpPr>
          <p:cNvPr id="21" name="Text 19"/>
          <p:cNvSpPr/>
          <p:nvPr/>
        </p:nvSpPr>
        <p:spPr>
          <a:xfrm>
            <a:off x="5541264" y="2816352"/>
            <a:ext cx="1810512" cy="484632"/>
          </a:xfrm>
          <a:prstGeom prst="rect">
            <a:avLst/>
          </a:prstGeom>
          <a:noFill/>
          <a:ln/>
        </p:spPr>
        <p:txBody>
          <a:bodyPr wrap="square" lIns="0" tIns="0" rIns="0" bIns="0" rtlCol="0" anchor="ctr"/>
          <a:lstStyle/>
          <a:p>
            <a:pPr marL="0" indent="0">
              <a:buNone/>
            </a:pPr>
            <a:r>
              <a:rPr lang="en-US" sz="1300" dirty="0">
                <a:solidFill>
                  <a:srgbClr val="56657B"/>
                </a:solidFill>
                <a:latin typeface="Segoe UI" pitchFamily="34" charset="0"/>
                <a:ea typeface="Segoe UI" pitchFamily="34" charset="-122"/>
                <a:cs typeface="Segoe UI" pitchFamily="34" charset="-120"/>
              </a:rPr>
              <a:t>Record live</a:t>
            </a:r>
            <a:endParaRPr lang="en-US" sz="1300" dirty="0"/>
          </a:p>
        </p:txBody>
      </p:sp>
      <p:sp>
        <p:nvSpPr>
          <p:cNvPr id="22" name="Shape 20"/>
          <p:cNvSpPr/>
          <p:nvPr/>
        </p:nvSpPr>
        <p:spPr>
          <a:xfrm>
            <a:off x="7479792" y="2752344"/>
            <a:ext cx="2066544" cy="612648"/>
          </a:xfrm>
          <a:prstGeom prst="rect">
            <a:avLst/>
          </a:prstGeom>
          <a:solidFill>
            <a:srgbClr val="F5F7FB"/>
          </a:solidFill>
          <a:ln w="8890">
            <a:solidFill>
              <a:srgbClr val="F5F7FB"/>
            </a:solidFill>
            <a:prstDash val="solid"/>
          </a:ln>
        </p:spPr>
        <p:txBody>
          <a:bodyPr/>
          <a:lstStyle/>
          <a:p>
            <a:endParaRPr lang="en-US"/>
          </a:p>
        </p:txBody>
      </p:sp>
      <p:sp>
        <p:nvSpPr>
          <p:cNvPr id="23" name="Text 21"/>
          <p:cNvSpPr/>
          <p:nvPr/>
        </p:nvSpPr>
        <p:spPr>
          <a:xfrm>
            <a:off x="7607808" y="2816352"/>
            <a:ext cx="1810512" cy="484632"/>
          </a:xfrm>
          <a:prstGeom prst="rect">
            <a:avLst/>
          </a:prstGeom>
          <a:noFill/>
          <a:ln/>
        </p:spPr>
        <p:txBody>
          <a:bodyPr wrap="square" lIns="0" tIns="0" rIns="0" bIns="0" rtlCol="0" anchor="ctr"/>
          <a:lstStyle/>
          <a:p>
            <a:pPr marL="0" indent="0">
              <a:buNone/>
            </a:pPr>
            <a:r>
              <a:rPr lang="en-US" sz="1300" dirty="0">
                <a:solidFill>
                  <a:srgbClr val="56657B"/>
                </a:solidFill>
                <a:latin typeface="Segoe UI" pitchFamily="34" charset="0"/>
                <a:ea typeface="Segoe UI" pitchFamily="34" charset="-122"/>
                <a:cs typeface="Segoe UI" pitchFamily="34" charset="-120"/>
              </a:rPr>
              <a:t>Record live</a:t>
            </a:r>
            <a:endParaRPr lang="en-US" sz="1300" dirty="0"/>
          </a:p>
        </p:txBody>
      </p:sp>
      <p:sp>
        <p:nvSpPr>
          <p:cNvPr id="24" name="Shape 22"/>
          <p:cNvSpPr/>
          <p:nvPr/>
        </p:nvSpPr>
        <p:spPr>
          <a:xfrm>
            <a:off x="9546336" y="2752344"/>
            <a:ext cx="2066544" cy="612648"/>
          </a:xfrm>
          <a:prstGeom prst="rect">
            <a:avLst/>
          </a:prstGeom>
          <a:solidFill>
            <a:srgbClr val="F5F7FB"/>
          </a:solidFill>
          <a:ln w="8890">
            <a:solidFill>
              <a:srgbClr val="F5F7FB"/>
            </a:solidFill>
            <a:prstDash val="solid"/>
          </a:ln>
        </p:spPr>
        <p:txBody>
          <a:bodyPr/>
          <a:lstStyle/>
          <a:p>
            <a:endParaRPr lang="en-US"/>
          </a:p>
        </p:txBody>
      </p:sp>
      <p:sp>
        <p:nvSpPr>
          <p:cNvPr id="25" name="Text 23"/>
          <p:cNvSpPr/>
          <p:nvPr/>
        </p:nvSpPr>
        <p:spPr>
          <a:xfrm>
            <a:off x="9674352" y="2816352"/>
            <a:ext cx="1810512" cy="484632"/>
          </a:xfrm>
          <a:prstGeom prst="rect">
            <a:avLst/>
          </a:prstGeom>
          <a:noFill/>
          <a:ln/>
        </p:spPr>
        <p:txBody>
          <a:bodyPr wrap="square" lIns="0" tIns="0" rIns="0" bIns="0" rtlCol="0" anchor="ctr"/>
          <a:lstStyle/>
          <a:p>
            <a:pPr marL="0" indent="0">
              <a:buNone/>
            </a:pPr>
            <a:r>
              <a:rPr lang="en-US" sz="1300" dirty="0">
                <a:solidFill>
                  <a:srgbClr val="56657B"/>
                </a:solidFill>
                <a:latin typeface="Segoe UI" pitchFamily="34" charset="0"/>
                <a:ea typeface="Segoe UI" pitchFamily="34" charset="-122"/>
                <a:cs typeface="Segoe UI" pitchFamily="34" charset="-120"/>
              </a:rPr>
              <a:t>Pass / fail / unclear</a:t>
            </a:r>
            <a:endParaRPr lang="en-US" sz="1300" dirty="0"/>
          </a:p>
        </p:txBody>
      </p:sp>
      <p:sp>
        <p:nvSpPr>
          <p:cNvPr id="26" name="Shape 24"/>
          <p:cNvSpPr/>
          <p:nvPr/>
        </p:nvSpPr>
        <p:spPr>
          <a:xfrm>
            <a:off x="548640" y="3364992"/>
            <a:ext cx="4864608" cy="612648"/>
          </a:xfrm>
          <a:prstGeom prst="rect">
            <a:avLst/>
          </a:prstGeom>
          <a:solidFill>
            <a:srgbClr val="FFFFFF"/>
          </a:solidFill>
          <a:ln w="8890">
            <a:solidFill>
              <a:srgbClr val="FFFFFF"/>
            </a:solidFill>
            <a:prstDash val="solid"/>
          </a:ln>
        </p:spPr>
        <p:txBody>
          <a:bodyPr/>
          <a:lstStyle/>
          <a:p>
            <a:endParaRPr lang="en-US"/>
          </a:p>
        </p:txBody>
      </p:sp>
      <p:sp>
        <p:nvSpPr>
          <p:cNvPr id="27" name="Text 25"/>
          <p:cNvSpPr/>
          <p:nvPr/>
        </p:nvSpPr>
        <p:spPr>
          <a:xfrm>
            <a:off x="676656" y="3429000"/>
            <a:ext cx="4608576" cy="484632"/>
          </a:xfrm>
          <a:prstGeom prst="rect">
            <a:avLst/>
          </a:prstGeom>
          <a:noFill/>
          <a:ln/>
        </p:spPr>
        <p:txBody>
          <a:bodyPr wrap="square" lIns="0" tIns="0" rIns="0" bIns="0" rtlCol="0" anchor="ctr"/>
          <a:lstStyle/>
          <a:p>
            <a:pPr marL="0" indent="0">
              <a:buNone/>
            </a:pPr>
            <a:r>
              <a:rPr lang="en-US" sz="1600" b="1" dirty="0">
                <a:solidFill>
                  <a:srgbClr val="17233C"/>
                </a:solidFill>
                <a:latin typeface="Segoe UI" pitchFamily="34" charset="0"/>
                <a:ea typeface="Segoe UI" pitchFamily="34" charset="-122"/>
                <a:cs typeface="Segoe UI" pitchFamily="34" charset="-120"/>
              </a:rPr>
              <a:t>Claims paid by product | July-September 2026</a:t>
            </a:r>
            <a:endParaRPr lang="en-US" sz="1600" dirty="0"/>
          </a:p>
        </p:txBody>
      </p:sp>
      <p:sp>
        <p:nvSpPr>
          <p:cNvPr id="28" name="Shape 26"/>
          <p:cNvSpPr/>
          <p:nvPr/>
        </p:nvSpPr>
        <p:spPr>
          <a:xfrm>
            <a:off x="5413248" y="3364992"/>
            <a:ext cx="2066544" cy="612648"/>
          </a:xfrm>
          <a:prstGeom prst="rect">
            <a:avLst/>
          </a:prstGeom>
          <a:solidFill>
            <a:srgbClr val="FFFFFF"/>
          </a:solidFill>
          <a:ln w="8890">
            <a:solidFill>
              <a:srgbClr val="FFFFFF"/>
            </a:solidFill>
            <a:prstDash val="solid"/>
          </a:ln>
        </p:spPr>
        <p:txBody>
          <a:bodyPr/>
          <a:lstStyle/>
          <a:p>
            <a:endParaRPr lang="en-US"/>
          </a:p>
        </p:txBody>
      </p:sp>
      <p:sp>
        <p:nvSpPr>
          <p:cNvPr id="29" name="Text 27"/>
          <p:cNvSpPr/>
          <p:nvPr/>
        </p:nvSpPr>
        <p:spPr>
          <a:xfrm>
            <a:off x="5541264" y="3429000"/>
            <a:ext cx="1810512" cy="484632"/>
          </a:xfrm>
          <a:prstGeom prst="rect">
            <a:avLst/>
          </a:prstGeom>
          <a:noFill/>
          <a:ln/>
        </p:spPr>
        <p:txBody>
          <a:bodyPr wrap="square" lIns="0" tIns="0" rIns="0" bIns="0" rtlCol="0" anchor="ctr"/>
          <a:lstStyle/>
          <a:p>
            <a:pPr marL="0" indent="0">
              <a:buNone/>
            </a:pPr>
            <a:r>
              <a:rPr lang="en-US" sz="1300" dirty="0">
                <a:solidFill>
                  <a:srgbClr val="56657B"/>
                </a:solidFill>
                <a:latin typeface="Segoe UI" pitchFamily="34" charset="0"/>
                <a:ea typeface="Segoe UI" pitchFamily="34" charset="-122"/>
                <a:cs typeface="Segoe UI" pitchFamily="34" charset="-120"/>
              </a:rPr>
              <a:t>Record live</a:t>
            </a:r>
            <a:endParaRPr lang="en-US" sz="1300" dirty="0"/>
          </a:p>
        </p:txBody>
      </p:sp>
      <p:sp>
        <p:nvSpPr>
          <p:cNvPr id="30" name="Shape 28"/>
          <p:cNvSpPr/>
          <p:nvPr/>
        </p:nvSpPr>
        <p:spPr>
          <a:xfrm>
            <a:off x="7479792" y="3364992"/>
            <a:ext cx="2066544" cy="612648"/>
          </a:xfrm>
          <a:prstGeom prst="rect">
            <a:avLst/>
          </a:prstGeom>
          <a:solidFill>
            <a:srgbClr val="FFFFFF"/>
          </a:solidFill>
          <a:ln w="8890">
            <a:solidFill>
              <a:srgbClr val="FFFFFF"/>
            </a:solidFill>
            <a:prstDash val="solid"/>
          </a:ln>
        </p:spPr>
        <p:txBody>
          <a:bodyPr/>
          <a:lstStyle/>
          <a:p>
            <a:endParaRPr lang="en-US"/>
          </a:p>
        </p:txBody>
      </p:sp>
      <p:sp>
        <p:nvSpPr>
          <p:cNvPr id="31" name="Text 29"/>
          <p:cNvSpPr/>
          <p:nvPr/>
        </p:nvSpPr>
        <p:spPr>
          <a:xfrm>
            <a:off x="7607808" y="3429000"/>
            <a:ext cx="1810512" cy="484632"/>
          </a:xfrm>
          <a:prstGeom prst="rect">
            <a:avLst/>
          </a:prstGeom>
          <a:noFill/>
          <a:ln/>
        </p:spPr>
        <p:txBody>
          <a:bodyPr wrap="square" lIns="0" tIns="0" rIns="0" bIns="0" rtlCol="0" anchor="ctr"/>
          <a:lstStyle/>
          <a:p>
            <a:pPr marL="0" indent="0">
              <a:buNone/>
            </a:pPr>
            <a:r>
              <a:rPr lang="en-US" sz="1300" dirty="0">
                <a:solidFill>
                  <a:srgbClr val="56657B"/>
                </a:solidFill>
                <a:latin typeface="Segoe UI" pitchFamily="34" charset="0"/>
                <a:ea typeface="Segoe UI" pitchFamily="34" charset="-122"/>
                <a:cs typeface="Segoe UI" pitchFamily="34" charset="-120"/>
              </a:rPr>
              <a:t>Record live</a:t>
            </a:r>
            <a:endParaRPr lang="en-US" sz="1300" dirty="0"/>
          </a:p>
        </p:txBody>
      </p:sp>
      <p:sp>
        <p:nvSpPr>
          <p:cNvPr id="32" name="Shape 30"/>
          <p:cNvSpPr/>
          <p:nvPr/>
        </p:nvSpPr>
        <p:spPr>
          <a:xfrm>
            <a:off x="9546336" y="3364992"/>
            <a:ext cx="2066544" cy="612648"/>
          </a:xfrm>
          <a:prstGeom prst="rect">
            <a:avLst/>
          </a:prstGeom>
          <a:solidFill>
            <a:srgbClr val="FFFFFF"/>
          </a:solidFill>
          <a:ln w="8890">
            <a:solidFill>
              <a:srgbClr val="FFFFFF"/>
            </a:solidFill>
            <a:prstDash val="solid"/>
          </a:ln>
        </p:spPr>
        <p:txBody>
          <a:bodyPr/>
          <a:lstStyle/>
          <a:p>
            <a:endParaRPr lang="en-US"/>
          </a:p>
        </p:txBody>
      </p:sp>
      <p:sp>
        <p:nvSpPr>
          <p:cNvPr id="33" name="Text 31"/>
          <p:cNvSpPr/>
          <p:nvPr/>
        </p:nvSpPr>
        <p:spPr>
          <a:xfrm>
            <a:off x="9674352" y="3429000"/>
            <a:ext cx="1810512" cy="484632"/>
          </a:xfrm>
          <a:prstGeom prst="rect">
            <a:avLst/>
          </a:prstGeom>
          <a:noFill/>
          <a:ln/>
        </p:spPr>
        <p:txBody>
          <a:bodyPr wrap="square" lIns="0" tIns="0" rIns="0" bIns="0" rtlCol="0" anchor="ctr"/>
          <a:lstStyle/>
          <a:p>
            <a:pPr marL="0" indent="0">
              <a:buNone/>
            </a:pPr>
            <a:r>
              <a:rPr lang="en-US" sz="1300" dirty="0">
                <a:solidFill>
                  <a:srgbClr val="56657B"/>
                </a:solidFill>
                <a:latin typeface="Segoe UI" pitchFamily="34" charset="0"/>
                <a:ea typeface="Segoe UI" pitchFamily="34" charset="-122"/>
                <a:cs typeface="Segoe UI" pitchFamily="34" charset="-120"/>
              </a:rPr>
              <a:t>Pass / fail / unclear</a:t>
            </a:r>
            <a:endParaRPr lang="en-US" sz="1300" dirty="0"/>
          </a:p>
        </p:txBody>
      </p:sp>
      <p:sp>
        <p:nvSpPr>
          <p:cNvPr id="34" name="Shape 32"/>
          <p:cNvSpPr/>
          <p:nvPr/>
        </p:nvSpPr>
        <p:spPr>
          <a:xfrm>
            <a:off x="548640" y="3977640"/>
            <a:ext cx="4864608" cy="612648"/>
          </a:xfrm>
          <a:prstGeom prst="rect">
            <a:avLst/>
          </a:prstGeom>
          <a:solidFill>
            <a:srgbClr val="F5F7FB"/>
          </a:solidFill>
          <a:ln w="8890">
            <a:solidFill>
              <a:srgbClr val="F5F7FB"/>
            </a:solidFill>
            <a:prstDash val="solid"/>
          </a:ln>
        </p:spPr>
        <p:txBody>
          <a:bodyPr/>
          <a:lstStyle/>
          <a:p>
            <a:endParaRPr lang="en-US"/>
          </a:p>
        </p:txBody>
      </p:sp>
      <p:sp>
        <p:nvSpPr>
          <p:cNvPr id="35" name="Text 33"/>
          <p:cNvSpPr/>
          <p:nvPr/>
        </p:nvSpPr>
        <p:spPr>
          <a:xfrm>
            <a:off x="676656" y="4041648"/>
            <a:ext cx="4608576" cy="484632"/>
          </a:xfrm>
          <a:prstGeom prst="rect">
            <a:avLst/>
          </a:prstGeom>
          <a:noFill/>
          <a:ln/>
        </p:spPr>
        <p:txBody>
          <a:bodyPr wrap="square" lIns="0" tIns="0" rIns="0" bIns="0" rtlCol="0" anchor="ctr"/>
          <a:lstStyle/>
          <a:p>
            <a:pPr marL="0" indent="0">
              <a:buNone/>
            </a:pPr>
            <a:r>
              <a:rPr lang="en-US" sz="1600" b="1" dirty="0">
                <a:solidFill>
                  <a:srgbClr val="17233C"/>
                </a:solidFill>
                <a:latin typeface="Segoe UI" pitchFamily="34" charset="0"/>
                <a:ea typeface="Segoe UI" pitchFamily="34" charset="-122"/>
                <a:cs typeface="Segoe UI" pitchFamily="34" charset="-120"/>
              </a:rPr>
              <a:t>Settlement time | closed in September 2026</a:t>
            </a:r>
            <a:endParaRPr lang="en-US" sz="1600" dirty="0"/>
          </a:p>
        </p:txBody>
      </p:sp>
      <p:sp>
        <p:nvSpPr>
          <p:cNvPr id="36" name="Shape 34"/>
          <p:cNvSpPr/>
          <p:nvPr/>
        </p:nvSpPr>
        <p:spPr>
          <a:xfrm>
            <a:off x="5413248" y="3977640"/>
            <a:ext cx="2066544" cy="612648"/>
          </a:xfrm>
          <a:prstGeom prst="rect">
            <a:avLst/>
          </a:prstGeom>
          <a:solidFill>
            <a:srgbClr val="F5F7FB"/>
          </a:solidFill>
          <a:ln w="8890">
            <a:solidFill>
              <a:srgbClr val="F5F7FB"/>
            </a:solidFill>
            <a:prstDash val="solid"/>
          </a:ln>
        </p:spPr>
        <p:txBody>
          <a:bodyPr/>
          <a:lstStyle/>
          <a:p>
            <a:endParaRPr lang="en-US"/>
          </a:p>
        </p:txBody>
      </p:sp>
      <p:sp>
        <p:nvSpPr>
          <p:cNvPr id="37" name="Text 35"/>
          <p:cNvSpPr/>
          <p:nvPr/>
        </p:nvSpPr>
        <p:spPr>
          <a:xfrm>
            <a:off x="5541264" y="4041648"/>
            <a:ext cx="1810512" cy="484632"/>
          </a:xfrm>
          <a:prstGeom prst="rect">
            <a:avLst/>
          </a:prstGeom>
          <a:noFill/>
          <a:ln/>
        </p:spPr>
        <p:txBody>
          <a:bodyPr wrap="square" lIns="0" tIns="0" rIns="0" bIns="0" rtlCol="0" anchor="ctr"/>
          <a:lstStyle/>
          <a:p>
            <a:pPr marL="0" indent="0">
              <a:buNone/>
            </a:pPr>
            <a:r>
              <a:rPr lang="en-US" sz="1300" dirty="0">
                <a:solidFill>
                  <a:srgbClr val="56657B"/>
                </a:solidFill>
                <a:latin typeface="Segoe UI" pitchFamily="34" charset="0"/>
                <a:ea typeface="Segoe UI" pitchFamily="34" charset="-122"/>
                <a:cs typeface="Segoe UI" pitchFamily="34" charset="-120"/>
              </a:rPr>
              <a:t>Record live</a:t>
            </a:r>
            <a:endParaRPr lang="en-US" sz="1300" dirty="0"/>
          </a:p>
        </p:txBody>
      </p:sp>
      <p:sp>
        <p:nvSpPr>
          <p:cNvPr id="38" name="Shape 36"/>
          <p:cNvSpPr/>
          <p:nvPr/>
        </p:nvSpPr>
        <p:spPr>
          <a:xfrm>
            <a:off x="7479792" y="3977640"/>
            <a:ext cx="2066544" cy="612648"/>
          </a:xfrm>
          <a:prstGeom prst="rect">
            <a:avLst/>
          </a:prstGeom>
          <a:solidFill>
            <a:srgbClr val="F5F7FB"/>
          </a:solidFill>
          <a:ln w="8890">
            <a:solidFill>
              <a:srgbClr val="F5F7FB"/>
            </a:solidFill>
            <a:prstDash val="solid"/>
          </a:ln>
        </p:spPr>
        <p:txBody>
          <a:bodyPr/>
          <a:lstStyle/>
          <a:p>
            <a:endParaRPr lang="en-US"/>
          </a:p>
        </p:txBody>
      </p:sp>
      <p:sp>
        <p:nvSpPr>
          <p:cNvPr id="39" name="Text 37"/>
          <p:cNvSpPr/>
          <p:nvPr/>
        </p:nvSpPr>
        <p:spPr>
          <a:xfrm>
            <a:off x="7607808" y="4041648"/>
            <a:ext cx="1810512" cy="484632"/>
          </a:xfrm>
          <a:prstGeom prst="rect">
            <a:avLst/>
          </a:prstGeom>
          <a:noFill/>
          <a:ln/>
        </p:spPr>
        <p:txBody>
          <a:bodyPr wrap="square" lIns="0" tIns="0" rIns="0" bIns="0" rtlCol="0" anchor="ctr"/>
          <a:lstStyle/>
          <a:p>
            <a:pPr marL="0" indent="0">
              <a:buNone/>
            </a:pPr>
            <a:r>
              <a:rPr lang="en-US" sz="1300" dirty="0">
                <a:solidFill>
                  <a:srgbClr val="56657B"/>
                </a:solidFill>
                <a:latin typeface="Segoe UI" pitchFamily="34" charset="0"/>
                <a:ea typeface="Segoe UI" pitchFamily="34" charset="-122"/>
                <a:cs typeface="Segoe UI" pitchFamily="34" charset="-120"/>
              </a:rPr>
              <a:t>Record live</a:t>
            </a:r>
            <a:endParaRPr lang="en-US" sz="1300" dirty="0"/>
          </a:p>
        </p:txBody>
      </p:sp>
      <p:sp>
        <p:nvSpPr>
          <p:cNvPr id="40" name="Shape 38"/>
          <p:cNvSpPr/>
          <p:nvPr/>
        </p:nvSpPr>
        <p:spPr>
          <a:xfrm>
            <a:off x="9546336" y="3977640"/>
            <a:ext cx="2066544" cy="612648"/>
          </a:xfrm>
          <a:prstGeom prst="rect">
            <a:avLst/>
          </a:prstGeom>
          <a:solidFill>
            <a:srgbClr val="F5F7FB"/>
          </a:solidFill>
          <a:ln w="8890">
            <a:solidFill>
              <a:srgbClr val="F5F7FB"/>
            </a:solidFill>
            <a:prstDash val="solid"/>
          </a:ln>
        </p:spPr>
        <p:txBody>
          <a:bodyPr/>
          <a:lstStyle/>
          <a:p>
            <a:endParaRPr lang="en-US"/>
          </a:p>
        </p:txBody>
      </p:sp>
      <p:sp>
        <p:nvSpPr>
          <p:cNvPr id="41" name="Text 39"/>
          <p:cNvSpPr/>
          <p:nvPr/>
        </p:nvSpPr>
        <p:spPr>
          <a:xfrm>
            <a:off x="9674352" y="4041648"/>
            <a:ext cx="1810512" cy="484632"/>
          </a:xfrm>
          <a:prstGeom prst="rect">
            <a:avLst/>
          </a:prstGeom>
          <a:noFill/>
          <a:ln/>
        </p:spPr>
        <p:txBody>
          <a:bodyPr wrap="square" lIns="0" tIns="0" rIns="0" bIns="0" rtlCol="0" anchor="ctr"/>
          <a:lstStyle/>
          <a:p>
            <a:pPr marL="0" indent="0">
              <a:buNone/>
            </a:pPr>
            <a:r>
              <a:rPr lang="en-US" sz="1300" dirty="0">
                <a:solidFill>
                  <a:srgbClr val="56657B"/>
                </a:solidFill>
                <a:latin typeface="Segoe UI" pitchFamily="34" charset="0"/>
                <a:ea typeface="Segoe UI" pitchFamily="34" charset="-122"/>
                <a:cs typeface="Segoe UI" pitchFamily="34" charset="-120"/>
              </a:rPr>
              <a:t>Pass / fail / unclear</a:t>
            </a:r>
            <a:endParaRPr lang="en-US" sz="1300" dirty="0"/>
          </a:p>
        </p:txBody>
      </p:sp>
      <p:sp>
        <p:nvSpPr>
          <p:cNvPr id="42" name="Shape 40"/>
          <p:cNvSpPr/>
          <p:nvPr/>
        </p:nvSpPr>
        <p:spPr>
          <a:xfrm>
            <a:off x="548640" y="4965192"/>
            <a:ext cx="3493008" cy="859536"/>
          </a:xfrm>
          <a:prstGeom prst="roundRect">
            <a:avLst>
              <a:gd name="adj" fmla="val 17021"/>
            </a:avLst>
          </a:prstGeom>
          <a:solidFill>
            <a:srgbClr val="EDF3FF"/>
          </a:solidFill>
          <a:ln w="8890">
            <a:solidFill>
              <a:srgbClr val="EDF3FF"/>
            </a:solidFill>
            <a:prstDash val="solid"/>
          </a:ln>
        </p:spPr>
        <p:txBody>
          <a:bodyPr/>
          <a:lstStyle/>
          <a:p>
            <a:endParaRPr lang="en-US"/>
          </a:p>
        </p:txBody>
      </p:sp>
      <p:sp>
        <p:nvSpPr>
          <p:cNvPr id="43" name="Text 41"/>
          <p:cNvSpPr/>
          <p:nvPr/>
        </p:nvSpPr>
        <p:spPr>
          <a:xfrm>
            <a:off x="731520" y="5093208"/>
            <a:ext cx="3127248" cy="283464"/>
          </a:xfrm>
          <a:prstGeom prst="rect">
            <a:avLst/>
          </a:prstGeom>
          <a:noFill/>
          <a:ln/>
        </p:spPr>
        <p:txBody>
          <a:bodyPr wrap="square" lIns="0" tIns="0" rIns="0" bIns="0" rtlCol="0" anchor="ctr"/>
          <a:lstStyle/>
          <a:p>
            <a:pPr marL="0" indent="0">
              <a:buNone/>
            </a:pPr>
            <a:r>
              <a:rPr lang="en-US" sz="1900" b="1" dirty="0">
                <a:solidFill>
                  <a:srgbClr val="2563EB"/>
                </a:solidFill>
                <a:latin typeface="Segoe UI" pitchFamily="34" charset="0"/>
                <a:ea typeface="Segoe UI" pitchFamily="34" charset="-122"/>
                <a:cs typeface="Segoe UI" pitchFamily="34" charset="-120"/>
              </a:rPr>
              <a:t>Correct metric</a:t>
            </a:r>
            <a:endParaRPr lang="en-US" sz="1900" dirty="0"/>
          </a:p>
        </p:txBody>
      </p:sp>
      <p:sp>
        <p:nvSpPr>
          <p:cNvPr id="44" name="Text 42"/>
          <p:cNvSpPr/>
          <p:nvPr/>
        </p:nvSpPr>
        <p:spPr>
          <a:xfrm>
            <a:off x="731520" y="5495544"/>
            <a:ext cx="3127248" cy="192024"/>
          </a:xfrm>
          <a:prstGeom prst="rect">
            <a:avLst/>
          </a:prstGeom>
          <a:noFill/>
          <a:ln/>
        </p:spPr>
        <p:txBody>
          <a:bodyPr wrap="square" lIns="0" tIns="0" rIns="0" bIns="0" rtlCol="0" anchor="ctr"/>
          <a:lstStyle/>
          <a:p>
            <a:pPr marL="0" indent="0">
              <a:buNone/>
            </a:pPr>
            <a:r>
              <a:rPr lang="en-US" sz="1300" dirty="0">
                <a:solidFill>
                  <a:srgbClr val="56657B"/>
                </a:solidFill>
                <a:latin typeface="Segoe UI" pitchFamily="34" charset="0"/>
                <a:ea typeface="Segoe UI" pitchFamily="34" charset="-122"/>
                <a:cs typeface="Segoe UI" pitchFamily="34" charset="-120"/>
              </a:rPr>
              <a:t>Measure + business definition</a:t>
            </a:r>
            <a:endParaRPr lang="en-US" sz="1300" dirty="0"/>
          </a:p>
        </p:txBody>
      </p:sp>
      <p:sp>
        <p:nvSpPr>
          <p:cNvPr id="45" name="Shape 43"/>
          <p:cNvSpPr/>
          <p:nvPr/>
        </p:nvSpPr>
        <p:spPr>
          <a:xfrm>
            <a:off x="4334256" y="4965192"/>
            <a:ext cx="3493008" cy="859536"/>
          </a:xfrm>
          <a:prstGeom prst="roundRect">
            <a:avLst>
              <a:gd name="adj" fmla="val 17021"/>
            </a:avLst>
          </a:prstGeom>
          <a:solidFill>
            <a:srgbClr val="F3EFFE"/>
          </a:solidFill>
          <a:ln w="8890">
            <a:solidFill>
              <a:srgbClr val="F3EFFE"/>
            </a:solidFill>
            <a:prstDash val="solid"/>
          </a:ln>
        </p:spPr>
        <p:txBody>
          <a:bodyPr/>
          <a:lstStyle/>
          <a:p>
            <a:endParaRPr lang="en-US"/>
          </a:p>
        </p:txBody>
      </p:sp>
      <p:sp>
        <p:nvSpPr>
          <p:cNvPr id="46" name="Text 44"/>
          <p:cNvSpPr/>
          <p:nvPr/>
        </p:nvSpPr>
        <p:spPr>
          <a:xfrm>
            <a:off x="4517136" y="5093208"/>
            <a:ext cx="3127248" cy="283464"/>
          </a:xfrm>
          <a:prstGeom prst="rect">
            <a:avLst/>
          </a:prstGeom>
          <a:noFill/>
          <a:ln/>
        </p:spPr>
        <p:txBody>
          <a:bodyPr wrap="square" lIns="0" tIns="0" rIns="0" bIns="0" rtlCol="0" anchor="ctr"/>
          <a:lstStyle/>
          <a:p>
            <a:pPr marL="0" indent="0">
              <a:buNone/>
            </a:pPr>
            <a:r>
              <a:rPr lang="en-US" sz="1900" b="1" dirty="0">
                <a:solidFill>
                  <a:srgbClr val="7655D6"/>
                </a:solidFill>
                <a:latin typeface="Segoe UI" pitchFamily="34" charset="0"/>
                <a:ea typeface="Segoe UI" pitchFamily="34" charset="-122"/>
                <a:cs typeface="Segoe UI" pitchFamily="34" charset="-120"/>
              </a:rPr>
              <a:t>Correct scope</a:t>
            </a:r>
            <a:endParaRPr lang="en-US" sz="1900" dirty="0"/>
          </a:p>
        </p:txBody>
      </p:sp>
      <p:sp>
        <p:nvSpPr>
          <p:cNvPr id="47" name="Text 45"/>
          <p:cNvSpPr/>
          <p:nvPr/>
        </p:nvSpPr>
        <p:spPr>
          <a:xfrm>
            <a:off x="4517136" y="5495544"/>
            <a:ext cx="3127248" cy="192024"/>
          </a:xfrm>
          <a:prstGeom prst="rect">
            <a:avLst/>
          </a:prstGeom>
          <a:noFill/>
          <a:ln/>
        </p:spPr>
        <p:txBody>
          <a:bodyPr wrap="square" lIns="0" tIns="0" rIns="0" bIns="0" rtlCol="0" anchor="ctr"/>
          <a:lstStyle/>
          <a:p>
            <a:pPr marL="0" indent="0">
              <a:buNone/>
            </a:pPr>
            <a:r>
              <a:rPr lang="en-US" sz="1300" dirty="0">
                <a:solidFill>
                  <a:srgbClr val="56657B"/>
                </a:solidFill>
                <a:latin typeface="Segoe UI" pitchFamily="34" charset="0"/>
                <a:ea typeface="Segoe UI" pitchFamily="34" charset="-122"/>
                <a:cs typeface="Segoe UI" pitchFamily="34" charset="-120"/>
              </a:rPr>
              <a:t>Dates, filters + security role</a:t>
            </a:r>
            <a:endParaRPr lang="en-US" sz="1300" dirty="0"/>
          </a:p>
        </p:txBody>
      </p:sp>
      <p:sp>
        <p:nvSpPr>
          <p:cNvPr id="48" name="Shape 46"/>
          <p:cNvSpPr/>
          <p:nvPr/>
        </p:nvSpPr>
        <p:spPr>
          <a:xfrm>
            <a:off x="8119872" y="4965192"/>
            <a:ext cx="3493008" cy="859536"/>
          </a:xfrm>
          <a:prstGeom prst="roundRect">
            <a:avLst>
              <a:gd name="adj" fmla="val 17021"/>
            </a:avLst>
          </a:prstGeom>
          <a:solidFill>
            <a:srgbClr val="EDF3FF"/>
          </a:solidFill>
          <a:ln w="8890">
            <a:solidFill>
              <a:srgbClr val="EDF3FF"/>
            </a:solidFill>
            <a:prstDash val="solid"/>
          </a:ln>
        </p:spPr>
        <p:txBody>
          <a:bodyPr/>
          <a:lstStyle/>
          <a:p>
            <a:endParaRPr lang="en-US"/>
          </a:p>
        </p:txBody>
      </p:sp>
      <p:sp>
        <p:nvSpPr>
          <p:cNvPr id="49" name="Text 47"/>
          <p:cNvSpPr/>
          <p:nvPr/>
        </p:nvSpPr>
        <p:spPr>
          <a:xfrm>
            <a:off x="8302752" y="5093208"/>
            <a:ext cx="3127248" cy="283464"/>
          </a:xfrm>
          <a:prstGeom prst="rect">
            <a:avLst/>
          </a:prstGeom>
          <a:noFill/>
          <a:ln/>
        </p:spPr>
        <p:txBody>
          <a:bodyPr wrap="square" lIns="0" tIns="0" rIns="0" bIns="0" rtlCol="0" anchor="ctr"/>
          <a:lstStyle/>
          <a:p>
            <a:pPr marL="0" indent="0">
              <a:buNone/>
            </a:pPr>
            <a:r>
              <a:rPr lang="en-US" sz="1900" b="1" dirty="0">
                <a:solidFill>
                  <a:srgbClr val="2563EB"/>
                </a:solidFill>
                <a:latin typeface="Segoe UI" pitchFamily="34" charset="0"/>
                <a:ea typeface="Segoe UI" pitchFamily="34" charset="-122"/>
                <a:cs typeface="Segoe UI" pitchFamily="34" charset="-120"/>
              </a:rPr>
              <a:t>Repeatable result</a:t>
            </a:r>
            <a:endParaRPr lang="en-US" sz="1900" dirty="0"/>
          </a:p>
        </p:txBody>
      </p:sp>
      <p:sp>
        <p:nvSpPr>
          <p:cNvPr id="50" name="Text 48"/>
          <p:cNvSpPr/>
          <p:nvPr/>
        </p:nvSpPr>
        <p:spPr>
          <a:xfrm>
            <a:off x="8302752" y="5495544"/>
            <a:ext cx="3127248" cy="192024"/>
          </a:xfrm>
          <a:prstGeom prst="rect">
            <a:avLst/>
          </a:prstGeom>
          <a:noFill/>
          <a:ln/>
        </p:spPr>
        <p:txBody>
          <a:bodyPr wrap="square" lIns="0" tIns="0" rIns="0" bIns="0" rtlCol="0" anchor="ctr"/>
          <a:lstStyle/>
          <a:p>
            <a:pPr marL="0" indent="0">
              <a:buNone/>
            </a:pPr>
            <a:r>
              <a:rPr lang="en-US" sz="1300" dirty="0">
                <a:solidFill>
                  <a:srgbClr val="56657B"/>
                </a:solidFill>
                <a:latin typeface="Segoe UI" pitchFamily="34" charset="0"/>
                <a:ea typeface="Segoe UI" pitchFamily="34" charset="-122"/>
                <a:cs typeface="Segoe UI" pitchFamily="34" charset="-120"/>
              </a:rPr>
              <a:t>Reference match + prompt variants</a:t>
            </a:r>
            <a:endParaRPr lang="en-US" sz="1300" dirty="0"/>
          </a:p>
        </p:txBody>
      </p:sp>
      <p:sp>
        <p:nvSpPr>
          <p:cNvPr id="51" name="Text 49"/>
          <p:cNvSpPr/>
          <p:nvPr/>
        </p:nvSpPr>
        <p:spPr>
          <a:xfrm>
            <a:off x="566928" y="6053328"/>
            <a:ext cx="11018520" cy="246888"/>
          </a:xfrm>
          <a:prstGeom prst="rect">
            <a:avLst/>
          </a:prstGeom>
          <a:noFill/>
          <a:ln/>
        </p:spPr>
        <p:txBody>
          <a:bodyPr wrap="square" lIns="0" tIns="0" rIns="0" bIns="0" rtlCol="0" anchor="ctr"/>
          <a:lstStyle/>
          <a:p>
            <a:pPr marL="0" indent="0">
              <a:buNone/>
            </a:pPr>
            <a:r>
              <a:rPr lang="en-US" sz="1700" b="1" dirty="0">
                <a:solidFill>
                  <a:srgbClr val="7655D6"/>
                </a:solidFill>
                <a:latin typeface="Segoe UI" pitchFamily="34" charset="0"/>
                <a:ea typeface="Segoe UI" pitchFamily="34" charset="-122"/>
                <a:cs typeface="Segoe UI" pitchFamily="34" charset="-120"/>
              </a:rPr>
              <a:t>The goal: governed meaning, validated answers, and a repeatable improvement loop.</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2e887d50-8227-451a-aa82-01efe35babb5}" enabled="1" method="Standard" siteId="{e6f978e1-75d4-4db0-904e-5b79fb778570}" contentBits="0" removed="0"/>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1247</TotalTime>
  <Words>6948</Words>
  <Application>Microsoft Office PowerPoint</Application>
  <PresentationFormat>Widescreen</PresentationFormat>
  <Paragraphs>695</Paragraphs>
  <Slides>18</Slides>
  <Notes>16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18</vt:i4>
      </vt:variant>
    </vt:vector>
  </HeadingPairs>
  <TitlesOfParts>
    <vt:vector size="24" baseType="lpstr">
      <vt:lpstr>Aptos</vt:lpstr>
      <vt:lpstr>Arial</vt:lpstr>
      <vt:lpstr>Calibri</vt:lpstr>
      <vt:lpstr>Segoe UI</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Talk to Your Insurance Data - Better Answers Start with the Semantic Model</dc:title>
  <dc:subject>Insurance conversational analytics and semantic model AI readiness</dc:subject>
  <dc:creator>Amol Manocha</dc:creator>
  <cp:lastModifiedBy>Jennifer Ratten</cp:lastModifiedBy>
  <cp:revision>2</cp:revision>
  <dcterms:created xsi:type="dcterms:W3CDTF">2026-10-13T19:41:31Z</dcterms:created>
  <dcterms:modified xsi:type="dcterms:W3CDTF">2026-10-15T16:14:48Z</dcterms:modified>
</cp:coreProperties>
</file>